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33"/>
        </a:solidFill>
      </p:bgPr>
    </p:bg>
    <p:spTree>
      <p:nvGrpSpPr>
        <p:cNvPr id="1" name=""/>
        <p:cNvGrpSpPr/>
        <p:nvPr/>
      </p:nvGrpSpPr>
      <p:grpSpPr>
        <a:xfrm>
          <a:off x="0" y="0"/>
          <a:ext cx="0" cy="0"/>
          <a:chOff x="0" y="0"/>
          <a:chExt cx="0" cy="0"/>
        </a:xfrm>
      </p:grpSpPr>
      <p:sp>
        <p:nvSpPr>
          <p:cNvPr id="2" name="Shape 0"/>
          <p:cNvSpPr/>
          <p:nvPr/>
        </p:nvSpPr>
        <p:spPr>
          <a:xfrm>
            <a:off x="9052560" y="-1463040"/>
            <a:ext cx="5029200" cy="5029200"/>
          </a:xfrm>
          <a:prstGeom prst="ellipse">
            <a:avLst/>
          </a:prstGeom>
          <a:solidFill>
            <a:srgbClr val="142352"/>
          </a:solidFill>
          <a:ln/>
        </p:spPr>
      </p:sp>
      <p:sp>
        <p:nvSpPr>
          <p:cNvPr id="3" name="Shape 1"/>
          <p:cNvSpPr/>
          <p:nvPr/>
        </p:nvSpPr>
        <p:spPr>
          <a:xfrm>
            <a:off x="10607040" y="-182880"/>
            <a:ext cx="2743200" cy="2743200"/>
          </a:xfrm>
          <a:prstGeom prst="ellipse">
            <a:avLst/>
          </a:prstGeom>
          <a:solidFill>
            <a:srgbClr val="1B2C63"/>
          </a:solidFill>
          <a:ln/>
        </p:spPr>
      </p:sp>
      <p:sp>
        <p:nvSpPr>
          <p:cNvPr id="4" name="Shape 2"/>
          <p:cNvSpPr/>
          <p:nvPr/>
        </p:nvSpPr>
        <p:spPr>
          <a:xfrm>
            <a:off x="-1463040" y="4206240"/>
            <a:ext cx="4023360" cy="4023360"/>
          </a:xfrm>
          <a:prstGeom prst="ellipse">
            <a:avLst/>
          </a:prstGeom>
          <a:solidFill>
            <a:srgbClr val="142352"/>
          </a:solidFill>
          <a:ln/>
        </p:spPr>
      </p:sp>
      <p:sp>
        <p:nvSpPr>
          <p:cNvPr id="5" name="Text 3"/>
          <p:cNvSpPr/>
          <p:nvPr/>
        </p:nvSpPr>
        <p:spPr>
          <a:xfrm>
            <a:off x="822960" y="1234440"/>
            <a:ext cx="9144000" cy="320040"/>
          </a:xfrm>
          <a:prstGeom prst="rect">
            <a:avLst/>
          </a:prstGeom>
          <a:noFill/>
          <a:ln/>
        </p:spPr>
        <p:txBody>
          <a:bodyPr wrap="square" lIns="0" tIns="0" rIns="0" bIns="0" rtlCol="0" anchor="ctr"/>
          <a:lstStyle/>
          <a:p>
            <a:pPr indent="0" marL="0">
              <a:buNone/>
            </a:pPr>
            <a:r>
              <a:rPr lang="en-US" sz="1250" b="1" spc="250" kern="0" dirty="0">
                <a:solidFill>
                  <a:srgbClr val="5CC8E6"/>
                </a:solidFill>
                <a:latin typeface="Calibri" pitchFamily="34" charset="0"/>
                <a:ea typeface="Calibri" pitchFamily="34" charset="-122"/>
                <a:cs typeface="Calibri" pitchFamily="34" charset="-120"/>
              </a:rPr>
              <a:t>AZURE CLOUD PLATFORM  ·  INDUSTRIAL INTERNSHIP PROJECT</a:t>
            </a:r>
            <a:endParaRPr lang="en-US" sz="1250" dirty="0"/>
          </a:p>
        </p:txBody>
      </p:sp>
      <p:sp>
        <p:nvSpPr>
          <p:cNvPr id="6" name="Text 4"/>
          <p:cNvSpPr/>
          <p:nvPr/>
        </p:nvSpPr>
        <p:spPr>
          <a:xfrm>
            <a:off x="777240" y="1691640"/>
            <a:ext cx="987552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Azure Cloud-Based Document</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Management System</a:t>
            </a:r>
            <a:endParaRPr lang="en-US" sz="4400" dirty="0"/>
          </a:p>
        </p:txBody>
      </p:sp>
      <p:sp>
        <p:nvSpPr>
          <p:cNvPr id="7" name="Text 5"/>
          <p:cNvSpPr/>
          <p:nvPr/>
        </p:nvSpPr>
        <p:spPr>
          <a:xfrm>
            <a:off x="822960" y="3246120"/>
            <a:ext cx="8778240" cy="640080"/>
          </a:xfrm>
          <a:prstGeom prst="rect">
            <a:avLst/>
          </a:prstGeom>
          <a:noFill/>
          <a:ln/>
        </p:spPr>
        <p:txBody>
          <a:bodyPr wrap="square" lIns="0" tIns="0" rIns="0" bIns="0" rtlCol="0" anchor="ctr"/>
          <a:lstStyle/>
          <a:p>
            <a:pPr indent="0" marL="0">
              <a:buNone/>
            </a:pPr>
            <a:r>
              <a:rPr lang="en-US" sz="1600" i="1" dirty="0">
                <a:solidFill>
                  <a:srgbClr val="CFE0FA"/>
                </a:solidFill>
                <a:latin typeface="Calibri" pitchFamily="34" charset="0"/>
                <a:ea typeface="Calibri" pitchFamily="34" charset="-122"/>
                <a:cs typeface="Calibri" pitchFamily="34" charset="-120"/>
              </a:rPr>
              <a:t>Secure Cloud Storage with Automated Version Control and Audit Logging, built on Microsoft Azure</a:t>
            </a:r>
            <a:endParaRPr lang="en-US" sz="1600" dirty="0"/>
          </a:p>
        </p:txBody>
      </p:sp>
      <p:sp>
        <p:nvSpPr>
          <p:cNvPr id="8" name="Shape 6"/>
          <p:cNvSpPr/>
          <p:nvPr/>
        </p:nvSpPr>
        <p:spPr>
          <a:xfrm>
            <a:off x="822960" y="3977640"/>
            <a:ext cx="832104" cy="384048"/>
          </a:xfrm>
          <a:prstGeom prst="roundRect">
            <a:avLst>
              <a:gd name="adj" fmla="val 50000"/>
            </a:avLst>
          </a:prstGeom>
          <a:solidFill>
            <a:srgbClr val="142352"/>
          </a:solidFill>
          <a:ln w="12700">
            <a:solidFill>
              <a:srgbClr val="2A3B77"/>
            </a:solidFill>
            <a:prstDash val="solid"/>
          </a:ln>
        </p:spPr>
      </p:sp>
      <p:sp>
        <p:nvSpPr>
          <p:cNvPr id="9" name="Text 7"/>
          <p:cNvSpPr/>
          <p:nvPr/>
        </p:nvSpPr>
        <p:spPr>
          <a:xfrm>
            <a:off x="822960" y="3977640"/>
            <a:ext cx="832104" cy="384048"/>
          </a:xfrm>
          <a:prstGeom prst="rect">
            <a:avLst/>
          </a:prstGeom>
          <a:noFill/>
          <a:ln/>
        </p:spPr>
        <p:txBody>
          <a:bodyPr wrap="square" lIns="0" tIns="0" rIns="0" bIns="0" rtlCol="0" anchor="ctr"/>
          <a:lstStyle/>
          <a:p>
            <a:pPr algn="ctr" indent="0" marL="0">
              <a:buNone/>
            </a:pPr>
            <a:r>
              <a:rPr lang="en-US" sz="1150" dirty="0">
                <a:solidFill>
                  <a:srgbClr val="CFE0FA"/>
                </a:solidFill>
                <a:latin typeface="Calibri" pitchFamily="34" charset="0"/>
                <a:ea typeface="Calibri" pitchFamily="34" charset="-122"/>
                <a:cs typeface="Calibri" pitchFamily="34" charset="-120"/>
              </a:rPr>
              <a:t>Python</a:t>
            </a:r>
            <a:endParaRPr lang="en-US" sz="1150" dirty="0"/>
          </a:p>
        </p:txBody>
      </p:sp>
      <p:sp>
        <p:nvSpPr>
          <p:cNvPr id="10" name="Shape 8"/>
          <p:cNvSpPr/>
          <p:nvPr/>
        </p:nvSpPr>
        <p:spPr>
          <a:xfrm>
            <a:off x="1819656" y="3977640"/>
            <a:ext cx="736092" cy="384048"/>
          </a:xfrm>
          <a:prstGeom prst="roundRect">
            <a:avLst>
              <a:gd name="adj" fmla="val 50000"/>
            </a:avLst>
          </a:prstGeom>
          <a:solidFill>
            <a:srgbClr val="142352"/>
          </a:solidFill>
          <a:ln w="12700">
            <a:solidFill>
              <a:srgbClr val="2A3B77"/>
            </a:solidFill>
            <a:prstDash val="solid"/>
          </a:ln>
        </p:spPr>
      </p:sp>
      <p:sp>
        <p:nvSpPr>
          <p:cNvPr id="11" name="Text 9"/>
          <p:cNvSpPr/>
          <p:nvPr/>
        </p:nvSpPr>
        <p:spPr>
          <a:xfrm>
            <a:off x="1819656" y="3977640"/>
            <a:ext cx="736092" cy="384048"/>
          </a:xfrm>
          <a:prstGeom prst="rect">
            <a:avLst/>
          </a:prstGeom>
          <a:noFill/>
          <a:ln/>
        </p:spPr>
        <p:txBody>
          <a:bodyPr wrap="square" lIns="0" tIns="0" rIns="0" bIns="0" rtlCol="0" anchor="ctr"/>
          <a:lstStyle/>
          <a:p>
            <a:pPr algn="ctr" indent="0" marL="0">
              <a:buNone/>
            </a:pPr>
            <a:r>
              <a:rPr lang="en-US" sz="1150" dirty="0">
                <a:solidFill>
                  <a:srgbClr val="CFE0FA"/>
                </a:solidFill>
                <a:latin typeface="Calibri" pitchFamily="34" charset="0"/>
                <a:ea typeface="Calibri" pitchFamily="34" charset="-122"/>
                <a:cs typeface="Calibri" pitchFamily="34" charset="-120"/>
              </a:rPr>
              <a:t>Flask</a:t>
            </a:r>
            <a:endParaRPr lang="en-US" sz="1150" dirty="0"/>
          </a:p>
        </p:txBody>
      </p:sp>
      <p:sp>
        <p:nvSpPr>
          <p:cNvPr id="12" name="Shape 10"/>
          <p:cNvSpPr/>
          <p:nvPr/>
        </p:nvSpPr>
        <p:spPr>
          <a:xfrm>
            <a:off x="2720340" y="3977640"/>
            <a:ext cx="1888236" cy="384048"/>
          </a:xfrm>
          <a:prstGeom prst="roundRect">
            <a:avLst>
              <a:gd name="adj" fmla="val 50000"/>
            </a:avLst>
          </a:prstGeom>
          <a:solidFill>
            <a:srgbClr val="142352"/>
          </a:solidFill>
          <a:ln w="12700">
            <a:solidFill>
              <a:srgbClr val="2A3B77"/>
            </a:solidFill>
            <a:prstDash val="solid"/>
          </a:ln>
        </p:spPr>
      </p:sp>
      <p:sp>
        <p:nvSpPr>
          <p:cNvPr id="13" name="Text 11"/>
          <p:cNvSpPr/>
          <p:nvPr/>
        </p:nvSpPr>
        <p:spPr>
          <a:xfrm>
            <a:off x="2720340" y="3977640"/>
            <a:ext cx="1888236" cy="384048"/>
          </a:xfrm>
          <a:prstGeom prst="rect">
            <a:avLst/>
          </a:prstGeom>
          <a:noFill/>
          <a:ln/>
        </p:spPr>
        <p:txBody>
          <a:bodyPr wrap="square" lIns="0" tIns="0" rIns="0" bIns="0" rtlCol="0" anchor="ctr"/>
          <a:lstStyle/>
          <a:p>
            <a:pPr algn="ctr" indent="0" marL="0">
              <a:buNone/>
            </a:pPr>
            <a:r>
              <a:rPr lang="en-US" sz="1150" dirty="0">
                <a:solidFill>
                  <a:srgbClr val="CFE0FA"/>
                </a:solidFill>
                <a:latin typeface="Calibri" pitchFamily="34" charset="0"/>
                <a:ea typeface="Calibri" pitchFamily="34" charset="-122"/>
                <a:cs typeface="Calibri" pitchFamily="34" charset="-120"/>
              </a:rPr>
              <a:t>Azure App Service</a:t>
            </a:r>
            <a:endParaRPr lang="en-US" sz="1150" dirty="0"/>
          </a:p>
        </p:txBody>
      </p:sp>
      <p:sp>
        <p:nvSpPr>
          <p:cNvPr id="14" name="Shape 12"/>
          <p:cNvSpPr/>
          <p:nvPr/>
        </p:nvSpPr>
        <p:spPr>
          <a:xfrm>
            <a:off x="4773168" y="3977640"/>
            <a:ext cx="1984248" cy="384048"/>
          </a:xfrm>
          <a:prstGeom prst="roundRect">
            <a:avLst>
              <a:gd name="adj" fmla="val 50000"/>
            </a:avLst>
          </a:prstGeom>
          <a:solidFill>
            <a:srgbClr val="142352"/>
          </a:solidFill>
          <a:ln w="12700">
            <a:solidFill>
              <a:srgbClr val="2A3B77"/>
            </a:solidFill>
            <a:prstDash val="solid"/>
          </a:ln>
        </p:spPr>
      </p:sp>
      <p:sp>
        <p:nvSpPr>
          <p:cNvPr id="15" name="Text 13"/>
          <p:cNvSpPr/>
          <p:nvPr/>
        </p:nvSpPr>
        <p:spPr>
          <a:xfrm>
            <a:off x="4773168" y="3977640"/>
            <a:ext cx="1984248" cy="384048"/>
          </a:xfrm>
          <a:prstGeom prst="rect">
            <a:avLst/>
          </a:prstGeom>
          <a:noFill/>
          <a:ln/>
        </p:spPr>
        <p:txBody>
          <a:bodyPr wrap="square" lIns="0" tIns="0" rIns="0" bIns="0" rtlCol="0" anchor="ctr"/>
          <a:lstStyle/>
          <a:p>
            <a:pPr algn="ctr" indent="0" marL="0">
              <a:buNone/>
            </a:pPr>
            <a:r>
              <a:rPr lang="en-US" sz="1150" dirty="0">
                <a:solidFill>
                  <a:srgbClr val="CFE0FA"/>
                </a:solidFill>
                <a:latin typeface="Calibri" pitchFamily="34" charset="0"/>
                <a:ea typeface="Calibri" pitchFamily="34" charset="-122"/>
                <a:cs typeface="Calibri" pitchFamily="34" charset="-120"/>
              </a:rPr>
              <a:t>Azure SQL Database</a:t>
            </a:r>
            <a:endParaRPr lang="en-US" sz="1150" dirty="0"/>
          </a:p>
        </p:txBody>
      </p:sp>
      <p:sp>
        <p:nvSpPr>
          <p:cNvPr id="16" name="Shape 14"/>
          <p:cNvSpPr/>
          <p:nvPr/>
        </p:nvSpPr>
        <p:spPr>
          <a:xfrm>
            <a:off x="6922008" y="3977640"/>
            <a:ext cx="1984248" cy="384048"/>
          </a:xfrm>
          <a:prstGeom prst="roundRect">
            <a:avLst>
              <a:gd name="adj" fmla="val 50000"/>
            </a:avLst>
          </a:prstGeom>
          <a:solidFill>
            <a:srgbClr val="142352"/>
          </a:solidFill>
          <a:ln w="12700">
            <a:solidFill>
              <a:srgbClr val="2A3B77"/>
            </a:solidFill>
            <a:prstDash val="solid"/>
          </a:ln>
        </p:spPr>
      </p:sp>
      <p:sp>
        <p:nvSpPr>
          <p:cNvPr id="17" name="Text 15"/>
          <p:cNvSpPr/>
          <p:nvPr/>
        </p:nvSpPr>
        <p:spPr>
          <a:xfrm>
            <a:off x="6922008" y="3977640"/>
            <a:ext cx="1984248" cy="384048"/>
          </a:xfrm>
          <a:prstGeom prst="rect">
            <a:avLst/>
          </a:prstGeom>
          <a:noFill/>
          <a:ln/>
        </p:spPr>
        <p:txBody>
          <a:bodyPr wrap="square" lIns="0" tIns="0" rIns="0" bIns="0" rtlCol="0" anchor="ctr"/>
          <a:lstStyle/>
          <a:p>
            <a:pPr algn="ctr" indent="0" marL="0">
              <a:buNone/>
            </a:pPr>
            <a:r>
              <a:rPr lang="en-US" sz="1150" dirty="0">
                <a:solidFill>
                  <a:srgbClr val="CFE0FA"/>
                </a:solidFill>
                <a:latin typeface="Calibri" pitchFamily="34" charset="0"/>
                <a:ea typeface="Calibri" pitchFamily="34" charset="-122"/>
                <a:cs typeface="Calibri" pitchFamily="34" charset="-120"/>
              </a:rPr>
              <a:t>Azure Blob Storage</a:t>
            </a:r>
            <a:endParaRPr lang="en-US" sz="1150" dirty="0"/>
          </a:p>
        </p:txBody>
      </p:sp>
      <p:sp>
        <p:nvSpPr>
          <p:cNvPr id="18" name="Shape 16"/>
          <p:cNvSpPr/>
          <p:nvPr/>
        </p:nvSpPr>
        <p:spPr>
          <a:xfrm>
            <a:off x="9070848" y="3977640"/>
            <a:ext cx="1600200" cy="384048"/>
          </a:xfrm>
          <a:prstGeom prst="roundRect">
            <a:avLst>
              <a:gd name="adj" fmla="val 50000"/>
            </a:avLst>
          </a:prstGeom>
          <a:solidFill>
            <a:srgbClr val="142352"/>
          </a:solidFill>
          <a:ln w="12700">
            <a:solidFill>
              <a:srgbClr val="2A3B77"/>
            </a:solidFill>
            <a:prstDash val="solid"/>
          </a:ln>
        </p:spPr>
      </p:sp>
      <p:sp>
        <p:nvSpPr>
          <p:cNvPr id="19" name="Text 17"/>
          <p:cNvSpPr/>
          <p:nvPr/>
        </p:nvSpPr>
        <p:spPr>
          <a:xfrm>
            <a:off x="9070848" y="3977640"/>
            <a:ext cx="1600200" cy="384048"/>
          </a:xfrm>
          <a:prstGeom prst="rect">
            <a:avLst/>
          </a:prstGeom>
          <a:noFill/>
          <a:ln/>
        </p:spPr>
        <p:txBody>
          <a:bodyPr wrap="square" lIns="0" tIns="0" rIns="0" bIns="0" rtlCol="0" anchor="ctr"/>
          <a:lstStyle/>
          <a:p>
            <a:pPr algn="ctr" indent="0" marL="0">
              <a:buNone/>
            </a:pPr>
            <a:r>
              <a:rPr lang="en-US" sz="1150" dirty="0">
                <a:solidFill>
                  <a:srgbClr val="CFE0FA"/>
                </a:solidFill>
                <a:latin typeface="Calibri" pitchFamily="34" charset="0"/>
                <a:ea typeface="Calibri" pitchFamily="34" charset="-122"/>
                <a:cs typeface="Calibri" pitchFamily="34" charset="-120"/>
              </a:rPr>
              <a:t>GitHub Actions</a:t>
            </a:r>
            <a:endParaRPr lang="en-US" sz="1150" dirty="0"/>
          </a:p>
        </p:txBody>
      </p:sp>
      <p:sp>
        <p:nvSpPr>
          <p:cNvPr id="20" name="Text 18"/>
          <p:cNvSpPr/>
          <p:nvPr/>
        </p:nvSpPr>
        <p:spPr>
          <a:xfrm>
            <a:off x="822960" y="5623560"/>
            <a:ext cx="9144000" cy="1005840"/>
          </a:xfrm>
          <a:prstGeom prst="rect">
            <a:avLst/>
          </a:prstGeom>
          <a:noFill/>
          <a:ln/>
        </p:spPr>
        <p:txBody>
          <a:bodyPr wrap="square" lIns="0" tIns="0" rIns="0" bIns="0" rtlCol="0" anchor="ctr"/>
          <a:lstStyle/>
          <a:p>
            <a:pPr indent="0" marL="0">
              <a:lnSpc>
                <a:spcPct val="125000"/>
              </a:lnSpc>
              <a:buNone/>
            </a:pPr>
            <a:r>
              <a:rPr lang="en-US" sz="1100" b="1" spc="150" kern="0" dirty="0">
                <a:solidFill>
                  <a:srgbClr val="8592B5"/>
                </a:solidFill>
                <a:latin typeface="Calibri" pitchFamily="34" charset="0"/>
                <a:ea typeface="Calibri" pitchFamily="34" charset="-122"/>
                <a:cs typeface="Calibri" pitchFamily="34" charset="-120"/>
              </a:rPr>
              <a:t>Presented By
</a:t>
            </a:r>
            <a:pPr indent="0" marL="0">
              <a:lnSpc>
                <a:spcPct val="125000"/>
              </a:lnSpc>
              <a:buNone/>
            </a:pPr>
            <a:r>
              <a:rPr lang="en-US" sz="2000" b="1" dirty="0">
                <a:solidFill>
                  <a:srgbClr val="FFFFFF"/>
                </a:solidFill>
                <a:latin typeface="Calibri" pitchFamily="34" charset="0"/>
                <a:ea typeface="Calibri" pitchFamily="34" charset="-122"/>
                <a:cs typeface="Calibri" pitchFamily="34" charset="-120"/>
              </a:rPr>
              <a:t>Dhanush S J
</a:t>
            </a:r>
            <a:endParaRPr lang="en-US" sz="1100" dirty="0"/>
          </a:p>
          <a:p>
            <a:pPr indent="0" marL="0">
              <a:lnSpc>
                <a:spcPct val="125000"/>
              </a:lnSpc>
              <a:buNone/>
            </a:pPr>
            <a:r>
              <a:rPr lang="en-US" sz="1300" dirty="0">
                <a:solidFill>
                  <a:srgbClr val="CFE0FA"/>
                </a:solidFill>
                <a:latin typeface="Calibri" pitchFamily="34" charset="0"/>
                <a:ea typeface="Calibri" pitchFamily="34" charset="-122"/>
                <a:cs typeface="Calibri" pitchFamily="34" charset="-120"/>
              </a:rPr>
              <a:t>Integrated M.Tech Software Engineering  ·  VIT</a:t>
            </a:r>
            <a:endParaRPr lang="en-US" sz="1100" dirty="0"/>
          </a:p>
        </p:txBody>
      </p:sp>
      <p:sp>
        <p:nvSpPr>
          <p:cNvPr id="21" name="Text 19"/>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8592B5"/>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Introduction</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PROJECT OVERVIEW</a:t>
            </a:r>
            <a:endParaRPr lang="en-US" sz="1100" dirty="0"/>
          </a:p>
        </p:txBody>
      </p:sp>
      <p:sp>
        <p:nvSpPr>
          <p:cNvPr id="4" name="Text 2"/>
          <p:cNvSpPr/>
          <p:nvPr/>
        </p:nvSpPr>
        <p:spPr>
          <a:xfrm>
            <a:off x="594360" y="1234440"/>
            <a:ext cx="5532120" cy="1737360"/>
          </a:xfrm>
          <a:prstGeom prst="rect">
            <a:avLst/>
          </a:prstGeom>
          <a:noFill/>
          <a:ln/>
        </p:spPr>
        <p:txBody>
          <a:bodyPr wrap="square" lIns="0" tIns="0" rIns="0" bIns="0" rtlCol="0" anchor="ctr"/>
          <a:lstStyle/>
          <a:p>
            <a:pPr indent="0" marL="0">
              <a:lnSpc>
                <a:spcPct val="128000"/>
              </a:lnSpc>
              <a:buNone/>
            </a:pPr>
            <a:r>
              <a:rPr lang="en-US" sz="1350" dirty="0">
                <a:solidFill>
                  <a:srgbClr val="16213E"/>
                </a:solidFill>
                <a:latin typeface="Calibri" pitchFamily="34" charset="0"/>
                <a:ea typeface="Calibri" pitchFamily="34" charset="-122"/>
                <a:cs typeface="Calibri" pitchFamily="34" charset="-120"/>
              </a:rPr>
              <a:t>Modern organizations manage thousands of digital documents daily. Traditional local storage suffers from data loss, weak version tracking, poor accessibility, and inadequate security. Microsoft Azure offers enterprise-grade, scalable cloud services that simplify deployment, secure storage, and centralized management.</a:t>
            </a:r>
            <a:endParaRPr lang="en-US" sz="1350" dirty="0"/>
          </a:p>
        </p:txBody>
      </p:sp>
      <p:sp>
        <p:nvSpPr>
          <p:cNvPr id="5" name="Text 3"/>
          <p:cNvSpPr/>
          <p:nvPr/>
        </p:nvSpPr>
        <p:spPr>
          <a:xfrm>
            <a:off x="594360" y="3063240"/>
            <a:ext cx="5532120" cy="1554480"/>
          </a:xfrm>
          <a:prstGeom prst="rect">
            <a:avLst/>
          </a:prstGeom>
          <a:noFill/>
          <a:ln/>
        </p:spPr>
        <p:txBody>
          <a:bodyPr wrap="square" lIns="0" tIns="0" rIns="0" bIns="0" rtlCol="0" anchor="ctr"/>
          <a:lstStyle/>
          <a:p>
            <a:pPr indent="0" marL="0">
              <a:lnSpc>
                <a:spcPct val="128000"/>
              </a:lnSpc>
              <a:buNone/>
            </a:pPr>
            <a:r>
              <a:rPr lang="en-US" sz="1350" dirty="0">
                <a:solidFill>
                  <a:srgbClr val="16213E"/>
                </a:solidFill>
                <a:latin typeface="Calibri" pitchFamily="34" charset="0"/>
                <a:ea typeface="Calibri" pitchFamily="34" charset="-122"/>
                <a:cs typeface="Calibri" pitchFamily="34" charset="-120"/>
              </a:rPr>
              <a:t>This project delivers a cloud-based Document Management System built with Flask and Microsoft Azure — allowing users to upload, manage, download, version, and restore documents, with application data secured in Azure SQL Database and files stored in Azure Blob Storage.</a:t>
            </a:r>
            <a:endParaRPr lang="en-US" sz="1350" dirty="0"/>
          </a:p>
        </p:txBody>
      </p:sp>
      <p:sp>
        <p:nvSpPr>
          <p:cNvPr id="6" name="Shape 4"/>
          <p:cNvSpPr/>
          <p:nvPr/>
        </p:nvSpPr>
        <p:spPr>
          <a:xfrm>
            <a:off x="6492240" y="1234440"/>
            <a:ext cx="5074920" cy="1234440"/>
          </a:xfrm>
          <a:prstGeom prst="roundRect">
            <a:avLst>
              <a:gd name="adj" fmla="val 7407"/>
            </a:avLst>
          </a:prstGeom>
          <a:solidFill>
            <a:srgbClr val="FFFFFF"/>
          </a:solidFill>
          <a:ln w="12700">
            <a:solidFill>
              <a:srgbClr val="E3E8F2"/>
            </a:solidFill>
            <a:prstDash val="solid"/>
          </a:ln>
          <a:effectLst>
            <a:outerShdw sx="100000" sy="100000" kx="0" ky="0" algn="bl" rotWithShape="0" blurRad="101600" dist="38100" dir="5400000">
              <a:srgbClr val="0B1533">
                <a:alpha val="12000"/>
              </a:srgbClr>
            </a:outerShdw>
          </a:effectLst>
        </p:spPr>
      </p:sp>
      <p:sp>
        <p:nvSpPr>
          <p:cNvPr id="7" name="Shape 5"/>
          <p:cNvSpPr/>
          <p:nvPr/>
        </p:nvSpPr>
        <p:spPr>
          <a:xfrm>
            <a:off x="6720840" y="1517904"/>
            <a:ext cx="658368" cy="658368"/>
          </a:xfrm>
          <a:prstGeom prst="ellipse">
            <a:avLst/>
          </a:prstGeom>
          <a:solidFill>
            <a:srgbClr val="E9F2FE"/>
          </a:solidFill>
          <a:ln/>
        </p:spPr>
      </p:sp>
      <p:sp>
        <p:nvSpPr>
          <p:cNvPr id="8" name="Text 6"/>
          <p:cNvSpPr/>
          <p:nvPr/>
        </p:nvSpPr>
        <p:spPr>
          <a:xfrm>
            <a:off x="6720840" y="1517904"/>
            <a:ext cx="658368" cy="658368"/>
          </a:xfrm>
          <a:prstGeom prst="rect">
            <a:avLst/>
          </a:prstGeom>
          <a:noFill/>
          <a:ln/>
        </p:spPr>
        <p:txBody>
          <a:bodyPr wrap="square" lIns="0" tIns="0" rIns="0" bIns="0" rtlCol="0" anchor="ctr"/>
          <a:lstStyle/>
          <a:p>
            <a:pPr algn="ctr" indent="0" marL="0">
              <a:buNone/>
            </a:pPr>
            <a:r>
              <a:rPr lang="en-US" sz="1872" b="1" dirty="0">
                <a:solidFill>
                  <a:srgbClr val="2EA0F5"/>
                </a:solidFill>
                <a:latin typeface="Calibri" pitchFamily="34" charset="0"/>
                <a:ea typeface="Calibri" pitchFamily="34" charset="-122"/>
                <a:cs typeface="Calibri" pitchFamily="34" charset="-120"/>
              </a:rPr>
              <a:t>☁</a:t>
            </a:r>
            <a:endParaRPr lang="en-US" sz="1872" dirty="0"/>
          </a:p>
        </p:txBody>
      </p:sp>
      <p:sp>
        <p:nvSpPr>
          <p:cNvPr id="9" name="Text 7"/>
          <p:cNvSpPr/>
          <p:nvPr/>
        </p:nvSpPr>
        <p:spPr>
          <a:xfrm>
            <a:off x="7589520" y="1399032"/>
            <a:ext cx="3840480" cy="365760"/>
          </a:xfrm>
          <a:prstGeom prst="rect">
            <a:avLst/>
          </a:prstGeom>
          <a:noFill/>
          <a:ln/>
        </p:spPr>
        <p:txBody>
          <a:bodyPr wrap="square" lIns="0" tIns="0" rIns="0" bIns="0" rtlCol="0" anchor="ctr"/>
          <a:lstStyle/>
          <a:p>
            <a:pPr indent="0" marL="0">
              <a:buNone/>
            </a:pPr>
            <a:r>
              <a:rPr lang="en-US" sz="1600" b="1" dirty="0">
                <a:solidFill>
                  <a:srgbClr val="0B1533"/>
                </a:solidFill>
                <a:latin typeface="Cambria" pitchFamily="34" charset="0"/>
                <a:ea typeface="Cambria" pitchFamily="34" charset="-122"/>
                <a:cs typeface="Cambria" pitchFamily="34" charset="-120"/>
              </a:rPr>
              <a:t>Cloud-Native</a:t>
            </a:r>
            <a:endParaRPr lang="en-US" sz="1600" dirty="0"/>
          </a:p>
        </p:txBody>
      </p:sp>
      <p:sp>
        <p:nvSpPr>
          <p:cNvPr id="10" name="Text 8"/>
          <p:cNvSpPr/>
          <p:nvPr/>
        </p:nvSpPr>
        <p:spPr>
          <a:xfrm>
            <a:off x="7589520" y="1801368"/>
            <a:ext cx="3840480" cy="548640"/>
          </a:xfrm>
          <a:prstGeom prst="rect">
            <a:avLst/>
          </a:prstGeom>
          <a:noFill/>
          <a:ln/>
        </p:spPr>
        <p:txBody>
          <a:bodyPr wrap="square" lIns="0" tIns="0" rIns="0" bIns="0" rtlCol="0" anchor="ctr"/>
          <a:lstStyle/>
          <a:p>
            <a:pPr indent="0" marL="0">
              <a:buNone/>
            </a:pPr>
            <a:r>
              <a:rPr lang="en-US" sz="1200" dirty="0">
                <a:solidFill>
                  <a:srgbClr val="6B7690"/>
                </a:solidFill>
                <a:latin typeface="Calibri" pitchFamily="34" charset="0"/>
                <a:ea typeface="Calibri" pitchFamily="34" charset="-122"/>
                <a:cs typeface="Calibri" pitchFamily="34" charset="-120"/>
              </a:rPr>
              <a:t>Hosted entirely on Azure App Service</a:t>
            </a:r>
            <a:endParaRPr lang="en-US" sz="1200" dirty="0"/>
          </a:p>
        </p:txBody>
      </p:sp>
      <p:sp>
        <p:nvSpPr>
          <p:cNvPr id="11" name="Shape 9"/>
          <p:cNvSpPr/>
          <p:nvPr/>
        </p:nvSpPr>
        <p:spPr>
          <a:xfrm>
            <a:off x="6492240" y="2715768"/>
            <a:ext cx="5074920" cy="1234440"/>
          </a:xfrm>
          <a:prstGeom prst="roundRect">
            <a:avLst>
              <a:gd name="adj" fmla="val 7407"/>
            </a:avLst>
          </a:prstGeom>
          <a:solidFill>
            <a:srgbClr val="FFFFFF"/>
          </a:solidFill>
          <a:ln w="12700">
            <a:solidFill>
              <a:srgbClr val="E3E8F2"/>
            </a:solidFill>
            <a:prstDash val="solid"/>
          </a:ln>
          <a:effectLst>
            <a:outerShdw sx="100000" sy="100000" kx="0" ky="0" algn="bl" rotWithShape="0" blurRad="101600" dist="38100" dir="5400000">
              <a:srgbClr val="0B1533">
                <a:alpha val="12000"/>
              </a:srgbClr>
            </a:outerShdw>
          </a:effectLst>
        </p:spPr>
      </p:sp>
      <p:sp>
        <p:nvSpPr>
          <p:cNvPr id="12" name="Shape 10"/>
          <p:cNvSpPr/>
          <p:nvPr/>
        </p:nvSpPr>
        <p:spPr>
          <a:xfrm>
            <a:off x="6720840" y="2999232"/>
            <a:ext cx="658368" cy="658368"/>
          </a:xfrm>
          <a:prstGeom prst="ellipse">
            <a:avLst/>
          </a:prstGeom>
          <a:solidFill>
            <a:srgbClr val="E9F2FE"/>
          </a:solidFill>
          <a:ln/>
        </p:spPr>
      </p:sp>
      <p:sp>
        <p:nvSpPr>
          <p:cNvPr id="13" name="Text 11"/>
          <p:cNvSpPr/>
          <p:nvPr/>
        </p:nvSpPr>
        <p:spPr>
          <a:xfrm>
            <a:off x="6720840" y="2999232"/>
            <a:ext cx="658368" cy="658368"/>
          </a:xfrm>
          <a:prstGeom prst="rect">
            <a:avLst/>
          </a:prstGeom>
          <a:noFill/>
          <a:ln/>
        </p:spPr>
        <p:txBody>
          <a:bodyPr wrap="square" lIns="0" tIns="0" rIns="0" bIns="0" rtlCol="0" anchor="ctr"/>
          <a:lstStyle/>
          <a:p>
            <a:pPr algn="ctr" indent="0" marL="0">
              <a:buNone/>
            </a:pPr>
            <a:r>
              <a:rPr lang="en-US" sz="1872" b="1" dirty="0">
                <a:solidFill>
                  <a:srgbClr val="2EA0F5"/>
                </a:solidFill>
                <a:latin typeface="Calibri" pitchFamily="34" charset="0"/>
                <a:ea typeface="Calibri" pitchFamily="34" charset="-122"/>
                <a:cs typeface="Calibri" pitchFamily="34" charset="-120"/>
              </a:rPr>
              <a:t>↻</a:t>
            </a:r>
            <a:endParaRPr lang="en-US" sz="1872" dirty="0"/>
          </a:p>
        </p:txBody>
      </p:sp>
      <p:sp>
        <p:nvSpPr>
          <p:cNvPr id="14" name="Text 12"/>
          <p:cNvSpPr/>
          <p:nvPr/>
        </p:nvSpPr>
        <p:spPr>
          <a:xfrm>
            <a:off x="7589520" y="2880360"/>
            <a:ext cx="3840480" cy="365760"/>
          </a:xfrm>
          <a:prstGeom prst="rect">
            <a:avLst/>
          </a:prstGeom>
          <a:noFill/>
          <a:ln/>
        </p:spPr>
        <p:txBody>
          <a:bodyPr wrap="square" lIns="0" tIns="0" rIns="0" bIns="0" rtlCol="0" anchor="ctr"/>
          <a:lstStyle/>
          <a:p>
            <a:pPr indent="0" marL="0">
              <a:buNone/>
            </a:pPr>
            <a:r>
              <a:rPr lang="en-US" sz="1600" b="1" dirty="0">
                <a:solidFill>
                  <a:srgbClr val="0B1533"/>
                </a:solidFill>
                <a:latin typeface="Cambria" pitchFamily="34" charset="0"/>
                <a:ea typeface="Cambria" pitchFamily="34" charset="-122"/>
                <a:cs typeface="Cambria" pitchFamily="34" charset="-120"/>
              </a:rPr>
              <a:t>Version Controlled</a:t>
            </a:r>
            <a:endParaRPr lang="en-US" sz="1600" dirty="0"/>
          </a:p>
        </p:txBody>
      </p:sp>
      <p:sp>
        <p:nvSpPr>
          <p:cNvPr id="15" name="Text 13"/>
          <p:cNvSpPr/>
          <p:nvPr/>
        </p:nvSpPr>
        <p:spPr>
          <a:xfrm>
            <a:off x="7589520" y="3282696"/>
            <a:ext cx="3840480" cy="548640"/>
          </a:xfrm>
          <a:prstGeom prst="rect">
            <a:avLst/>
          </a:prstGeom>
          <a:noFill/>
          <a:ln/>
        </p:spPr>
        <p:txBody>
          <a:bodyPr wrap="square" lIns="0" tIns="0" rIns="0" bIns="0" rtlCol="0" anchor="ctr"/>
          <a:lstStyle/>
          <a:p>
            <a:pPr indent="0" marL="0">
              <a:buNone/>
            </a:pPr>
            <a:r>
              <a:rPr lang="en-US" sz="1200" dirty="0">
                <a:solidFill>
                  <a:srgbClr val="6B7690"/>
                </a:solidFill>
                <a:latin typeface="Calibri" pitchFamily="34" charset="0"/>
                <a:ea typeface="Calibri" pitchFamily="34" charset="-122"/>
                <a:cs typeface="Calibri" pitchFamily="34" charset="-120"/>
              </a:rPr>
              <a:t>Automatic versioning on every upload</a:t>
            </a:r>
            <a:endParaRPr lang="en-US" sz="1200" dirty="0"/>
          </a:p>
        </p:txBody>
      </p:sp>
      <p:sp>
        <p:nvSpPr>
          <p:cNvPr id="16" name="Shape 14"/>
          <p:cNvSpPr/>
          <p:nvPr/>
        </p:nvSpPr>
        <p:spPr>
          <a:xfrm>
            <a:off x="6492240" y="4197096"/>
            <a:ext cx="5074920" cy="1234440"/>
          </a:xfrm>
          <a:prstGeom prst="roundRect">
            <a:avLst>
              <a:gd name="adj" fmla="val 7407"/>
            </a:avLst>
          </a:prstGeom>
          <a:solidFill>
            <a:srgbClr val="FFFFFF"/>
          </a:solidFill>
          <a:ln w="12700">
            <a:solidFill>
              <a:srgbClr val="E3E8F2"/>
            </a:solidFill>
            <a:prstDash val="solid"/>
          </a:ln>
          <a:effectLst>
            <a:outerShdw sx="100000" sy="100000" kx="0" ky="0" algn="bl" rotWithShape="0" blurRad="101600" dist="38100" dir="5400000">
              <a:srgbClr val="0B1533">
                <a:alpha val="12000"/>
              </a:srgbClr>
            </a:outerShdw>
          </a:effectLst>
        </p:spPr>
      </p:sp>
      <p:sp>
        <p:nvSpPr>
          <p:cNvPr id="17" name="Shape 15"/>
          <p:cNvSpPr/>
          <p:nvPr/>
        </p:nvSpPr>
        <p:spPr>
          <a:xfrm>
            <a:off x="6720840" y="4480560"/>
            <a:ext cx="658368" cy="658368"/>
          </a:xfrm>
          <a:prstGeom prst="ellipse">
            <a:avLst/>
          </a:prstGeom>
          <a:solidFill>
            <a:srgbClr val="E9F2FE"/>
          </a:solidFill>
          <a:ln/>
        </p:spPr>
      </p:sp>
      <p:sp>
        <p:nvSpPr>
          <p:cNvPr id="18" name="Text 16"/>
          <p:cNvSpPr/>
          <p:nvPr/>
        </p:nvSpPr>
        <p:spPr>
          <a:xfrm>
            <a:off x="6720840" y="4480560"/>
            <a:ext cx="658368" cy="658368"/>
          </a:xfrm>
          <a:prstGeom prst="rect">
            <a:avLst/>
          </a:prstGeom>
          <a:noFill/>
          <a:ln/>
        </p:spPr>
        <p:txBody>
          <a:bodyPr wrap="square" lIns="0" tIns="0" rIns="0" bIns="0" rtlCol="0" anchor="ctr"/>
          <a:lstStyle/>
          <a:p>
            <a:pPr algn="ctr" indent="0" marL="0">
              <a:buNone/>
            </a:pPr>
            <a:r>
              <a:rPr lang="en-US" sz="1872" b="1" dirty="0">
                <a:solidFill>
                  <a:srgbClr val="2EA0F5"/>
                </a:solidFill>
                <a:latin typeface="Calibri" pitchFamily="34" charset="0"/>
                <a:ea typeface="Calibri" pitchFamily="34" charset="-122"/>
                <a:cs typeface="Calibri" pitchFamily="34" charset="-120"/>
              </a:rPr>
              <a:t>✓</a:t>
            </a:r>
            <a:endParaRPr lang="en-US" sz="1872" dirty="0"/>
          </a:p>
        </p:txBody>
      </p:sp>
      <p:sp>
        <p:nvSpPr>
          <p:cNvPr id="19" name="Text 17"/>
          <p:cNvSpPr/>
          <p:nvPr/>
        </p:nvSpPr>
        <p:spPr>
          <a:xfrm>
            <a:off x="7589520" y="4361688"/>
            <a:ext cx="3840480" cy="365760"/>
          </a:xfrm>
          <a:prstGeom prst="rect">
            <a:avLst/>
          </a:prstGeom>
          <a:noFill/>
          <a:ln/>
        </p:spPr>
        <p:txBody>
          <a:bodyPr wrap="square" lIns="0" tIns="0" rIns="0" bIns="0" rtlCol="0" anchor="ctr"/>
          <a:lstStyle/>
          <a:p>
            <a:pPr indent="0" marL="0">
              <a:buNone/>
            </a:pPr>
            <a:r>
              <a:rPr lang="en-US" sz="1600" b="1" dirty="0">
                <a:solidFill>
                  <a:srgbClr val="0B1533"/>
                </a:solidFill>
                <a:latin typeface="Cambria" pitchFamily="34" charset="0"/>
                <a:ea typeface="Cambria" pitchFamily="34" charset="-122"/>
                <a:cs typeface="Cambria" pitchFamily="34" charset="-120"/>
              </a:rPr>
              <a:t>Fully Audited</a:t>
            </a:r>
            <a:endParaRPr lang="en-US" sz="1600" dirty="0"/>
          </a:p>
        </p:txBody>
      </p:sp>
      <p:sp>
        <p:nvSpPr>
          <p:cNvPr id="20" name="Text 18"/>
          <p:cNvSpPr/>
          <p:nvPr/>
        </p:nvSpPr>
        <p:spPr>
          <a:xfrm>
            <a:off x="7589520" y="4764024"/>
            <a:ext cx="3840480" cy="548640"/>
          </a:xfrm>
          <a:prstGeom prst="rect">
            <a:avLst/>
          </a:prstGeom>
          <a:noFill/>
          <a:ln/>
        </p:spPr>
        <p:txBody>
          <a:bodyPr wrap="square" lIns="0" tIns="0" rIns="0" bIns="0" rtlCol="0" anchor="ctr"/>
          <a:lstStyle/>
          <a:p>
            <a:pPr indent="0" marL="0">
              <a:buNone/>
            </a:pPr>
            <a:r>
              <a:rPr lang="en-US" sz="1200" dirty="0">
                <a:solidFill>
                  <a:srgbClr val="6B7690"/>
                </a:solidFill>
                <a:latin typeface="Calibri" pitchFamily="34" charset="0"/>
                <a:ea typeface="Calibri" pitchFamily="34" charset="-122"/>
                <a:cs typeface="Calibri" pitchFamily="34" charset="-120"/>
              </a:rPr>
              <a:t>Every action logged for accountability</a:t>
            </a:r>
            <a:endParaRPr lang="en-US" sz="1200" dirty="0"/>
          </a:p>
        </p:txBody>
      </p:sp>
      <p:sp>
        <p:nvSpPr>
          <p:cNvPr id="21" name="Text 19"/>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Problem Statement</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WHY THIS PROJECT</a:t>
            </a:r>
            <a:endParaRPr lang="en-US" sz="1100" dirty="0"/>
          </a:p>
        </p:txBody>
      </p:sp>
      <p:sp>
        <p:nvSpPr>
          <p:cNvPr id="4" name="Text 2"/>
          <p:cNvSpPr/>
          <p:nvPr/>
        </p:nvSpPr>
        <p:spPr>
          <a:xfrm>
            <a:off x="594360" y="1188720"/>
            <a:ext cx="10789920" cy="365760"/>
          </a:xfrm>
          <a:prstGeom prst="rect">
            <a:avLst/>
          </a:prstGeom>
          <a:noFill/>
          <a:ln/>
        </p:spPr>
        <p:txBody>
          <a:bodyPr wrap="square" lIns="0" tIns="0" rIns="0" bIns="0" rtlCol="0" anchor="ctr"/>
          <a:lstStyle/>
          <a:p>
            <a:pPr indent="0" marL="0">
              <a:buNone/>
            </a:pPr>
            <a:r>
              <a:rPr lang="en-US" sz="1350" i="1" dirty="0">
                <a:solidFill>
                  <a:srgbClr val="6B7690"/>
                </a:solidFill>
                <a:latin typeface="Calibri" pitchFamily="34" charset="0"/>
                <a:ea typeface="Calibri" pitchFamily="34" charset="-122"/>
                <a:cs typeface="Calibri" pitchFamily="34" charset="-120"/>
              </a:rPr>
              <a:t>Traditional document management systems carry significant, well-known drawbacks:</a:t>
            </a:r>
            <a:endParaRPr lang="en-US" sz="1350" dirty="0"/>
          </a:p>
        </p:txBody>
      </p:sp>
      <p:sp>
        <p:nvSpPr>
          <p:cNvPr id="5" name="Shape 3"/>
          <p:cNvSpPr/>
          <p:nvPr/>
        </p:nvSpPr>
        <p:spPr>
          <a:xfrm>
            <a:off x="594360" y="1783080"/>
            <a:ext cx="5349240" cy="621792"/>
          </a:xfrm>
          <a:prstGeom prst="roundRect">
            <a:avLst>
              <a:gd name="adj" fmla="val 11765"/>
            </a:avLst>
          </a:prstGeom>
          <a:solidFill>
            <a:srgbClr val="FFFFFF"/>
          </a:solidFill>
          <a:ln w="12700">
            <a:solidFill>
              <a:srgbClr val="E3E8F2"/>
            </a:solidFill>
            <a:prstDash val="solid"/>
          </a:ln>
        </p:spPr>
      </p:sp>
      <p:sp>
        <p:nvSpPr>
          <p:cNvPr id="6" name="Shape 4"/>
          <p:cNvSpPr/>
          <p:nvPr/>
        </p:nvSpPr>
        <p:spPr>
          <a:xfrm>
            <a:off x="722376" y="1911096"/>
            <a:ext cx="365760" cy="365760"/>
          </a:xfrm>
          <a:prstGeom prst="ellipse">
            <a:avLst/>
          </a:prstGeom>
          <a:solidFill>
            <a:srgbClr val="FBE4E4"/>
          </a:solidFill>
          <a:ln/>
        </p:spPr>
      </p:sp>
      <p:sp>
        <p:nvSpPr>
          <p:cNvPr id="7" name="Text 5"/>
          <p:cNvSpPr/>
          <p:nvPr/>
        </p:nvSpPr>
        <p:spPr>
          <a:xfrm>
            <a:off x="722376" y="1911096"/>
            <a:ext cx="365760" cy="365760"/>
          </a:xfrm>
          <a:prstGeom prst="rect">
            <a:avLst/>
          </a:prstGeom>
          <a:noFill/>
          <a:ln/>
        </p:spPr>
        <p:txBody>
          <a:bodyPr wrap="square" lIns="0" tIns="0" rIns="0" bIns="0" rtlCol="0" anchor="ctr"/>
          <a:lstStyle/>
          <a:p>
            <a:pPr algn="ctr" indent="0" marL="0">
              <a:buNone/>
            </a:pPr>
            <a:r>
              <a:rPr lang="en-US" sz="1040" b="1" dirty="0">
                <a:solidFill>
                  <a:srgbClr val="C0392B"/>
                </a:solidFill>
                <a:latin typeface="Calibri" pitchFamily="34" charset="0"/>
                <a:ea typeface="Calibri" pitchFamily="34" charset="-122"/>
                <a:cs typeface="Calibri" pitchFamily="34" charset="-120"/>
              </a:rPr>
              <a:t>×</a:t>
            </a:r>
            <a:endParaRPr lang="en-US" sz="1040" dirty="0"/>
          </a:p>
        </p:txBody>
      </p:sp>
      <p:sp>
        <p:nvSpPr>
          <p:cNvPr id="8" name="Text 6"/>
          <p:cNvSpPr/>
          <p:nvPr/>
        </p:nvSpPr>
        <p:spPr>
          <a:xfrm>
            <a:off x="1216152" y="1783080"/>
            <a:ext cx="4617720" cy="621792"/>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Documents stored locally are vulnerable to system failures</a:t>
            </a:r>
            <a:endParaRPr lang="en-US" sz="1200" dirty="0"/>
          </a:p>
        </p:txBody>
      </p:sp>
      <p:sp>
        <p:nvSpPr>
          <p:cNvPr id="9" name="Shape 7"/>
          <p:cNvSpPr/>
          <p:nvPr/>
        </p:nvSpPr>
        <p:spPr>
          <a:xfrm>
            <a:off x="594360" y="2560320"/>
            <a:ext cx="5349240" cy="621792"/>
          </a:xfrm>
          <a:prstGeom prst="roundRect">
            <a:avLst>
              <a:gd name="adj" fmla="val 11765"/>
            </a:avLst>
          </a:prstGeom>
          <a:solidFill>
            <a:srgbClr val="FFFFFF"/>
          </a:solidFill>
          <a:ln w="12700">
            <a:solidFill>
              <a:srgbClr val="E3E8F2"/>
            </a:solidFill>
            <a:prstDash val="solid"/>
          </a:ln>
        </p:spPr>
      </p:sp>
      <p:sp>
        <p:nvSpPr>
          <p:cNvPr id="10" name="Shape 8"/>
          <p:cNvSpPr/>
          <p:nvPr/>
        </p:nvSpPr>
        <p:spPr>
          <a:xfrm>
            <a:off x="722376" y="2688336"/>
            <a:ext cx="365760" cy="365760"/>
          </a:xfrm>
          <a:prstGeom prst="ellipse">
            <a:avLst/>
          </a:prstGeom>
          <a:solidFill>
            <a:srgbClr val="FBE4E4"/>
          </a:solidFill>
          <a:ln/>
        </p:spPr>
      </p:sp>
      <p:sp>
        <p:nvSpPr>
          <p:cNvPr id="11" name="Text 9"/>
          <p:cNvSpPr/>
          <p:nvPr/>
        </p:nvSpPr>
        <p:spPr>
          <a:xfrm>
            <a:off x="722376" y="2688336"/>
            <a:ext cx="365760" cy="365760"/>
          </a:xfrm>
          <a:prstGeom prst="rect">
            <a:avLst/>
          </a:prstGeom>
          <a:noFill/>
          <a:ln/>
        </p:spPr>
        <p:txBody>
          <a:bodyPr wrap="square" lIns="0" tIns="0" rIns="0" bIns="0" rtlCol="0" anchor="ctr"/>
          <a:lstStyle/>
          <a:p>
            <a:pPr algn="ctr" indent="0" marL="0">
              <a:buNone/>
            </a:pPr>
            <a:r>
              <a:rPr lang="en-US" sz="1040" b="1" dirty="0">
                <a:solidFill>
                  <a:srgbClr val="C0392B"/>
                </a:solidFill>
                <a:latin typeface="Calibri" pitchFamily="34" charset="0"/>
                <a:ea typeface="Calibri" pitchFamily="34" charset="-122"/>
                <a:cs typeface="Calibri" pitchFamily="34" charset="-120"/>
              </a:rPr>
              <a:t>×</a:t>
            </a:r>
            <a:endParaRPr lang="en-US" sz="1040" dirty="0"/>
          </a:p>
        </p:txBody>
      </p:sp>
      <p:sp>
        <p:nvSpPr>
          <p:cNvPr id="12" name="Text 10"/>
          <p:cNvSpPr/>
          <p:nvPr/>
        </p:nvSpPr>
        <p:spPr>
          <a:xfrm>
            <a:off x="1216152" y="2560320"/>
            <a:ext cx="4617720" cy="621792"/>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No centralized document repository</a:t>
            </a:r>
            <a:endParaRPr lang="en-US" sz="1200" dirty="0"/>
          </a:p>
        </p:txBody>
      </p:sp>
      <p:sp>
        <p:nvSpPr>
          <p:cNvPr id="13" name="Shape 11"/>
          <p:cNvSpPr/>
          <p:nvPr/>
        </p:nvSpPr>
        <p:spPr>
          <a:xfrm>
            <a:off x="594360" y="3337560"/>
            <a:ext cx="5349240" cy="621792"/>
          </a:xfrm>
          <a:prstGeom prst="roundRect">
            <a:avLst>
              <a:gd name="adj" fmla="val 11765"/>
            </a:avLst>
          </a:prstGeom>
          <a:solidFill>
            <a:srgbClr val="FFFFFF"/>
          </a:solidFill>
          <a:ln w="12700">
            <a:solidFill>
              <a:srgbClr val="E3E8F2"/>
            </a:solidFill>
            <a:prstDash val="solid"/>
          </a:ln>
        </p:spPr>
      </p:sp>
      <p:sp>
        <p:nvSpPr>
          <p:cNvPr id="14" name="Shape 12"/>
          <p:cNvSpPr/>
          <p:nvPr/>
        </p:nvSpPr>
        <p:spPr>
          <a:xfrm>
            <a:off x="722376" y="3465576"/>
            <a:ext cx="365760" cy="365760"/>
          </a:xfrm>
          <a:prstGeom prst="ellipse">
            <a:avLst/>
          </a:prstGeom>
          <a:solidFill>
            <a:srgbClr val="FBE4E4"/>
          </a:solidFill>
          <a:ln/>
        </p:spPr>
      </p:sp>
      <p:sp>
        <p:nvSpPr>
          <p:cNvPr id="15" name="Text 13"/>
          <p:cNvSpPr/>
          <p:nvPr/>
        </p:nvSpPr>
        <p:spPr>
          <a:xfrm>
            <a:off x="722376" y="3465576"/>
            <a:ext cx="365760" cy="365760"/>
          </a:xfrm>
          <a:prstGeom prst="rect">
            <a:avLst/>
          </a:prstGeom>
          <a:noFill/>
          <a:ln/>
        </p:spPr>
        <p:txBody>
          <a:bodyPr wrap="square" lIns="0" tIns="0" rIns="0" bIns="0" rtlCol="0" anchor="ctr"/>
          <a:lstStyle/>
          <a:p>
            <a:pPr algn="ctr" indent="0" marL="0">
              <a:buNone/>
            </a:pPr>
            <a:r>
              <a:rPr lang="en-US" sz="1040" b="1" dirty="0">
                <a:solidFill>
                  <a:srgbClr val="C0392B"/>
                </a:solidFill>
                <a:latin typeface="Calibri" pitchFamily="34" charset="0"/>
                <a:ea typeface="Calibri" pitchFamily="34" charset="-122"/>
                <a:cs typeface="Calibri" pitchFamily="34" charset="-120"/>
              </a:rPr>
              <a:t>×</a:t>
            </a:r>
            <a:endParaRPr lang="en-US" sz="1040" dirty="0"/>
          </a:p>
        </p:txBody>
      </p:sp>
      <p:sp>
        <p:nvSpPr>
          <p:cNvPr id="16" name="Text 14"/>
          <p:cNvSpPr/>
          <p:nvPr/>
        </p:nvSpPr>
        <p:spPr>
          <a:xfrm>
            <a:off x="1216152" y="3337560"/>
            <a:ext cx="4617720" cy="621792"/>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Limited support for version management</a:t>
            </a:r>
            <a:endParaRPr lang="en-US" sz="1200" dirty="0"/>
          </a:p>
        </p:txBody>
      </p:sp>
      <p:sp>
        <p:nvSpPr>
          <p:cNvPr id="17" name="Shape 15"/>
          <p:cNvSpPr/>
          <p:nvPr/>
        </p:nvSpPr>
        <p:spPr>
          <a:xfrm>
            <a:off x="594360" y="4114800"/>
            <a:ext cx="5349240" cy="621792"/>
          </a:xfrm>
          <a:prstGeom prst="roundRect">
            <a:avLst>
              <a:gd name="adj" fmla="val 11765"/>
            </a:avLst>
          </a:prstGeom>
          <a:solidFill>
            <a:srgbClr val="FFFFFF"/>
          </a:solidFill>
          <a:ln w="12700">
            <a:solidFill>
              <a:srgbClr val="E3E8F2"/>
            </a:solidFill>
            <a:prstDash val="solid"/>
          </a:ln>
        </p:spPr>
      </p:sp>
      <p:sp>
        <p:nvSpPr>
          <p:cNvPr id="18" name="Shape 16"/>
          <p:cNvSpPr/>
          <p:nvPr/>
        </p:nvSpPr>
        <p:spPr>
          <a:xfrm>
            <a:off x="722376" y="4242816"/>
            <a:ext cx="365760" cy="365760"/>
          </a:xfrm>
          <a:prstGeom prst="ellipse">
            <a:avLst/>
          </a:prstGeom>
          <a:solidFill>
            <a:srgbClr val="FBE4E4"/>
          </a:solidFill>
          <a:ln/>
        </p:spPr>
      </p:sp>
      <p:sp>
        <p:nvSpPr>
          <p:cNvPr id="19" name="Text 17"/>
          <p:cNvSpPr/>
          <p:nvPr/>
        </p:nvSpPr>
        <p:spPr>
          <a:xfrm>
            <a:off x="722376" y="4242816"/>
            <a:ext cx="365760" cy="365760"/>
          </a:xfrm>
          <a:prstGeom prst="rect">
            <a:avLst/>
          </a:prstGeom>
          <a:noFill/>
          <a:ln/>
        </p:spPr>
        <p:txBody>
          <a:bodyPr wrap="square" lIns="0" tIns="0" rIns="0" bIns="0" rtlCol="0" anchor="ctr"/>
          <a:lstStyle/>
          <a:p>
            <a:pPr algn="ctr" indent="0" marL="0">
              <a:buNone/>
            </a:pPr>
            <a:r>
              <a:rPr lang="en-US" sz="1040" b="1" dirty="0">
                <a:solidFill>
                  <a:srgbClr val="C0392B"/>
                </a:solidFill>
                <a:latin typeface="Calibri" pitchFamily="34" charset="0"/>
                <a:ea typeface="Calibri" pitchFamily="34" charset="-122"/>
                <a:cs typeface="Calibri" pitchFamily="34" charset="-120"/>
              </a:rPr>
              <a:t>×</a:t>
            </a:r>
            <a:endParaRPr lang="en-US" sz="1040" dirty="0"/>
          </a:p>
        </p:txBody>
      </p:sp>
      <p:sp>
        <p:nvSpPr>
          <p:cNvPr id="20" name="Text 18"/>
          <p:cNvSpPr/>
          <p:nvPr/>
        </p:nvSpPr>
        <p:spPr>
          <a:xfrm>
            <a:off x="1216152" y="4114800"/>
            <a:ext cx="4617720" cy="621792"/>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Difficulty restoring previous document versions</a:t>
            </a:r>
            <a:endParaRPr lang="en-US" sz="1200" dirty="0"/>
          </a:p>
        </p:txBody>
      </p:sp>
      <p:sp>
        <p:nvSpPr>
          <p:cNvPr id="21" name="Shape 19"/>
          <p:cNvSpPr/>
          <p:nvPr/>
        </p:nvSpPr>
        <p:spPr>
          <a:xfrm>
            <a:off x="6263640" y="1783080"/>
            <a:ext cx="5349240" cy="621792"/>
          </a:xfrm>
          <a:prstGeom prst="roundRect">
            <a:avLst>
              <a:gd name="adj" fmla="val 11765"/>
            </a:avLst>
          </a:prstGeom>
          <a:solidFill>
            <a:srgbClr val="FFFFFF"/>
          </a:solidFill>
          <a:ln w="12700">
            <a:solidFill>
              <a:srgbClr val="E3E8F2"/>
            </a:solidFill>
            <a:prstDash val="solid"/>
          </a:ln>
        </p:spPr>
      </p:sp>
      <p:sp>
        <p:nvSpPr>
          <p:cNvPr id="22" name="Shape 20"/>
          <p:cNvSpPr/>
          <p:nvPr/>
        </p:nvSpPr>
        <p:spPr>
          <a:xfrm>
            <a:off x="6391656" y="1911096"/>
            <a:ext cx="365760" cy="365760"/>
          </a:xfrm>
          <a:prstGeom prst="ellipse">
            <a:avLst/>
          </a:prstGeom>
          <a:solidFill>
            <a:srgbClr val="FBE4E4"/>
          </a:solidFill>
          <a:ln/>
        </p:spPr>
      </p:sp>
      <p:sp>
        <p:nvSpPr>
          <p:cNvPr id="23" name="Text 21"/>
          <p:cNvSpPr/>
          <p:nvPr/>
        </p:nvSpPr>
        <p:spPr>
          <a:xfrm>
            <a:off x="6391656" y="1911096"/>
            <a:ext cx="365760" cy="365760"/>
          </a:xfrm>
          <a:prstGeom prst="rect">
            <a:avLst/>
          </a:prstGeom>
          <a:noFill/>
          <a:ln/>
        </p:spPr>
        <p:txBody>
          <a:bodyPr wrap="square" lIns="0" tIns="0" rIns="0" bIns="0" rtlCol="0" anchor="ctr"/>
          <a:lstStyle/>
          <a:p>
            <a:pPr algn="ctr" indent="0" marL="0">
              <a:buNone/>
            </a:pPr>
            <a:r>
              <a:rPr lang="en-US" sz="1040" b="1" dirty="0">
                <a:solidFill>
                  <a:srgbClr val="C0392B"/>
                </a:solidFill>
                <a:latin typeface="Calibri" pitchFamily="34" charset="0"/>
                <a:ea typeface="Calibri" pitchFamily="34" charset="-122"/>
                <a:cs typeface="Calibri" pitchFamily="34" charset="-120"/>
              </a:rPr>
              <a:t>×</a:t>
            </a:r>
            <a:endParaRPr lang="en-US" sz="1040" dirty="0"/>
          </a:p>
        </p:txBody>
      </p:sp>
      <p:sp>
        <p:nvSpPr>
          <p:cNvPr id="24" name="Text 22"/>
          <p:cNvSpPr/>
          <p:nvPr/>
        </p:nvSpPr>
        <p:spPr>
          <a:xfrm>
            <a:off x="6885432" y="1783080"/>
            <a:ext cx="4617720" cy="621792"/>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Lack of audit tracking for document activities</a:t>
            </a:r>
            <a:endParaRPr lang="en-US" sz="1200" dirty="0"/>
          </a:p>
        </p:txBody>
      </p:sp>
      <p:sp>
        <p:nvSpPr>
          <p:cNvPr id="25" name="Shape 23"/>
          <p:cNvSpPr/>
          <p:nvPr/>
        </p:nvSpPr>
        <p:spPr>
          <a:xfrm>
            <a:off x="6263640" y="2560320"/>
            <a:ext cx="5349240" cy="621792"/>
          </a:xfrm>
          <a:prstGeom prst="roundRect">
            <a:avLst>
              <a:gd name="adj" fmla="val 11765"/>
            </a:avLst>
          </a:prstGeom>
          <a:solidFill>
            <a:srgbClr val="FFFFFF"/>
          </a:solidFill>
          <a:ln w="12700">
            <a:solidFill>
              <a:srgbClr val="E3E8F2"/>
            </a:solidFill>
            <a:prstDash val="solid"/>
          </a:ln>
        </p:spPr>
      </p:sp>
      <p:sp>
        <p:nvSpPr>
          <p:cNvPr id="26" name="Shape 24"/>
          <p:cNvSpPr/>
          <p:nvPr/>
        </p:nvSpPr>
        <p:spPr>
          <a:xfrm>
            <a:off x="6391656" y="2688336"/>
            <a:ext cx="365760" cy="365760"/>
          </a:xfrm>
          <a:prstGeom prst="ellipse">
            <a:avLst/>
          </a:prstGeom>
          <a:solidFill>
            <a:srgbClr val="FBE4E4"/>
          </a:solidFill>
          <a:ln/>
        </p:spPr>
      </p:sp>
      <p:sp>
        <p:nvSpPr>
          <p:cNvPr id="27" name="Text 25"/>
          <p:cNvSpPr/>
          <p:nvPr/>
        </p:nvSpPr>
        <p:spPr>
          <a:xfrm>
            <a:off x="6391656" y="2688336"/>
            <a:ext cx="365760" cy="365760"/>
          </a:xfrm>
          <a:prstGeom prst="rect">
            <a:avLst/>
          </a:prstGeom>
          <a:noFill/>
          <a:ln/>
        </p:spPr>
        <p:txBody>
          <a:bodyPr wrap="square" lIns="0" tIns="0" rIns="0" bIns="0" rtlCol="0" anchor="ctr"/>
          <a:lstStyle/>
          <a:p>
            <a:pPr algn="ctr" indent="0" marL="0">
              <a:buNone/>
            </a:pPr>
            <a:r>
              <a:rPr lang="en-US" sz="1040" b="1" dirty="0">
                <a:solidFill>
                  <a:srgbClr val="C0392B"/>
                </a:solidFill>
                <a:latin typeface="Calibri" pitchFamily="34" charset="0"/>
                <a:ea typeface="Calibri" pitchFamily="34" charset="-122"/>
                <a:cs typeface="Calibri" pitchFamily="34" charset="-120"/>
              </a:rPr>
              <a:t>×</a:t>
            </a:r>
            <a:endParaRPr lang="en-US" sz="1040" dirty="0"/>
          </a:p>
        </p:txBody>
      </p:sp>
      <p:sp>
        <p:nvSpPr>
          <p:cNvPr id="28" name="Text 26"/>
          <p:cNvSpPr/>
          <p:nvPr/>
        </p:nvSpPr>
        <p:spPr>
          <a:xfrm>
            <a:off x="6885432" y="2560320"/>
            <a:ext cx="4617720" cy="621792"/>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Poor scalability for multiple concurrent users</a:t>
            </a:r>
            <a:endParaRPr lang="en-US" sz="1200" dirty="0"/>
          </a:p>
        </p:txBody>
      </p:sp>
      <p:sp>
        <p:nvSpPr>
          <p:cNvPr id="29" name="Shape 27"/>
          <p:cNvSpPr/>
          <p:nvPr/>
        </p:nvSpPr>
        <p:spPr>
          <a:xfrm>
            <a:off x="6263640" y="3337560"/>
            <a:ext cx="5349240" cy="621792"/>
          </a:xfrm>
          <a:prstGeom prst="roundRect">
            <a:avLst>
              <a:gd name="adj" fmla="val 11765"/>
            </a:avLst>
          </a:prstGeom>
          <a:solidFill>
            <a:srgbClr val="FFFFFF"/>
          </a:solidFill>
          <a:ln w="12700">
            <a:solidFill>
              <a:srgbClr val="E3E8F2"/>
            </a:solidFill>
            <a:prstDash val="solid"/>
          </a:ln>
        </p:spPr>
      </p:sp>
      <p:sp>
        <p:nvSpPr>
          <p:cNvPr id="30" name="Shape 28"/>
          <p:cNvSpPr/>
          <p:nvPr/>
        </p:nvSpPr>
        <p:spPr>
          <a:xfrm>
            <a:off x="6391656" y="3465576"/>
            <a:ext cx="365760" cy="365760"/>
          </a:xfrm>
          <a:prstGeom prst="ellipse">
            <a:avLst/>
          </a:prstGeom>
          <a:solidFill>
            <a:srgbClr val="FBE4E4"/>
          </a:solidFill>
          <a:ln/>
        </p:spPr>
      </p:sp>
      <p:sp>
        <p:nvSpPr>
          <p:cNvPr id="31" name="Text 29"/>
          <p:cNvSpPr/>
          <p:nvPr/>
        </p:nvSpPr>
        <p:spPr>
          <a:xfrm>
            <a:off x="6391656" y="3465576"/>
            <a:ext cx="365760" cy="365760"/>
          </a:xfrm>
          <a:prstGeom prst="rect">
            <a:avLst/>
          </a:prstGeom>
          <a:noFill/>
          <a:ln/>
        </p:spPr>
        <p:txBody>
          <a:bodyPr wrap="square" lIns="0" tIns="0" rIns="0" bIns="0" rtlCol="0" anchor="ctr"/>
          <a:lstStyle/>
          <a:p>
            <a:pPr algn="ctr" indent="0" marL="0">
              <a:buNone/>
            </a:pPr>
            <a:r>
              <a:rPr lang="en-US" sz="1040" b="1" dirty="0">
                <a:solidFill>
                  <a:srgbClr val="C0392B"/>
                </a:solidFill>
                <a:latin typeface="Calibri" pitchFamily="34" charset="0"/>
                <a:ea typeface="Calibri" pitchFamily="34" charset="-122"/>
                <a:cs typeface="Calibri" pitchFamily="34" charset="-120"/>
              </a:rPr>
              <a:t>×</a:t>
            </a:r>
            <a:endParaRPr lang="en-US" sz="1040" dirty="0"/>
          </a:p>
        </p:txBody>
      </p:sp>
      <p:sp>
        <p:nvSpPr>
          <p:cNvPr id="32" name="Text 30"/>
          <p:cNvSpPr/>
          <p:nvPr/>
        </p:nvSpPr>
        <p:spPr>
          <a:xfrm>
            <a:off x="6885432" y="3337560"/>
            <a:ext cx="4617720" cy="621792"/>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Manual, error-prone backup processes</a:t>
            </a:r>
            <a:endParaRPr lang="en-US" sz="1200" dirty="0"/>
          </a:p>
        </p:txBody>
      </p:sp>
      <p:sp>
        <p:nvSpPr>
          <p:cNvPr id="33" name="Shape 31"/>
          <p:cNvSpPr/>
          <p:nvPr/>
        </p:nvSpPr>
        <p:spPr>
          <a:xfrm>
            <a:off x="6263640" y="4114800"/>
            <a:ext cx="5349240" cy="621792"/>
          </a:xfrm>
          <a:prstGeom prst="roundRect">
            <a:avLst>
              <a:gd name="adj" fmla="val 11765"/>
            </a:avLst>
          </a:prstGeom>
          <a:solidFill>
            <a:srgbClr val="FFFFFF"/>
          </a:solidFill>
          <a:ln w="12700">
            <a:solidFill>
              <a:srgbClr val="E3E8F2"/>
            </a:solidFill>
            <a:prstDash val="solid"/>
          </a:ln>
        </p:spPr>
      </p:sp>
      <p:sp>
        <p:nvSpPr>
          <p:cNvPr id="34" name="Shape 32"/>
          <p:cNvSpPr/>
          <p:nvPr/>
        </p:nvSpPr>
        <p:spPr>
          <a:xfrm>
            <a:off x="6391656" y="4242816"/>
            <a:ext cx="365760" cy="365760"/>
          </a:xfrm>
          <a:prstGeom prst="ellipse">
            <a:avLst/>
          </a:prstGeom>
          <a:solidFill>
            <a:srgbClr val="FBE4E4"/>
          </a:solidFill>
          <a:ln/>
        </p:spPr>
      </p:sp>
      <p:sp>
        <p:nvSpPr>
          <p:cNvPr id="35" name="Text 33"/>
          <p:cNvSpPr/>
          <p:nvPr/>
        </p:nvSpPr>
        <p:spPr>
          <a:xfrm>
            <a:off x="6391656" y="4242816"/>
            <a:ext cx="365760" cy="365760"/>
          </a:xfrm>
          <a:prstGeom prst="rect">
            <a:avLst/>
          </a:prstGeom>
          <a:noFill/>
          <a:ln/>
        </p:spPr>
        <p:txBody>
          <a:bodyPr wrap="square" lIns="0" tIns="0" rIns="0" bIns="0" rtlCol="0" anchor="ctr"/>
          <a:lstStyle/>
          <a:p>
            <a:pPr algn="ctr" indent="0" marL="0">
              <a:buNone/>
            </a:pPr>
            <a:r>
              <a:rPr lang="en-US" sz="1040" b="1" dirty="0">
                <a:solidFill>
                  <a:srgbClr val="C0392B"/>
                </a:solidFill>
                <a:latin typeface="Calibri" pitchFamily="34" charset="0"/>
                <a:ea typeface="Calibri" pitchFamily="34" charset="-122"/>
                <a:cs typeface="Calibri" pitchFamily="34" charset="-120"/>
              </a:rPr>
              <a:t>×</a:t>
            </a:r>
            <a:endParaRPr lang="en-US" sz="1040" dirty="0"/>
          </a:p>
        </p:txBody>
      </p:sp>
      <p:sp>
        <p:nvSpPr>
          <p:cNvPr id="36" name="Text 34"/>
          <p:cNvSpPr/>
          <p:nvPr/>
        </p:nvSpPr>
        <p:spPr>
          <a:xfrm>
            <a:off x="6885432" y="4114800"/>
            <a:ext cx="4617720" cy="621792"/>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Security risks inherent to local storage</a:t>
            </a:r>
            <a:endParaRPr lang="en-US" sz="1200" dirty="0"/>
          </a:p>
        </p:txBody>
      </p:sp>
      <p:sp>
        <p:nvSpPr>
          <p:cNvPr id="37" name="Shape 35"/>
          <p:cNvSpPr/>
          <p:nvPr/>
        </p:nvSpPr>
        <p:spPr>
          <a:xfrm>
            <a:off x="594360" y="5074920"/>
            <a:ext cx="11018520" cy="777240"/>
          </a:xfrm>
          <a:prstGeom prst="roundRect">
            <a:avLst>
              <a:gd name="adj" fmla="val 11765"/>
            </a:avLst>
          </a:prstGeom>
          <a:solidFill>
            <a:srgbClr val="0B1533"/>
          </a:solidFill>
          <a:ln/>
        </p:spPr>
      </p:sp>
      <p:sp>
        <p:nvSpPr>
          <p:cNvPr id="38" name="Text 36"/>
          <p:cNvSpPr/>
          <p:nvPr/>
        </p:nvSpPr>
        <p:spPr>
          <a:xfrm>
            <a:off x="914400" y="5074920"/>
            <a:ext cx="10424160" cy="777240"/>
          </a:xfrm>
          <a:prstGeom prst="rect">
            <a:avLst/>
          </a:prstGeom>
          <a:noFill/>
          <a:ln/>
        </p:spPr>
        <p:txBody>
          <a:bodyPr wrap="square" lIns="0" tIns="0" rIns="0" bIns="0" rtlCol="0" anchor="ctr"/>
          <a:lstStyle/>
          <a:p>
            <a:pPr indent="0" marL="0">
              <a:buNone/>
            </a:pPr>
            <a:r>
              <a:rPr lang="en-US" sz="1400" b="1" i="1" dirty="0">
                <a:solidFill>
                  <a:srgbClr val="FFFFFF"/>
                </a:solidFill>
                <a:latin typeface="Calibri" pitchFamily="34" charset="0"/>
                <a:ea typeface="Calibri" pitchFamily="34" charset="-122"/>
                <a:cs typeface="Calibri" pitchFamily="34" charset="-120"/>
              </a:rPr>
              <a:t>A cloud-based system providing secure storage, automated versioning, audit logging, and centralized access is essential.</a:t>
            </a:r>
            <a:endParaRPr lang="en-US" sz="1400" dirty="0"/>
          </a:p>
        </p:txBody>
      </p:sp>
      <p:sp>
        <p:nvSpPr>
          <p:cNvPr id="39" name="Text 37"/>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Project Objectives</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GOALS &amp; SCOPE</a:t>
            </a:r>
            <a:endParaRPr lang="en-US" sz="1100" dirty="0"/>
          </a:p>
        </p:txBody>
      </p:sp>
      <p:sp>
        <p:nvSpPr>
          <p:cNvPr id="4" name="Shape 2"/>
          <p:cNvSpPr/>
          <p:nvPr/>
        </p:nvSpPr>
        <p:spPr>
          <a:xfrm>
            <a:off x="594360" y="1371600"/>
            <a:ext cx="3593592" cy="1371600"/>
          </a:xfrm>
          <a:prstGeom prst="roundRect">
            <a:avLst>
              <a:gd name="adj" fmla="val 6667"/>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5" name="Text 3"/>
          <p:cNvSpPr/>
          <p:nvPr/>
        </p:nvSpPr>
        <p:spPr>
          <a:xfrm>
            <a:off x="758952" y="1481328"/>
            <a:ext cx="1097280" cy="548640"/>
          </a:xfrm>
          <a:prstGeom prst="rect">
            <a:avLst/>
          </a:prstGeom>
          <a:noFill/>
          <a:ln/>
        </p:spPr>
        <p:txBody>
          <a:bodyPr wrap="square" lIns="0" tIns="0" rIns="0" bIns="0" rtlCol="0" anchor="ctr"/>
          <a:lstStyle/>
          <a:p>
            <a:pPr indent="0" marL="0">
              <a:buNone/>
            </a:pPr>
            <a:r>
              <a:rPr lang="en-US" sz="2600" b="1" dirty="0">
                <a:solidFill>
                  <a:srgbClr val="D7E4FA"/>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795528" y="1993392"/>
            <a:ext cx="3182112" cy="658368"/>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Develop a secure document management system</a:t>
            </a:r>
            <a:endParaRPr lang="en-US" sz="1250" dirty="0"/>
          </a:p>
        </p:txBody>
      </p:sp>
      <p:sp>
        <p:nvSpPr>
          <p:cNvPr id="7" name="Shape 5"/>
          <p:cNvSpPr/>
          <p:nvPr/>
        </p:nvSpPr>
        <p:spPr>
          <a:xfrm>
            <a:off x="4370832" y="1371600"/>
            <a:ext cx="3593592" cy="1371600"/>
          </a:xfrm>
          <a:prstGeom prst="roundRect">
            <a:avLst>
              <a:gd name="adj" fmla="val 6667"/>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8" name="Text 6"/>
          <p:cNvSpPr/>
          <p:nvPr/>
        </p:nvSpPr>
        <p:spPr>
          <a:xfrm>
            <a:off x="4535424" y="1481328"/>
            <a:ext cx="1097280" cy="548640"/>
          </a:xfrm>
          <a:prstGeom prst="rect">
            <a:avLst/>
          </a:prstGeom>
          <a:noFill/>
          <a:ln/>
        </p:spPr>
        <p:txBody>
          <a:bodyPr wrap="square" lIns="0" tIns="0" rIns="0" bIns="0" rtlCol="0" anchor="ctr"/>
          <a:lstStyle/>
          <a:p>
            <a:pPr indent="0" marL="0">
              <a:buNone/>
            </a:pPr>
            <a:r>
              <a:rPr lang="en-US" sz="2600" b="1" dirty="0">
                <a:solidFill>
                  <a:srgbClr val="D7E4FA"/>
                </a:solidFill>
                <a:latin typeface="Cambria" pitchFamily="34" charset="0"/>
                <a:ea typeface="Cambria" pitchFamily="34" charset="-122"/>
                <a:cs typeface="Cambria" pitchFamily="34" charset="-120"/>
              </a:rPr>
              <a:t>02</a:t>
            </a:r>
            <a:endParaRPr lang="en-US" sz="2600" dirty="0"/>
          </a:p>
        </p:txBody>
      </p:sp>
      <p:sp>
        <p:nvSpPr>
          <p:cNvPr id="9" name="Text 7"/>
          <p:cNvSpPr/>
          <p:nvPr/>
        </p:nvSpPr>
        <p:spPr>
          <a:xfrm>
            <a:off x="4572000" y="1993392"/>
            <a:ext cx="3182112" cy="658368"/>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Store application data in Azure SQL Database</a:t>
            </a:r>
            <a:endParaRPr lang="en-US" sz="1250" dirty="0"/>
          </a:p>
        </p:txBody>
      </p:sp>
      <p:sp>
        <p:nvSpPr>
          <p:cNvPr id="10" name="Shape 8"/>
          <p:cNvSpPr/>
          <p:nvPr/>
        </p:nvSpPr>
        <p:spPr>
          <a:xfrm>
            <a:off x="8147304" y="1371600"/>
            <a:ext cx="3593592" cy="1371600"/>
          </a:xfrm>
          <a:prstGeom prst="roundRect">
            <a:avLst>
              <a:gd name="adj" fmla="val 6667"/>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11" name="Text 9"/>
          <p:cNvSpPr/>
          <p:nvPr/>
        </p:nvSpPr>
        <p:spPr>
          <a:xfrm>
            <a:off x="8311896" y="1481328"/>
            <a:ext cx="1097280" cy="548640"/>
          </a:xfrm>
          <a:prstGeom prst="rect">
            <a:avLst/>
          </a:prstGeom>
          <a:noFill/>
          <a:ln/>
        </p:spPr>
        <p:txBody>
          <a:bodyPr wrap="square" lIns="0" tIns="0" rIns="0" bIns="0" rtlCol="0" anchor="ctr"/>
          <a:lstStyle/>
          <a:p>
            <a:pPr indent="0" marL="0">
              <a:buNone/>
            </a:pPr>
            <a:r>
              <a:rPr lang="en-US" sz="2600" b="1" dirty="0">
                <a:solidFill>
                  <a:srgbClr val="D7E4FA"/>
                </a:solidFill>
                <a:latin typeface="Cambria" pitchFamily="34" charset="0"/>
                <a:ea typeface="Cambria" pitchFamily="34" charset="-122"/>
                <a:cs typeface="Cambria" pitchFamily="34" charset="-120"/>
              </a:rPr>
              <a:t>03</a:t>
            </a:r>
            <a:endParaRPr lang="en-US" sz="2600" dirty="0"/>
          </a:p>
        </p:txBody>
      </p:sp>
      <p:sp>
        <p:nvSpPr>
          <p:cNvPr id="12" name="Text 10"/>
          <p:cNvSpPr/>
          <p:nvPr/>
        </p:nvSpPr>
        <p:spPr>
          <a:xfrm>
            <a:off x="8348472" y="1993392"/>
            <a:ext cx="3182112" cy="658368"/>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Store uploaded files in Azure Blob Storage</a:t>
            </a:r>
            <a:endParaRPr lang="en-US" sz="1250" dirty="0"/>
          </a:p>
        </p:txBody>
      </p:sp>
      <p:sp>
        <p:nvSpPr>
          <p:cNvPr id="13" name="Shape 11"/>
          <p:cNvSpPr/>
          <p:nvPr/>
        </p:nvSpPr>
        <p:spPr>
          <a:xfrm>
            <a:off x="594360" y="2944368"/>
            <a:ext cx="3593592" cy="1371600"/>
          </a:xfrm>
          <a:prstGeom prst="roundRect">
            <a:avLst>
              <a:gd name="adj" fmla="val 6667"/>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14" name="Text 12"/>
          <p:cNvSpPr/>
          <p:nvPr/>
        </p:nvSpPr>
        <p:spPr>
          <a:xfrm>
            <a:off x="758952" y="3054096"/>
            <a:ext cx="1097280" cy="548640"/>
          </a:xfrm>
          <a:prstGeom prst="rect">
            <a:avLst/>
          </a:prstGeom>
          <a:noFill/>
          <a:ln/>
        </p:spPr>
        <p:txBody>
          <a:bodyPr wrap="square" lIns="0" tIns="0" rIns="0" bIns="0" rtlCol="0" anchor="ctr"/>
          <a:lstStyle/>
          <a:p>
            <a:pPr indent="0" marL="0">
              <a:buNone/>
            </a:pPr>
            <a:r>
              <a:rPr lang="en-US" sz="2600" b="1" dirty="0">
                <a:solidFill>
                  <a:srgbClr val="D7E4FA"/>
                </a:solidFill>
                <a:latin typeface="Cambria" pitchFamily="34" charset="0"/>
                <a:ea typeface="Cambria" pitchFamily="34" charset="-122"/>
                <a:cs typeface="Cambria" pitchFamily="34" charset="-120"/>
              </a:rPr>
              <a:t>04</a:t>
            </a:r>
            <a:endParaRPr lang="en-US" sz="2600" dirty="0"/>
          </a:p>
        </p:txBody>
      </p:sp>
      <p:sp>
        <p:nvSpPr>
          <p:cNvPr id="15" name="Text 13"/>
          <p:cNvSpPr/>
          <p:nvPr/>
        </p:nvSpPr>
        <p:spPr>
          <a:xfrm>
            <a:off x="795528" y="3566160"/>
            <a:ext cx="3182112" cy="658368"/>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Implement automatic document versioning</a:t>
            </a:r>
            <a:endParaRPr lang="en-US" sz="1250" dirty="0"/>
          </a:p>
        </p:txBody>
      </p:sp>
      <p:sp>
        <p:nvSpPr>
          <p:cNvPr id="16" name="Shape 14"/>
          <p:cNvSpPr/>
          <p:nvPr/>
        </p:nvSpPr>
        <p:spPr>
          <a:xfrm>
            <a:off x="4370832" y="2944368"/>
            <a:ext cx="3593592" cy="1371600"/>
          </a:xfrm>
          <a:prstGeom prst="roundRect">
            <a:avLst>
              <a:gd name="adj" fmla="val 6667"/>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17" name="Text 15"/>
          <p:cNvSpPr/>
          <p:nvPr/>
        </p:nvSpPr>
        <p:spPr>
          <a:xfrm>
            <a:off x="4535424" y="3054096"/>
            <a:ext cx="1097280" cy="548640"/>
          </a:xfrm>
          <a:prstGeom prst="rect">
            <a:avLst/>
          </a:prstGeom>
          <a:noFill/>
          <a:ln/>
        </p:spPr>
        <p:txBody>
          <a:bodyPr wrap="square" lIns="0" tIns="0" rIns="0" bIns="0" rtlCol="0" anchor="ctr"/>
          <a:lstStyle/>
          <a:p>
            <a:pPr indent="0" marL="0">
              <a:buNone/>
            </a:pPr>
            <a:r>
              <a:rPr lang="en-US" sz="2600" b="1" dirty="0">
                <a:solidFill>
                  <a:srgbClr val="D7E4FA"/>
                </a:solidFill>
                <a:latin typeface="Cambria" pitchFamily="34" charset="0"/>
                <a:ea typeface="Cambria" pitchFamily="34" charset="-122"/>
                <a:cs typeface="Cambria" pitchFamily="34" charset="-120"/>
              </a:rPr>
              <a:t>05</a:t>
            </a:r>
            <a:endParaRPr lang="en-US" sz="2600" dirty="0"/>
          </a:p>
        </p:txBody>
      </p:sp>
      <p:sp>
        <p:nvSpPr>
          <p:cNvPr id="18" name="Text 16"/>
          <p:cNvSpPr/>
          <p:nvPr/>
        </p:nvSpPr>
        <p:spPr>
          <a:xfrm>
            <a:off x="4572000" y="3566160"/>
            <a:ext cx="3182112" cy="658368"/>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Enable restoration of previous versions</a:t>
            </a:r>
            <a:endParaRPr lang="en-US" sz="1250" dirty="0"/>
          </a:p>
        </p:txBody>
      </p:sp>
      <p:sp>
        <p:nvSpPr>
          <p:cNvPr id="19" name="Shape 17"/>
          <p:cNvSpPr/>
          <p:nvPr/>
        </p:nvSpPr>
        <p:spPr>
          <a:xfrm>
            <a:off x="8147304" y="2944368"/>
            <a:ext cx="3593592" cy="1371600"/>
          </a:xfrm>
          <a:prstGeom prst="roundRect">
            <a:avLst>
              <a:gd name="adj" fmla="val 6667"/>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20" name="Text 18"/>
          <p:cNvSpPr/>
          <p:nvPr/>
        </p:nvSpPr>
        <p:spPr>
          <a:xfrm>
            <a:off x="8311896" y="3054096"/>
            <a:ext cx="1097280" cy="548640"/>
          </a:xfrm>
          <a:prstGeom prst="rect">
            <a:avLst/>
          </a:prstGeom>
          <a:noFill/>
          <a:ln/>
        </p:spPr>
        <p:txBody>
          <a:bodyPr wrap="square" lIns="0" tIns="0" rIns="0" bIns="0" rtlCol="0" anchor="ctr"/>
          <a:lstStyle/>
          <a:p>
            <a:pPr indent="0" marL="0">
              <a:buNone/>
            </a:pPr>
            <a:r>
              <a:rPr lang="en-US" sz="2600" b="1" dirty="0">
                <a:solidFill>
                  <a:srgbClr val="D7E4FA"/>
                </a:solidFill>
                <a:latin typeface="Cambria" pitchFamily="34" charset="0"/>
                <a:ea typeface="Cambria" pitchFamily="34" charset="-122"/>
                <a:cs typeface="Cambria" pitchFamily="34" charset="-120"/>
              </a:rPr>
              <a:t>06</a:t>
            </a:r>
            <a:endParaRPr lang="en-US" sz="2600" dirty="0"/>
          </a:p>
        </p:txBody>
      </p:sp>
      <p:sp>
        <p:nvSpPr>
          <p:cNvPr id="21" name="Text 19"/>
          <p:cNvSpPr/>
          <p:nvPr/>
        </p:nvSpPr>
        <p:spPr>
          <a:xfrm>
            <a:off x="8348472" y="3566160"/>
            <a:ext cx="3182112" cy="658368"/>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Maintain audit logs for all user activities</a:t>
            </a:r>
            <a:endParaRPr lang="en-US" sz="1250" dirty="0"/>
          </a:p>
        </p:txBody>
      </p:sp>
      <p:sp>
        <p:nvSpPr>
          <p:cNvPr id="22" name="Shape 20"/>
          <p:cNvSpPr/>
          <p:nvPr/>
        </p:nvSpPr>
        <p:spPr>
          <a:xfrm>
            <a:off x="594360" y="4517136"/>
            <a:ext cx="3593592" cy="1371600"/>
          </a:xfrm>
          <a:prstGeom prst="roundRect">
            <a:avLst>
              <a:gd name="adj" fmla="val 6667"/>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23" name="Text 21"/>
          <p:cNvSpPr/>
          <p:nvPr/>
        </p:nvSpPr>
        <p:spPr>
          <a:xfrm>
            <a:off x="758952" y="4626864"/>
            <a:ext cx="1097280" cy="548640"/>
          </a:xfrm>
          <a:prstGeom prst="rect">
            <a:avLst/>
          </a:prstGeom>
          <a:noFill/>
          <a:ln/>
        </p:spPr>
        <p:txBody>
          <a:bodyPr wrap="square" lIns="0" tIns="0" rIns="0" bIns="0" rtlCol="0" anchor="ctr"/>
          <a:lstStyle/>
          <a:p>
            <a:pPr indent="0" marL="0">
              <a:buNone/>
            </a:pPr>
            <a:r>
              <a:rPr lang="en-US" sz="2600" b="1" dirty="0">
                <a:solidFill>
                  <a:srgbClr val="D7E4FA"/>
                </a:solidFill>
                <a:latin typeface="Cambria" pitchFamily="34" charset="0"/>
                <a:ea typeface="Cambria" pitchFamily="34" charset="-122"/>
                <a:cs typeface="Cambria" pitchFamily="34" charset="-120"/>
              </a:rPr>
              <a:t>07</a:t>
            </a:r>
            <a:endParaRPr lang="en-US" sz="2600" dirty="0"/>
          </a:p>
        </p:txBody>
      </p:sp>
      <p:sp>
        <p:nvSpPr>
          <p:cNvPr id="24" name="Text 22"/>
          <p:cNvSpPr/>
          <p:nvPr/>
        </p:nvSpPr>
        <p:spPr>
          <a:xfrm>
            <a:off x="795528" y="5138928"/>
            <a:ext cx="3182112" cy="658368"/>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Deploy the application via Azure App Service</a:t>
            </a:r>
            <a:endParaRPr lang="en-US" sz="1250" dirty="0"/>
          </a:p>
        </p:txBody>
      </p:sp>
      <p:sp>
        <p:nvSpPr>
          <p:cNvPr id="25" name="Shape 23"/>
          <p:cNvSpPr/>
          <p:nvPr/>
        </p:nvSpPr>
        <p:spPr>
          <a:xfrm>
            <a:off x="4370832" y="4517136"/>
            <a:ext cx="3593592" cy="1371600"/>
          </a:xfrm>
          <a:prstGeom prst="roundRect">
            <a:avLst>
              <a:gd name="adj" fmla="val 6667"/>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26" name="Text 24"/>
          <p:cNvSpPr/>
          <p:nvPr/>
        </p:nvSpPr>
        <p:spPr>
          <a:xfrm>
            <a:off x="4535424" y="4626864"/>
            <a:ext cx="1097280" cy="548640"/>
          </a:xfrm>
          <a:prstGeom prst="rect">
            <a:avLst/>
          </a:prstGeom>
          <a:noFill/>
          <a:ln/>
        </p:spPr>
        <p:txBody>
          <a:bodyPr wrap="square" lIns="0" tIns="0" rIns="0" bIns="0" rtlCol="0" anchor="ctr"/>
          <a:lstStyle/>
          <a:p>
            <a:pPr indent="0" marL="0">
              <a:buNone/>
            </a:pPr>
            <a:r>
              <a:rPr lang="en-US" sz="2600" b="1" dirty="0">
                <a:solidFill>
                  <a:srgbClr val="D7E4FA"/>
                </a:solidFill>
                <a:latin typeface="Cambria" pitchFamily="34" charset="0"/>
                <a:ea typeface="Cambria" pitchFamily="34" charset="-122"/>
                <a:cs typeface="Cambria" pitchFamily="34" charset="-120"/>
              </a:rPr>
              <a:t>08</a:t>
            </a:r>
            <a:endParaRPr lang="en-US" sz="2600" dirty="0"/>
          </a:p>
        </p:txBody>
      </p:sp>
      <p:sp>
        <p:nvSpPr>
          <p:cNvPr id="27" name="Text 25"/>
          <p:cNvSpPr/>
          <p:nvPr/>
        </p:nvSpPr>
        <p:spPr>
          <a:xfrm>
            <a:off x="4572000" y="5138928"/>
            <a:ext cx="3182112" cy="658368"/>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Automate deployment using GitHub Actions</a:t>
            </a:r>
            <a:endParaRPr lang="en-US" sz="1250" dirty="0"/>
          </a:p>
        </p:txBody>
      </p:sp>
      <p:sp>
        <p:nvSpPr>
          <p:cNvPr id="28" name="Shape 26"/>
          <p:cNvSpPr/>
          <p:nvPr/>
        </p:nvSpPr>
        <p:spPr>
          <a:xfrm>
            <a:off x="8147304" y="4517136"/>
            <a:ext cx="3593592" cy="1371600"/>
          </a:xfrm>
          <a:prstGeom prst="roundRect">
            <a:avLst>
              <a:gd name="adj" fmla="val 6667"/>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29" name="Text 27"/>
          <p:cNvSpPr/>
          <p:nvPr/>
        </p:nvSpPr>
        <p:spPr>
          <a:xfrm>
            <a:off x="8311896" y="4626864"/>
            <a:ext cx="1097280" cy="548640"/>
          </a:xfrm>
          <a:prstGeom prst="rect">
            <a:avLst/>
          </a:prstGeom>
          <a:noFill/>
          <a:ln/>
        </p:spPr>
        <p:txBody>
          <a:bodyPr wrap="square" lIns="0" tIns="0" rIns="0" bIns="0" rtlCol="0" anchor="ctr"/>
          <a:lstStyle/>
          <a:p>
            <a:pPr indent="0" marL="0">
              <a:buNone/>
            </a:pPr>
            <a:r>
              <a:rPr lang="en-US" sz="2600" b="1" dirty="0">
                <a:solidFill>
                  <a:srgbClr val="D7E4FA"/>
                </a:solidFill>
                <a:latin typeface="Cambria" pitchFamily="34" charset="0"/>
                <a:ea typeface="Cambria" pitchFamily="34" charset="-122"/>
                <a:cs typeface="Cambria" pitchFamily="34" charset="-120"/>
              </a:rPr>
              <a:t>09</a:t>
            </a:r>
            <a:endParaRPr lang="en-US" sz="2600" dirty="0"/>
          </a:p>
        </p:txBody>
      </p:sp>
      <p:sp>
        <p:nvSpPr>
          <p:cNvPr id="30" name="Text 28"/>
          <p:cNvSpPr/>
          <p:nvPr/>
        </p:nvSpPr>
        <p:spPr>
          <a:xfrm>
            <a:off x="8348472" y="5138928"/>
            <a:ext cx="3182112" cy="658368"/>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Provide centralized access from any device</a:t>
            </a:r>
            <a:endParaRPr lang="en-US" sz="1250" dirty="0"/>
          </a:p>
        </p:txBody>
      </p:sp>
      <p:sp>
        <p:nvSpPr>
          <p:cNvPr id="31" name="Text 29"/>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Technology Stack</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WHAT IT'S BUILT WITH</a:t>
            </a:r>
            <a:endParaRPr lang="en-US" sz="1100" dirty="0"/>
          </a:p>
        </p:txBody>
      </p:sp>
      <p:sp>
        <p:nvSpPr>
          <p:cNvPr id="4" name="Shape 2"/>
          <p:cNvSpPr/>
          <p:nvPr/>
        </p:nvSpPr>
        <p:spPr>
          <a:xfrm>
            <a:off x="594360" y="1371600"/>
            <a:ext cx="3593592" cy="1371600"/>
          </a:xfrm>
          <a:prstGeom prst="roundRect">
            <a:avLst>
              <a:gd name="adj" fmla="val 6667"/>
            </a:avLst>
          </a:prstGeom>
          <a:solidFill>
            <a:srgbClr val="142352"/>
          </a:solidFill>
          <a:ln/>
        </p:spPr>
      </p:sp>
      <p:sp>
        <p:nvSpPr>
          <p:cNvPr id="5" name="Shape 3"/>
          <p:cNvSpPr/>
          <p:nvPr/>
        </p:nvSpPr>
        <p:spPr>
          <a:xfrm>
            <a:off x="813816" y="1572768"/>
            <a:ext cx="457200" cy="457200"/>
          </a:xfrm>
          <a:prstGeom prst="ellipse">
            <a:avLst/>
          </a:prstGeom>
          <a:solidFill>
            <a:srgbClr val="1B2C63"/>
          </a:solidFill>
          <a:ln/>
        </p:spPr>
      </p:sp>
      <p:sp>
        <p:nvSpPr>
          <p:cNvPr id="6" name="Text 4"/>
          <p:cNvSpPr/>
          <p:nvPr/>
        </p:nvSpPr>
        <p:spPr>
          <a:xfrm>
            <a:off x="813816" y="1572768"/>
            <a:ext cx="457200" cy="457200"/>
          </a:xfrm>
          <a:prstGeom prst="rect">
            <a:avLst/>
          </a:prstGeom>
          <a:noFill/>
          <a:ln/>
        </p:spPr>
        <p:txBody>
          <a:bodyPr wrap="square" lIns="0" tIns="0" rIns="0" bIns="0" rtlCol="0" anchor="ctr"/>
          <a:lstStyle/>
          <a:p>
            <a:pPr algn="ctr" indent="0" marL="0">
              <a:buNone/>
            </a:pPr>
            <a:r>
              <a:rPr lang="en-US" sz="1300" b="1" dirty="0">
                <a:solidFill>
                  <a:srgbClr val="2EA0F5"/>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850392" y="2139696"/>
            <a:ext cx="3136392" cy="274320"/>
          </a:xfrm>
          <a:prstGeom prst="rect">
            <a:avLst/>
          </a:prstGeom>
          <a:noFill/>
          <a:ln/>
        </p:spPr>
        <p:txBody>
          <a:bodyPr wrap="square" lIns="0" tIns="0" rIns="0" bIns="0" rtlCol="0" anchor="ctr"/>
          <a:lstStyle/>
          <a:p>
            <a:pPr indent="0" marL="0">
              <a:buNone/>
            </a:pPr>
            <a:r>
              <a:rPr lang="en-US" sz="1000" b="1" spc="100" kern="0" dirty="0">
                <a:solidFill>
                  <a:srgbClr val="8FA3D9"/>
                </a:solidFill>
                <a:latin typeface="Calibri" pitchFamily="34" charset="0"/>
                <a:ea typeface="Calibri" pitchFamily="34" charset="-122"/>
                <a:cs typeface="Calibri" pitchFamily="34" charset="-120"/>
              </a:rPr>
              <a:t>LANGUAGE</a:t>
            </a:r>
            <a:endParaRPr lang="en-US" sz="1000" dirty="0"/>
          </a:p>
        </p:txBody>
      </p:sp>
      <p:sp>
        <p:nvSpPr>
          <p:cNvPr id="8" name="Text 6"/>
          <p:cNvSpPr/>
          <p:nvPr/>
        </p:nvSpPr>
        <p:spPr>
          <a:xfrm>
            <a:off x="850392" y="2395728"/>
            <a:ext cx="3136392" cy="3200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Python</a:t>
            </a:r>
            <a:endParaRPr lang="en-US" sz="1500" dirty="0"/>
          </a:p>
        </p:txBody>
      </p:sp>
      <p:sp>
        <p:nvSpPr>
          <p:cNvPr id="9" name="Shape 7"/>
          <p:cNvSpPr/>
          <p:nvPr/>
        </p:nvSpPr>
        <p:spPr>
          <a:xfrm>
            <a:off x="4370832" y="1371600"/>
            <a:ext cx="3593592" cy="1371600"/>
          </a:xfrm>
          <a:prstGeom prst="roundRect">
            <a:avLst>
              <a:gd name="adj" fmla="val 6667"/>
            </a:avLst>
          </a:prstGeom>
          <a:solidFill>
            <a:srgbClr val="142352"/>
          </a:solidFill>
          <a:ln/>
        </p:spPr>
      </p:sp>
      <p:sp>
        <p:nvSpPr>
          <p:cNvPr id="10" name="Shape 8"/>
          <p:cNvSpPr/>
          <p:nvPr/>
        </p:nvSpPr>
        <p:spPr>
          <a:xfrm>
            <a:off x="4590288" y="1572768"/>
            <a:ext cx="457200" cy="457200"/>
          </a:xfrm>
          <a:prstGeom prst="ellipse">
            <a:avLst/>
          </a:prstGeom>
          <a:solidFill>
            <a:srgbClr val="1B2C63"/>
          </a:solidFill>
          <a:ln/>
        </p:spPr>
      </p:sp>
      <p:sp>
        <p:nvSpPr>
          <p:cNvPr id="11" name="Text 9"/>
          <p:cNvSpPr/>
          <p:nvPr/>
        </p:nvSpPr>
        <p:spPr>
          <a:xfrm>
            <a:off x="4590288" y="1572768"/>
            <a:ext cx="457200" cy="457200"/>
          </a:xfrm>
          <a:prstGeom prst="rect">
            <a:avLst/>
          </a:prstGeom>
          <a:noFill/>
          <a:ln/>
        </p:spPr>
        <p:txBody>
          <a:bodyPr wrap="square" lIns="0" tIns="0" rIns="0" bIns="0" rtlCol="0" anchor="ctr"/>
          <a:lstStyle/>
          <a:p>
            <a:pPr algn="ctr" indent="0" marL="0">
              <a:buNone/>
            </a:pPr>
            <a:r>
              <a:rPr lang="en-US" sz="1300" b="1" dirty="0">
                <a:solidFill>
                  <a:srgbClr val="5CC8E6"/>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4626864" y="2139696"/>
            <a:ext cx="3136392" cy="274320"/>
          </a:xfrm>
          <a:prstGeom prst="rect">
            <a:avLst/>
          </a:prstGeom>
          <a:noFill/>
          <a:ln/>
        </p:spPr>
        <p:txBody>
          <a:bodyPr wrap="square" lIns="0" tIns="0" rIns="0" bIns="0" rtlCol="0" anchor="ctr"/>
          <a:lstStyle/>
          <a:p>
            <a:pPr indent="0" marL="0">
              <a:buNone/>
            </a:pPr>
            <a:r>
              <a:rPr lang="en-US" sz="1000" b="1" spc="100" kern="0" dirty="0">
                <a:solidFill>
                  <a:srgbClr val="8FA3D9"/>
                </a:solidFill>
                <a:latin typeface="Calibri" pitchFamily="34" charset="0"/>
                <a:ea typeface="Calibri" pitchFamily="34" charset="-122"/>
                <a:cs typeface="Calibri" pitchFamily="34" charset="-120"/>
              </a:rPr>
              <a:t>BACKEND FRAMEWORK</a:t>
            </a:r>
            <a:endParaRPr lang="en-US" sz="1000" dirty="0"/>
          </a:p>
        </p:txBody>
      </p:sp>
      <p:sp>
        <p:nvSpPr>
          <p:cNvPr id="13" name="Text 11"/>
          <p:cNvSpPr/>
          <p:nvPr/>
        </p:nvSpPr>
        <p:spPr>
          <a:xfrm>
            <a:off x="4626864" y="2395728"/>
            <a:ext cx="3136392" cy="3200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Flask</a:t>
            </a:r>
            <a:endParaRPr lang="en-US" sz="1500" dirty="0"/>
          </a:p>
        </p:txBody>
      </p:sp>
      <p:sp>
        <p:nvSpPr>
          <p:cNvPr id="14" name="Shape 12"/>
          <p:cNvSpPr/>
          <p:nvPr/>
        </p:nvSpPr>
        <p:spPr>
          <a:xfrm>
            <a:off x="8147304" y="1371600"/>
            <a:ext cx="3593592" cy="1371600"/>
          </a:xfrm>
          <a:prstGeom prst="roundRect">
            <a:avLst>
              <a:gd name="adj" fmla="val 6667"/>
            </a:avLst>
          </a:prstGeom>
          <a:solidFill>
            <a:srgbClr val="142352"/>
          </a:solidFill>
          <a:ln/>
        </p:spPr>
      </p:sp>
      <p:sp>
        <p:nvSpPr>
          <p:cNvPr id="15" name="Shape 13"/>
          <p:cNvSpPr/>
          <p:nvPr/>
        </p:nvSpPr>
        <p:spPr>
          <a:xfrm>
            <a:off x="8366760" y="1572768"/>
            <a:ext cx="457200" cy="457200"/>
          </a:xfrm>
          <a:prstGeom prst="ellipse">
            <a:avLst/>
          </a:prstGeom>
          <a:solidFill>
            <a:srgbClr val="1B2C63"/>
          </a:solidFill>
          <a:ln/>
        </p:spPr>
      </p:sp>
      <p:sp>
        <p:nvSpPr>
          <p:cNvPr id="16" name="Text 14"/>
          <p:cNvSpPr/>
          <p:nvPr/>
        </p:nvSpPr>
        <p:spPr>
          <a:xfrm>
            <a:off x="8366760" y="1572768"/>
            <a:ext cx="457200" cy="457200"/>
          </a:xfrm>
          <a:prstGeom prst="rect">
            <a:avLst/>
          </a:prstGeom>
          <a:noFill/>
          <a:ln/>
        </p:spPr>
        <p:txBody>
          <a:bodyPr wrap="square" lIns="0" tIns="0" rIns="0" bIns="0" rtlCol="0" anchor="ctr"/>
          <a:lstStyle/>
          <a:p>
            <a:pPr algn="ctr" indent="0" marL="0">
              <a:buNone/>
            </a:pPr>
            <a:r>
              <a:rPr lang="en-US" sz="1300" b="1" dirty="0">
                <a:solidFill>
                  <a:srgbClr val="6C63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8403336" y="2139696"/>
            <a:ext cx="3136392" cy="274320"/>
          </a:xfrm>
          <a:prstGeom prst="rect">
            <a:avLst/>
          </a:prstGeom>
          <a:noFill/>
          <a:ln/>
        </p:spPr>
        <p:txBody>
          <a:bodyPr wrap="square" lIns="0" tIns="0" rIns="0" bIns="0" rtlCol="0" anchor="ctr"/>
          <a:lstStyle/>
          <a:p>
            <a:pPr indent="0" marL="0">
              <a:buNone/>
            </a:pPr>
            <a:r>
              <a:rPr lang="en-US" sz="1000" b="1" spc="100" kern="0" dirty="0">
                <a:solidFill>
                  <a:srgbClr val="8FA3D9"/>
                </a:solidFill>
                <a:latin typeface="Calibri" pitchFamily="34" charset="0"/>
                <a:ea typeface="Calibri" pitchFamily="34" charset="-122"/>
                <a:cs typeface="Calibri" pitchFamily="34" charset="-120"/>
              </a:rPr>
              <a:t>ORM</a:t>
            </a:r>
            <a:endParaRPr lang="en-US" sz="1000" dirty="0"/>
          </a:p>
        </p:txBody>
      </p:sp>
      <p:sp>
        <p:nvSpPr>
          <p:cNvPr id="18" name="Text 16"/>
          <p:cNvSpPr/>
          <p:nvPr/>
        </p:nvSpPr>
        <p:spPr>
          <a:xfrm>
            <a:off x="8403336" y="2395728"/>
            <a:ext cx="3136392" cy="3200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SQLAlchemy</a:t>
            </a:r>
            <a:endParaRPr lang="en-US" sz="1500" dirty="0"/>
          </a:p>
        </p:txBody>
      </p:sp>
      <p:sp>
        <p:nvSpPr>
          <p:cNvPr id="19" name="Shape 17"/>
          <p:cNvSpPr/>
          <p:nvPr/>
        </p:nvSpPr>
        <p:spPr>
          <a:xfrm>
            <a:off x="594360" y="2944368"/>
            <a:ext cx="3593592" cy="1371600"/>
          </a:xfrm>
          <a:prstGeom prst="roundRect">
            <a:avLst>
              <a:gd name="adj" fmla="val 6667"/>
            </a:avLst>
          </a:prstGeom>
          <a:solidFill>
            <a:srgbClr val="142352"/>
          </a:solidFill>
          <a:ln/>
        </p:spPr>
      </p:sp>
      <p:sp>
        <p:nvSpPr>
          <p:cNvPr id="20" name="Shape 18"/>
          <p:cNvSpPr/>
          <p:nvPr/>
        </p:nvSpPr>
        <p:spPr>
          <a:xfrm>
            <a:off x="813816" y="3145536"/>
            <a:ext cx="457200" cy="457200"/>
          </a:xfrm>
          <a:prstGeom prst="ellipse">
            <a:avLst/>
          </a:prstGeom>
          <a:solidFill>
            <a:srgbClr val="1B2C63"/>
          </a:solidFill>
          <a:ln/>
        </p:spPr>
      </p:sp>
      <p:sp>
        <p:nvSpPr>
          <p:cNvPr id="21" name="Text 19"/>
          <p:cNvSpPr/>
          <p:nvPr/>
        </p:nvSpPr>
        <p:spPr>
          <a:xfrm>
            <a:off x="813816" y="3145536"/>
            <a:ext cx="457200" cy="457200"/>
          </a:xfrm>
          <a:prstGeom prst="rect">
            <a:avLst/>
          </a:prstGeom>
          <a:noFill/>
          <a:ln/>
        </p:spPr>
        <p:txBody>
          <a:bodyPr wrap="square" lIns="0" tIns="0" rIns="0" bIns="0" rtlCol="0" anchor="ctr"/>
          <a:lstStyle/>
          <a:p>
            <a:pPr algn="ctr" indent="0" marL="0">
              <a:buNone/>
            </a:pPr>
            <a:r>
              <a:rPr lang="en-US" sz="1300" b="1" dirty="0">
                <a:solidFill>
                  <a:srgbClr val="2EA0F5"/>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850392" y="3712464"/>
            <a:ext cx="3136392" cy="274320"/>
          </a:xfrm>
          <a:prstGeom prst="rect">
            <a:avLst/>
          </a:prstGeom>
          <a:noFill/>
          <a:ln/>
        </p:spPr>
        <p:txBody>
          <a:bodyPr wrap="square" lIns="0" tIns="0" rIns="0" bIns="0" rtlCol="0" anchor="ctr"/>
          <a:lstStyle/>
          <a:p>
            <a:pPr indent="0" marL="0">
              <a:buNone/>
            </a:pPr>
            <a:r>
              <a:rPr lang="en-US" sz="1000" b="1" spc="100" kern="0" dirty="0">
                <a:solidFill>
                  <a:srgbClr val="8FA3D9"/>
                </a:solidFill>
                <a:latin typeface="Calibri" pitchFamily="34" charset="0"/>
                <a:ea typeface="Calibri" pitchFamily="34" charset="-122"/>
                <a:cs typeface="Calibri" pitchFamily="34" charset="-120"/>
              </a:rPr>
              <a:t>DATABASE</a:t>
            </a:r>
            <a:endParaRPr lang="en-US" sz="1000" dirty="0"/>
          </a:p>
        </p:txBody>
      </p:sp>
      <p:sp>
        <p:nvSpPr>
          <p:cNvPr id="23" name="Text 21"/>
          <p:cNvSpPr/>
          <p:nvPr/>
        </p:nvSpPr>
        <p:spPr>
          <a:xfrm>
            <a:off x="850392" y="3968496"/>
            <a:ext cx="3136392" cy="3200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Azure SQL Database</a:t>
            </a:r>
            <a:endParaRPr lang="en-US" sz="1500" dirty="0"/>
          </a:p>
        </p:txBody>
      </p:sp>
      <p:sp>
        <p:nvSpPr>
          <p:cNvPr id="24" name="Shape 22"/>
          <p:cNvSpPr/>
          <p:nvPr/>
        </p:nvSpPr>
        <p:spPr>
          <a:xfrm>
            <a:off x="4370832" y="2944368"/>
            <a:ext cx="3593592" cy="1371600"/>
          </a:xfrm>
          <a:prstGeom prst="roundRect">
            <a:avLst>
              <a:gd name="adj" fmla="val 6667"/>
            </a:avLst>
          </a:prstGeom>
          <a:solidFill>
            <a:srgbClr val="142352"/>
          </a:solidFill>
          <a:ln/>
        </p:spPr>
      </p:sp>
      <p:sp>
        <p:nvSpPr>
          <p:cNvPr id="25" name="Shape 23"/>
          <p:cNvSpPr/>
          <p:nvPr/>
        </p:nvSpPr>
        <p:spPr>
          <a:xfrm>
            <a:off x="4590288" y="3145536"/>
            <a:ext cx="457200" cy="457200"/>
          </a:xfrm>
          <a:prstGeom prst="ellipse">
            <a:avLst/>
          </a:prstGeom>
          <a:solidFill>
            <a:srgbClr val="1B2C63"/>
          </a:solidFill>
          <a:ln/>
        </p:spPr>
      </p:sp>
      <p:sp>
        <p:nvSpPr>
          <p:cNvPr id="26" name="Text 24"/>
          <p:cNvSpPr/>
          <p:nvPr/>
        </p:nvSpPr>
        <p:spPr>
          <a:xfrm>
            <a:off x="4590288" y="3145536"/>
            <a:ext cx="457200" cy="457200"/>
          </a:xfrm>
          <a:prstGeom prst="rect">
            <a:avLst/>
          </a:prstGeom>
          <a:noFill/>
          <a:ln/>
        </p:spPr>
        <p:txBody>
          <a:bodyPr wrap="square" lIns="0" tIns="0" rIns="0" bIns="0" rtlCol="0" anchor="ctr"/>
          <a:lstStyle/>
          <a:p>
            <a:pPr algn="ctr" indent="0" marL="0">
              <a:buNone/>
            </a:pPr>
            <a:r>
              <a:rPr lang="en-US" sz="1300" b="1" dirty="0">
                <a:solidFill>
                  <a:srgbClr val="5CC8E6"/>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4626864" y="3712464"/>
            <a:ext cx="3136392" cy="274320"/>
          </a:xfrm>
          <a:prstGeom prst="rect">
            <a:avLst/>
          </a:prstGeom>
          <a:noFill/>
          <a:ln/>
        </p:spPr>
        <p:txBody>
          <a:bodyPr wrap="square" lIns="0" tIns="0" rIns="0" bIns="0" rtlCol="0" anchor="ctr"/>
          <a:lstStyle/>
          <a:p>
            <a:pPr indent="0" marL="0">
              <a:buNone/>
            </a:pPr>
            <a:r>
              <a:rPr lang="en-US" sz="1000" b="1" spc="100" kern="0" dirty="0">
                <a:solidFill>
                  <a:srgbClr val="8FA3D9"/>
                </a:solidFill>
                <a:latin typeface="Calibri" pitchFamily="34" charset="0"/>
                <a:ea typeface="Calibri" pitchFamily="34" charset="-122"/>
                <a:cs typeface="Calibri" pitchFamily="34" charset="-120"/>
              </a:rPr>
              <a:t>CLOUD STORAGE</a:t>
            </a:r>
            <a:endParaRPr lang="en-US" sz="1000" dirty="0"/>
          </a:p>
        </p:txBody>
      </p:sp>
      <p:sp>
        <p:nvSpPr>
          <p:cNvPr id="28" name="Text 26"/>
          <p:cNvSpPr/>
          <p:nvPr/>
        </p:nvSpPr>
        <p:spPr>
          <a:xfrm>
            <a:off x="4626864" y="3968496"/>
            <a:ext cx="3136392" cy="3200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Azure Blob Storage</a:t>
            </a:r>
            <a:endParaRPr lang="en-US" sz="1500" dirty="0"/>
          </a:p>
        </p:txBody>
      </p:sp>
      <p:sp>
        <p:nvSpPr>
          <p:cNvPr id="29" name="Shape 27"/>
          <p:cNvSpPr/>
          <p:nvPr/>
        </p:nvSpPr>
        <p:spPr>
          <a:xfrm>
            <a:off x="8147304" y="2944368"/>
            <a:ext cx="3593592" cy="1371600"/>
          </a:xfrm>
          <a:prstGeom prst="roundRect">
            <a:avLst>
              <a:gd name="adj" fmla="val 6667"/>
            </a:avLst>
          </a:prstGeom>
          <a:solidFill>
            <a:srgbClr val="142352"/>
          </a:solidFill>
          <a:ln/>
        </p:spPr>
      </p:sp>
      <p:sp>
        <p:nvSpPr>
          <p:cNvPr id="30" name="Shape 28"/>
          <p:cNvSpPr/>
          <p:nvPr/>
        </p:nvSpPr>
        <p:spPr>
          <a:xfrm>
            <a:off x="8366760" y="3145536"/>
            <a:ext cx="457200" cy="457200"/>
          </a:xfrm>
          <a:prstGeom prst="ellipse">
            <a:avLst/>
          </a:prstGeom>
          <a:solidFill>
            <a:srgbClr val="1B2C63"/>
          </a:solidFill>
          <a:ln/>
        </p:spPr>
      </p:sp>
      <p:sp>
        <p:nvSpPr>
          <p:cNvPr id="31" name="Text 29"/>
          <p:cNvSpPr/>
          <p:nvPr/>
        </p:nvSpPr>
        <p:spPr>
          <a:xfrm>
            <a:off x="8366760" y="3145536"/>
            <a:ext cx="457200" cy="457200"/>
          </a:xfrm>
          <a:prstGeom prst="rect">
            <a:avLst/>
          </a:prstGeom>
          <a:noFill/>
          <a:ln/>
        </p:spPr>
        <p:txBody>
          <a:bodyPr wrap="square" lIns="0" tIns="0" rIns="0" bIns="0" rtlCol="0" anchor="ctr"/>
          <a:lstStyle/>
          <a:p>
            <a:pPr algn="ctr" indent="0" marL="0">
              <a:buNone/>
            </a:pPr>
            <a:r>
              <a:rPr lang="en-US" sz="1300" b="1" dirty="0">
                <a:solidFill>
                  <a:srgbClr val="6C63FF"/>
                </a:solidFill>
                <a:latin typeface="Calibri" pitchFamily="34" charset="0"/>
                <a:ea typeface="Calibri" pitchFamily="34" charset="-122"/>
                <a:cs typeface="Calibri" pitchFamily="34" charset="-120"/>
              </a:rPr>
              <a:t>●</a:t>
            </a:r>
            <a:endParaRPr lang="en-US" sz="1300" dirty="0"/>
          </a:p>
        </p:txBody>
      </p:sp>
      <p:sp>
        <p:nvSpPr>
          <p:cNvPr id="32" name="Text 30"/>
          <p:cNvSpPr/>
          <p:nvPr/>
        </p:nvSpPr>
        <p:spPr>
          <a:xfrm>
            <a:off x="8403336" y="3712464"/>
            <a:ext cx="3136392" cy="274320"/>
          </a:xfrm>
          <a:prstGeom prst="rect">
            <a:avLst/>
          </a:prstGeom>
          <a:noFill/>
          <a:ln/>
        </p:spPr>
        <p:txBody>
          <a:bodyPr wrap="square" lIns="0" tIns="0" rIns="0" bIns="0" rtlCol="0" anchor="ctr"/>
          <a:lstStyle/>
          <a:p>
            <a:pPr indent="0" marL="0">
              <a:buNone/>
            </a:pPr>
            <a:r>
              <a:rPr lang="en-US" sz="1000" b="1" spc="100" kern="0" dirty="0">
                <a:solidFill>
                  <a:srgbClr val="8FA3D9"/>
                </a:solidFill>
                <a:latin typeface="Calibri" pitchFamily="34" charset="0"/>
                <a:ea typeface="Calibri" pitchFamily="34" charset="-122"/>
                <a:cs typeface="Calibri" pitchFamily="34" charset="-120"/>
              </a:rPr>
              <a:t>AUTHENTICATION</a:t>
            </a:r>
            <a:endParaRPr lang="en-US" sz="1000" dirty="0"/>
          </a:p>
        </p:txBody>
      </p:sp>
      <p:sp>
        <p:nvSpPr>
          <p:cNvPr id="33" name="Text 31"/>
          <p:cNvSpPr/>
          <p:nvPr/>
        </p:nvSpPr>
        <p:spPr>
          <a:xfrm>
            <a:off x="8403336" y="3968496"/>
            <a:ext cx="3136392" cy="3200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Flask-Login, Flask-Bcrypt</a:t>
            </a:r>
            <a:endParaRPr lang="en-US" sz="1500" dirty="0"/>
          </a:p>
        </p:txBody>
      </p:sp>
      <p:sp>
        <p:nvSpPr>
          <p:cNvPr id="34" name="Shape 32"/>
          <p:cNvSpPr/>
          <p:nvPr/>
        </p:nvSpPr>
        <p:spPr>
          <a:xfrm>
            <a:off x="594360" y="4517136"/>
            <a:ext cx="3593592" cy="1371600"/>
          </a:xfrm>
          <a:prstGeom prst="roundRect">
            <a:avLst>
              <a:gd name="adj" fmla="val 6667"/>
            </a:avLst>
          </a:prstGeom>
          <a:solidFill>
            <a:srgbClr val="142352"/>
          </a:solidFill>
          <a:ln/>
        </p:spPr>
      </p:sp>
      <p:sp>
        <p:nvSpPr>
          <p:cNvPr id="35" name="Shape 33"/>
          <p:cNvSpPr/>
          <p:nvPr/>
        </p:nvSpPr>
        <p:spPr>
          <a:xfrm>
            <a:off x="813816" y="4718304"/>
            <a:ext cx="457200" cy="457200"/>
          </a:xfrm>
          <a:prstGeom prst="ellipse">
            <a:avLst/>
          </a:prstGeom>
          <a:solidFill>
            <a:srgbClr val="1B2C63"/>
          </a:solidFill>
          <a:ln/>
        </p:spPr>
      </p:sp>
      <p:sp>
        <p:nvSpPr>
          <p:cNvPr id="36" name="Text 34"/>
          <p:cNvSpPr/>
          <p:nvPr/>
        </p:nvSpPr>
        <p:spPr>
          <a:xfrm>
            <a:off x="813816" y="4718304"/>
            <a:ext cx="457200" cy="457200"/>
          </a:xfrm>
          <a:prstGeom prst="rect">
            <a:avLst/>
          </a:prstGeom>
          <a:noFill/>
          <a:ln/>
        </p:spPr>
        <p:txBody>
          <a:bodyPr wrap="square" lIns="0" tIns="0" rIns="0" bIns="0" rtlCol="0" anchor="ctr"/>
          <a:lstStyle/>
          <a:p>
            <a:pPr algn="ctr" indent="0" marL="0">
              <a:buNone/>
            </a:pPr>
            <a:r>
              <a:rPr lang="en-US" sz="1300" b="1" dirty="0">
                <a:solidFill>
                  <a:srgbClr val="2EA0F5"/>
                </a:solidFill>
                <a:latin typeface="Calibri" pitchFamily="34" charset="0"/>
                <a:ea typeface="Calibri" pitchFamily="34" charset="-122"/>
                <a:cs typeface="Calibri" pitchFamily="34" charset="-120"/>
              </a:rPr>
              <a:t>●</a:t>
            </a:r>
            <a:endParaRPr lang="en-US" sz="1300" dirty="0"/>
          </a:p>
        </p:txBody>
      </p:sp>
      <p:sp>
        <p:nvSpPr>
          <p:cNvPr id="37" name="Text 35"/>
          <p:cNvSpPr/>
          <p:nvPr/>
        </p:nvSpPr>
        <p:spPr>
          <a:xfrm>
            <a:off x="850392" y="5285232"/>
            <a:ext cx="3136392" cy="274320"/>
          </a:xfrm>
          <a:prstGeom prst="rect">
            <a:avLst/>
          </a:prstGeom>
          <a:noFill/>
          <a:ln/>
        </p:spPr>
        <p:txBody>
          <a:bodyPr wrap="square" lIns="0" tIns="0" rIns="0" bIns="0" rtlCol="0" anchor="ctr"/>
          <a:lstStyle/>
          <a:p>
            <a:pPr indent="0" marL="0">
              <a:buNone/>
            </a:pPr>
            <a:r>
              <a:rPr lang="en-US" sz="1000" b="1" spc="100" kern="0" dirty="0">
                <a:solidFill>
                  <a:srgbClr val="8FA3D9"/>
                </a:solidFill>
                <a:latin typeface="Calibri" pitchFamily="34" charset="0"/>
                <a:ea typeface="Calibri" pitchFamily="34" charset="-122"/>
                <a:cs typeface="Calibri" pitchFamily="34" charset="-120"/>
              </a:rPr>
              <a:t>MIGRATIONS</a:t>
            </a:r>
            <a:endParaRPr lang="en-US" sz="1000" dirty="0"/>
          </a:p>
        </p:txBody>
      </p:sp>
      <p:sp>
        <p:nvSpPr>
          <p:cNvPr id="38" name="Text 36"/>
          <p:cNvSpPr/>
          <p:nvPr/>
        </p:nvSpPr>
        <p:spPr>
          <a:xfrm>
            <a:off x="850392" y="5541264"/>
            <a:ext cx="3136392" cy="3200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Flask-Migrate, Alembic</a:t>
            </a:r>
            <a:endParaRPr lang="en-US" sz="1500" dirty="0"/>
          </a:p>
        </p:txBody>
      </p:sp>
      <p:sp>
        <p:nvSpPr>
          <p:cNvPr id="39" name="Shape 37"/>
          <p:cNvSpPr/>
          <p:nvPr/>
        </p:nvSpPr>
        <p:spPr>
          <a:xfrm>
            <a:off x="4370832" y="4517136"/>
            <a:ext cx="3593592" cy="1371600"/>
          </a:xfrm>
          <a:prstGeom prst="roundRect">
            <a:avLst>
              <a:gd name="adj" fmla="val 6667"/>
            </a:avLst>
          </a:prstGeom>
          <a:solidFill>
            <a:srgbClr val="142352"/>
          </a:solidFill>
          <a:ln/>
        </p:spPr>
      </p:sp>
      <p:sp>
        <p:nvSpPr>
          <p:cNvPr id="40" name="Shape 38"/>
          <p:cNvSpPr/>
          <p:nvPr/>
        </p:nvSpPr>
        <p:spPr>
          <a:xfrm>
            <a:off x="4590288" y="4718304"/>
            <a:ext cx="457200" cy="457200"/>
          </a:xfrm>
          <a:prstGeom prst="ellipse">
            <a:avLst/>
          </a:prstGeom>
          <a:solidFill>
            <a:srgbClr val="1B2C63"/>
          </a:solidFill>
          <a:ln/>
        </p:spPr>
      </p:sp>
      <p:sp>
        <p:nvSpPr>
          <p:cNvPr id="41" name="Text 39"/>
          <p:cNvSpPr/>
          <p:nvPr/>
        </p:nvSpPr>
        <p:spPr>
          <a:xfrm>
            <a:off x="4590288" y="4718304"/>
            <a:ext cx="457200" cy="457200"/>
          </a:xfrm>
          <a:prstGeom prst="rect">
            <a:avLst/>
          </a:prstGeom>
          <a:noFill/>
          <a:ln/>
        </p:spPr>
        <p:txBody>
          <a:bodyPr wrap="square" lIns="0" tIns="0" rIns="0" bIns="0" rtlCol="0" anchor="ctr"/>
          <a:lstStyle/>
          <a:p>
            <a:pPr algn="ctr" indent="0" marL="0">
              <a:buNone/>
            </a:pPr>
            <a:r>
              <a:rPr lang="en-US" sz="1300" b="1" dirty="0">
                <a:solidFill>
                  <a:srgbClr val="5CC8E6"/>
                </a:solidFill>
                <a:latin typeface="Calibri" pitchFamily="34" charset="0"/>
                <a:ea typeface="Calibri" pitchFamily="34" charset="-122"/>
                <a:cs typeface="Calibri" pitchFamily="34" charset="-120"/>
              </a:rPr>
              <a:t>●</a:t>
            </a:r>
            <a:endParaRPr lang="en-US" sz="1300" dirty="0"/>
          </a:p>
        </p:txBody>
      </p:sp>
      <p:sp>
        <p:nvSpPr>
          <p:cNvPr id="42" name="Text 40"/>
          <p:cNvSpPr/>
          <p:nvPr/>
        </p:nvSpPr>
        <p:spPr>
          <a:xfrm>
            <a:off x="4626864" y="5285232"/>
            <a:ext cx="3136392" cy="274320"/>
          </a:xfrm>
          <a:prstGeom prst="rect">
            <a:avLst/>
          </a:prstGeom>
          <a:noFill/>
          <a:ln/>
        </p:spPr>
        <p:txBody>
          <a:bodyPr wrap="square" lIns="0" tIns="0" rIns="0" bIns="0" rtlCol="0" anchor="ctr"/>
          <a:lstStyle/>
          <a:p>
            <a:pPr indent="0" marL="0">
              <a:buNone/>
            </a:pPr>
            <a:r>
              <a:rPr lang="en-US" sz="1000" b="1" spc="100" kern="0" dirty="0">
                <a:solidFill>
                  <a:srgbClr val="8FA3D9"/>
                </a:solidFill>
                <a:latin typeface="Calibri" pitchFamily="34" charset="0"/>
                <a:ea typeface="Calibri" pitchFamily="34" charset="-122"/>
                <a:cs typeface="Calibri" pitchFamily="34" charset="-120"/>
              </a:rPr>
              <a:t>DEPLOYMENT</a:t>
            </a:r>
            <a:endParaRPr lang="en-US" sz="1000" dirty="0"/>
          </a:p>
        </p:txBody>
      </p:sp>
      <p:sp>
        <p:nvSpPr>
          <p:cNvPr id="43" name="Text 41"/>
          <p:cNvSpPr/>
          <p:nvPr/>
        </p:nvSpPr>
        <p:spPr>
          <a:xfrm>
            <a:off x="4626864" y="5541264"/>
            <a:ext cx="3136392" cy="3200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Azure App Service</a:t>
            </a:r>
            <a:endParaRPr lang="en-US" sz="1500" dirty="0"/>
          </a:p>
        </p:txBody>
      </p:sp>
      <p:sp>
        <p:nvSpPr>
          <p:cNvPr id="44" name="Shape 42"/>
          <p:cNvSpPr/>
          <p:nvPr/>
        </p:nvSpPr>
        <p:spPr>
          <a:xfrm>
            <a:off x="8147304" y="4517136"/>
            <a:ext cx="3593592" cy="1371600"/>
          </a:xfrm>
          <a:prstGeom prst="roundRect">
            <a:avLst>
              <a:gd name="adj" fmla="val 6667"/>
            </a:avLst>
          </a:prstGeom>
          <a:solidFill>
            <a:srgbClr val="142352"/>
          </a:solidFill>
          <a:ln/>
        </p:spPr>
      </p:sp>
      <p:sp>
        <p:nvSpPr>
          <p:cNvPr id="45" name="Shape 43"/>
          <p:cNvSpPr/>
          <p:nvPr/>
        </p:nvSpPr>
        <p:spPr>
          <a:xfrm>
            <a:off x="8366760" y="4718304"/>
            <a:ext cx="457200" cy="457200"/>
          </a:xfrm>
          <a:prstGeom prst="ellipse">
            <a:avLst/>
          </a:prstGeom>
          <a:solidFill>
            <a:srgbClr val="1B2C63"/>
          </a:solidFill>
          <a:ln/>
        </p:spPr>
      </p:sp>
      <p:sp>
        <p:nvSpPr>
          <p:cNvPr id="46" name="Text 44"/>
          <p:cNvSpPr/>
          <p:nvPr/>
        </p:nvSpPr>
        <p:spPr>
          <a:xfrm>
            <a:off x="8366760" y="4718304"/>
            <a:ext cx="457200" cy="457200"/>
          </a:xfrm>
          <a:prstGeom prst="rect">
            <a:avLst/>
          </a:prstGeom>
          <a:noFill/>
          <a:ln/>
        </p:spPr>
        <p:txBody>
          <a:bodyPr wrap="square" lIns="0" tIns="0" rIns="0" bIns="0" rtlCol="0" anchor="ctr"/>
          <a:lstStyle/>
          <a:p>
            <a:pPr algn="ctr" indent="0" marL="0">
              <a:buNone/>
            </a:pPr>
            <a:r>
              <a:rPr lang="en-US" sz="1300" b="1" dirty="0">
                <a:solidFill>
                  <a:srgbClr val="6C63FF"/>
                </a:solidFill>
                <a:latin typeface="Calibri" pitchFamily="34" charset="0"/>
                <a:ea typeface="Calibri" pitchFamily="34" charset="-122"/>
                <a:cs typeface="Calibri" pitchFamily="34" charset="-120"/>
              </a:rPr>
              <a:t>●</a:t>
            </a:r>
            <a:endParaRPr lang="en-US" sz="1300" dirty="0"/>
          </a:p>
        </p:txBody>
      </p:sp>
      <p:sp>
        <p:nvSpPr>
          <p:cNvPr id="47" name="Text 45"/>
          <p:cNvSpPr/>
          <p:nvPr/>
        </p:nvSpPr>
        <p:spPr>
          <a:xfrm>
            <a:off x="8403336" y="5285232"/>
            <a:ext cx="3136392" cy="274320"/>
          </a:xfrm>
          <a:prstGeom prst="rect">
            <a:avLst/>
          </a:prstGeom>
          <a:noFill/>
          <a:ln/>
        </p:spPr>
        <p:txBody>
          <a:bodyPr wrap="square" lIns="0" tIns="0" rIns="0" bIns="0" rtlCol="0" anchor="ctr"/>
          <a:lstStyle/>
          <a:p>
            <a:pPr indent="0" marL="0">
              <a:buNone/>
            </a:pPr>
            <a:r>
              <a:rPr lang="en-US" sz="1000" b="1" spc="100" kern="0" dirty="0">
                <a:solidFill>
                  <a:srgbClr val="8FA3D9"/>
                </a:solidFill>
                <a:latin typeface="Calibri" pitchFamily="34" charset="0"/>
                <a:ea typeface="Calibri" pitchFamily="34" charset="-122"/>
                <a:cs typeface="Calibri" pitchFamily="34" charset="-120"/>
              </a:rPr>
              <a:t>VERSION CONTROL</a:t>
            </a:r>
            <a:endParaRPr lang="en-US" sz="1000" dirty="0"/>
          </a:p>
        </p:txBody>
      </p:sp>
      <p:sp>
        <p:nvSpPr>
          <p:cNvPr id="48" name="Text 46"/>
          <p:cNvSpPr/>
          <p:nvPr/>
        </p:nvSpPr>
        <p:spPr>
          <a:xfrm>
            <a:off x="8403336" y="5541264"/>
            <a:ext cx="3136392" cy="32004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mbria" pitchFamily="34" charset="0"/>
                <a:ea typeface="Cambria" pitchFamily="34" charset="-122"/>
                <a:cs typeface="Cambria" pitchFamily="34" charset="-120"/>
              </a:rPr>
              <a:t>Git, GitHub, GitHub Actions</a:t>
            </a:r>
            <a:endParaRPr lang="en-US" sz="1500" dirty="0"/>
          </a:p>
        </p:txBody>
      </p:sp>
      <p:sp>
        <p:nvSpPr>
          <p:cNvPr id="49" name="Text 47"/>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Microsoft Azure Services</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CLOUD INFRASTRUCTURE</a:t>
            </a:r>
            <a:endParaRPr lang="en-US" sz="1100" dirty="0"/>
          </a:p>
        </p:txBody>
      </p:sp>
      <p:sp>
        <p:nvSpPr>
          <p:cNvPr id="4" name="Shape 2"/>
          <p:cNvSpPr/>
          <p:nvPr/>
        </p:nvSpPr>
        <p:spPr>
          <a:xfrm>
            <a:off x="594360" y="1371600"/>
            <a:ext cx="3593592" cy="2148840"/>
          </a:xfrm>
          <a:prstGeom prst="roundRect">
            <a:avLst>
              <a:gd name="adj" fmla="val 4255"/>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5" name="Shape 3"/>
          <p:cNvSpPr/>
          <p:nvPr/>
        </p:nvSpPr>
        <p:spPr>
          <a:xfrm>
            <a:off x="832104" y="1609344"/>
            <a:ext cx="566928" cy="566928"/>
          </a:xfrm>
          <a:prstGeom prst="ellipse">
            <a:avLst/>
          </a:prstGeom>
          <a:solidFill>
            <a:srgbClr val="E9F2FE"/>
          </a:solidFill>
          <a:ln/>
        </p:spPr>
      </p:sp>
      <p:sp>
        <p:nvSpPr>
          <p:cNvPr id="6" name="Text 4"/>
          <p:cNvSpPr/>
          <p:nvPr/>
        </p:nvSpPr>
        <p:spPr>
          <a:xfrm>
            <a:off x="832104" y="1609344"/>
            <a:ext cx="566928" cy="566928"/>
          </a:xfrm>
          <a:prstGeom prst="rect">
            <a:avLst/>
          </a:prstGeom>
          <a:noFill/>
          <a:ln/>
        </p:spPr>
        <p:txBody>
          <a:bodyPr wrap="square" lIns="0" tIns="0" rIns="0" bIns="0" rtlCol="0" anchor="ctr"/>
          <a:lstStyle/>
          <a:p>
            <a:pPr algn="ctr" indent="0" marL="0">
              <a:buNone/>
            </a:pPr>
            <a:r>
              <a:rPr lang="en-US" sz="1612" b="1" dirty="0">
                <a:solidFill>
                  <a:srgbClr val="2EA0F5"/>
                </a:solidFill>
                <a:latin typeface="Calibri" pitchFamily="34" charset="0"/>
                <a:ea typeface="Calibri" pitchFamily="34" charset="-122"/>
                <a:cs typeface="Calibri" pitchFamily="34" charset="-120"/>
              </a:rPr>
              <a:t>⚙</a:t>
            </a:r>
            <a:endParaRPr lang="en-US" sz="1612" dirty="0"/>
          </a:p>
        </p:txBody>
      </p:sp>
      <p:sp>
        <p:nvSpPr>
          <p:cNvPr id="7" name="Text 5"/>
          <p:cNvSpPr/>
          <p:nvPr/>
        </p:nvSpPr>
        <p:spPr>
          <a:xfrm>
            <a:off x="813816" y="2304288"/>
            <a:ext cx="3136392" cy="365760"/>
          </a:xfrm>
          <a:prstGeom prst="rect">
            <a:avLst/>
          </a:prstGeom>
          <a:noFill/>
          <a:ln/>
        </p:spPr>
        <p:txBody>
          <a:bodyPr wrap="square" lIns="0" tIns="0" rIns="0" bIns="0" rtlCol="0" anchor="ctr"/>
          <a:lstStyle/>
          <a:p>
            <a:pPr indent="0" marL="0">
              <a:buNone/>
            </a:pPr>
            <a:r>
              <a:rPr lang="en-US" sz="1500" b="1" dirty="0">
                <a:solidFill>
                  <a:srgbClr val="0B1533"/>
                </a:solidFill>
                <a:latin typeface="Cambria" pitchFamily="34" charset="0"/>
                <a:ea typeface="Cambria" pitchFamily="34" charset="-122"/>
                <a:cs typeface="Cambria" pitchFamily="34" charset="-120"/>
              </a:rPr>
              <a:t>Azure App Service</a:t>
            </a:r>
            <a:endParaRPr lang="en-US" sz="1500" dirty="0"/>
          </a:p>
        </p:txBody>
      </p:sp>
      <p:sp>
        <p:nvSpPr>
          <p:cNvPr id="8" name="Text 6"/>
          <p:cNvSpPr/>
          <p:nvPr/>
        </p:nvSpPr>
        <p:spPr>
          <a:xfrm>
            <a:off x="813816" y="2670048"/>
            <a:ext cx="3136392" cy="777240"/>
          </a:xfrm>
          <a:prstGeom prst="rect">
            <a:avLst/>
          </a:prstGeom>
          <a:noFill/>
          <a:ln/>
        </p:spPr>
        <p:txBody>
          <a:bodyPr wrap="square" lIns="0" tIns="0" rIns="0" bIns="0" rtlCol="0" anchor="ctr"/>
          <a:lstStyle/>
          <a:p>
            <a:pPr indent="0" marL="0">
              <a:lnSpc>
                <a:spcPct val="120000"/>
              </a:lnSpc>
              <a:buNone/>
            </a:pPr>
            <a:r>
              <a:rPr lang="en-US" sz="1150" dirty="0">
                <a:solidFill>
                  <a:srgbClr val="6B7690"/>
                </a:solidFill>
                <a:latin typeface="Calibri" pitchFamily="34" charset="0"/>
                <a:ea typeface="Calibri" pitchFamily="34" charset="-122"/>
                <a:cs typeface="Calibri" pitchFamily="34" charset="-120"/>
              </a:rPr>
              <a:t>Hosts and runs the Flask web application in the cloud</a:t>
            </a:r>
            <a:endParaRPr lang="en-US" sz="1150" dirty="0"/>
          </a:p>
        </p:txBody>
      </p:sp>
      <p:sp>
        <p:nvSpPr>
          <p:cNvPr id="9" name="Shape 7"/>
          <p:cNvSpPr/>
          <p:nvPr/>
        </p:nvSpPr>
        <p:spPr>
          <a:xfrm>
            <a:off x="4370832" y="1371600"/>
            <a:ext cx="3593592" cy="2148840"/>
          </a:xfrm>
          <a:prstGeom prst="roundRect">
            <a:avLst>
              <a:gd name="adj" fmla="val 4255"/>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10" name="Shape 8"/>
          <p:cNvSpPr/>
          <p:nvPr/>
        </p:nvSpPr>
        <p:spPr>
          <a:xfrm>
            <a:off x="4608576" y="1609344"/>
            <a:ext cx="566928" cy="566928"/>
          </a:xfrm>
          <a:prstGeom prst="ellipse">
            <a:avLst/>
          </a:prstGeom>
          <a:solidFill>
            <a:srgbClr val="E9F2FE"/>
          </a:solidFill>
          <a:ln/>
        </p:spPr>
      </p:sp>
      <p:sp>
        <p:nvSpPr>
          <p:cNvPr id="11" name="Text 9"/>
          <p:cNvSpPr/>
          <p:nvPr/>
        </p:nvSpPr>
        <p:spPr>
          <a:xfrm>
            <a:off x="4608576" y="1609344"/>
            <a:ext cx="566928" cy="566928"/>
          </a:xfrm>
          <a:prstGeom prst="rect">
            <a:avLst/>
          </a:prstGeom>
          <a:noFill/>
          <a:ln/>
        </p:spPr>
        <p:txBody>
          <a:bodyPr wrap="square" lIns="0" tIns="0" rIns="0" bIns="0" rtlCol="0" anchor="ctr"/>
          <a:lstStyle/>
          <a:p>
            <a:pPr algn="ctr" indent="0" marL="0">
              <a:buNone/>
            </a:pPr>
            <a:r>
              <a:rPr lang="en-US" sz="1612" b="1" dirty="0">
                <a:solidFill>
                  <a:srgbClr val="2EA0F5"/>
                </a:solidFill>
                <a:latin typeface="Calibri" pitchFamily="34" charset="0"/>
                <a:ea typeface="Calibri" pitchFamily="34" charset="-122"/>
                <a:cs typeface="Calibri" pitchFamily="34" charset="-120"/>
              </a:rPr>
              <a:t>⌸</a:t>
            </a:r>
            <a:endParaRPr lang="en-US" sz="1612" dirty="0"/>
          </a:p>
        </p:txBody>
      </p:sp>
      <p:sp>
        <p:nvSpPr>
          <p:cNvPr id="12" name="Text 10"/>
          <p:cNvSpPr/>
          <p:nvPr/>
        </p:nvSpPr>
        <p:spPr>
          <a:xfrm>
            <a:off x="4590288" y="2304288"/>
            <a:ext cx="3136392" cy="365760"/>
          </a:xfrm>
          <a:prstGeom prst="rect">
            <a:avLst/>
          </a:prstGeom>
          <a:noFill/>
          <a:ln/>
        </p:spPr>
        <p:txBody>
          <a:bodyPr wrap="square" lIns="0" tIns="0" rIns="0" bIns="0" rtlCol="0" anchor="ctr"/>
          <a:lstStyle/>
          <a:p>
            <a:pPr indent="0" marL="0">
              <a:buNone/>
            </a:pPr>
            <a:r>
              <a:rPr lang="en-US" sz="1500" b="1" dirty="0">
                <a:solidFill>
                  <a:srgbClr val="0B1533"/>
                </a:solidFill>
                <a:latin typeface="Cambria" pitchFamily="34" charset="0"/>
                <a:ea typeface="Cambria" pitchFamily="34" charset="-122"/>
                <a:cs typeface="Cambria" pitchFamily="34" charset="-120"/>
              </a:rPr>
              <a:t>Azure SQL Database</a:t>
            </a:r>
            <a:endParaRPr lang="en-US" sz="1500" dirty="0"/>
          </a:p>
        </p:txBody>
      </p:sp>
      <p:sp>
        <p:nvSpPr>
          <p:cNvPr id="13" name="Text 11"/>
          <p:cNvSpPr/>
          <p:nvPr/>
        </p:nvSpPr>
        <p:spPr>
          <a:xfrm>
            <a:off x="4590288" y="2670048"/>
            <a:ext cx="3136392" cy="777240"/>
          </a:xfrm>
          <a:prstGeom prst="rect">
            <a:avLst/>
          </a:prstGeom>
          <a:noFill/>
          <a:ln/>
        </p:spPr>
        <p:txBody>
          <a:bodyPr wrap="square" lIns="0" tIns="0" rIns="0" bIns="0" rtlCol="0" anchor="ctr"/>
          <a:lstStyle/>
          <a:p>
            <a:pPr indent="0" marL="0">
              <a:lnSpc>
                <a:spcPct val="120000"/>
              </a:lnSpc>
              <a:buNone/>
            </a:pPr>
            <a:r>
              <a:rPr lang="en-US" sz="1150" dirty="0">
                <a:solidFill>
                  <a:srgbClr val="6B7690"/>
                </a:solidFill>
                <a:latin typeface="Calibri" pitchFamily="34" charset="0"/>
                <a:ea typeface="Calibri" pitchFamily="34" charset="-122"/>
                <a:cs typeface="Calibri" pitchFamily="34" charset="-120"/>
              </a:rPr>
              <a:t>Stores users, documents, versions, and audit logs</a:t>
            </a:r>
            <a:endParaRPr lang="en-US" sz="1150" dirty="0"/>
          </a:p>
        </p:txBody>
      </p:sp>
      <p:sp>
        <p:nvSpPr>
          <p:cNvPr id="14" name="Shape 12"/>
          <p:cNvSpPr/>
          <p:nvPr/>
        </p:nvSpPr>
        <p:spPr>
          <a:xfrm>
            <a:off x="8147304" y="1371600"/>
            <a:ext cx="3593592" cy="2148840"/>
          </a:xfrm>
          <a:prstGeom prst="roundRect">
            <a:avLst>
              <a:gd name="adj" fmla="val 4255"/>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15" name="Shape 13"/>
          <p:cNvSpPr/>
          <p:nvPr/>
        </p:nvSpPr>
        <p:spPr>
          <a:xfrm>
            <a:off x="8385048" y="1609344"/>
            <a:ext cx="566928" cy="566928"/>
          </a:xfrm>
          <a:prstGeom prst="ellipse">
            <a:avLst/>
          </a:prstGeom>
          <a:solidFill>
            <a:srgbClr val="E9F2FE"/>
          </a:solidFill>
          <a:ln/>
        </p:spPr>
      </p:sp>
      <p:sp>
        <p:nvSpPr>
          <p:cNvPr id="16" name="Text 14"/>
          <p:cNvSpPr/>
          <p:nvPr/>
        </p:nvSpPr>
        <p:spPr>
          <a:xfrm>
            <a:off x="8385048" y="1609344"/>
            <a:ext cx="566928" cy="566928"/>
          </a:xfrm>
          <a:prstGeom prst="rect">
            <a:avLst/>
          </a:prstGeom>
          <a:noFill/>
          <a:ln/>
        </p:spPr>
        <p:txBody>
          <a:bodyPr wrap="square" lIns="0" tIns="0" rIns="0" bIns="0" rtlCol="0" anchor="ctr"/>
          <a:lstStyle/>
          <a:p>
            <a:pPr algn="ctr" indent="0" marL="0">
              <a:buNone/>
            </a:pPr>
            <a:r>
              <a:rPr lang="en-US" sz="1612" b="1" dirty="0">
                <a:solidFill>
                  <a:srgbClr val="2EA0F5"/>
                </a:solidFill>
                <a:latin typeface="Calibri" pitchFamily="34" charset="0"/>
                <a:ea typeface="Calibri" pitchFamily="34" charset="-122"/>
                <a:cs typeface="Calibri" pitchFamily="34" charset="-120"/>
              </a:rPr>
              <a:t>▣</a:t>
            </a:r>
            <a:endParaRPr lang="en-US" sz="1612" dirty="0"/>
          </a:p>
        </p:txBody>
      </p:sp>
      <p:sp>
        <p:nvSpPr>
          <p:cNvPr id="17" name="Text 15"/>
          <p:cNvSpPr/>
          <p:nvPr/>
        </p:nvSpPr>
        <p:spPr>
          <a:xfrm>
            <a:off x="8366760" y="2304288"/>
            <a:ext cx="3136392" cy="365760"/>
          </a:xfrm>
          <a:prstGeom prst="rect">
            <a:avLst/>
          </a:prstGeom>
          <a:noFill/>
          <a:ln/>
        </p:spPr>
        <p:txBody>
          <a:bodyPr wrap="square" lIns="0" tIns="0" rIns="0" bIns="0" rtlCol="0" anchor="ctr"/>
          <a:lstStyle/>
          <a:p>
            <a:pPr indent="0" marL="0">
              <a:buNone/>
            </a:pPr>
            <a:r>
              <a:rPr lang="en-US" sz="1500" b="1" dirty="0">
                <a:solidFill>
                  <a:srgbClr val="0B1533"/>
                </a:solidFill>
                <a:latin typeface="Cambria" pitchFamily="34" charset="0"/>
                <a:ea typeface="Cambria" pitchFamily="34" charset="-122"/>
                <a:cs typeface="Cambria" pitchFamily="34" charset="-120"/>
              </a:rPr>
              <a:t>Azure Blob Storage</a:t>
            </a:r>
            <a:endParaRPr lang="en-US" sz="1500" dirty="0"/>
          </a:p>
        </p:txBody>
      </p:sp>
      <p:sp>
        <p:nvSpPr>
          <p:cNvPr id="18" name="Text 16"/>
          <p:cNvSpPr/>
          <p:nvPr/>
        </p:nvSpPr>
        <p:spPr>
          <a:xfrm>
            <a:off x="8366760" y="2670048"/>
            <a:ext cx="3136392" cy="777240"/>
          </a:xfrm>
          <a:prstGeom prst="rect">
            <a:avLst/>
          </a:prstGeom>
          <a:noFill/>
          <a:ln/>
        </p:spPr>
        <p:txBody>
          <a:bodyPr wrap="square" lIns="0" tIns="0" rIns="0" bIns="0" rtlCol="0" anchor="ctr"/>
          <a:lstStyle/>
          <a:p>
            <a:pPr indent="0" marL="0">
              <a:lnSpc>
                <a:spcPct val="120000"/>
              </a:lnSpc>
              <a:buNone/>
            </a:pPr>
            <a:r>
              <a:rPr lang="en-US" sz="1150" dirty="0">
                <a:solidFill>
                  <a:srgbClr val="6B7690"/>
                </a:solidFill>
                <a:latin typeface="Calibri" pitchFamily="34" charset="0"/>
                <a:ea typeface="Calibri" pitchFamily="34" charset="-122"/>
                <a:cs typeface="Calibri" pitchFamily="34" charset="-120"/>
              </a:rPr>
              <a:t>Securely stores every uploaded file</a:t>
            </a:r>
            <a:endParaRPr lang="en-US" sz="1150" dirty="0"/>
          </a:p>
        </p:txBody>
      </p:sp>
      <p:sp>
        <p:nvSpPr>
          <p:cNvPr id="19" name="Shape 17"/>
          <p:cNvSpPr/>
          <p:nvPr/>
        </p:nvSpPr>
        <p:spPr>
          <a:xfrm>
            <a:off x="594360" y="3721608"/>
            <a:ext cx="3593592" cy="2148840"/>
          </a:xfrm>
          <a:prstGeom prst="roundRect">
            <a:avLst>
              <a:gd name="adj" fmla="val 4255"/>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20" name="Shape 18"/>
          <p:cNvSpPr/>
          <p:nvPr/>
        </p:nvSpPr>
        <p:spPr>
          <a:xfrm>
            <a:off x="832104" y="3959352"/>
            <a:ext cx="566928" cy="566928"/>
          </a:xfrm>
          <a:prstGeom prst="ellipse">
            <a:avLst/>
          </a:prstGeom>
          <a:solidFill>
            <a:srgbClr val="E9F2FE"/>
          </a:solidFill>
          <a:ln/>
        </p:spPr>
      </p:sp>
      <p:sp>
        <p:nvSpPr>
          <p:cNvPr id="21" name="Text 19"/>
          <p:cNvSpPr/>
          <p:nvPr/>
        </p:nvSpPr>
        <p:spPr>
          <a:xfrm>
            <a:off x="832104" y="3959352"/>
            <a:ext cx="566928" cy="566928"/>
          </a:xfrm>
          <a:prstGeom prst="rect">
            <a:avLst/>
          </a:prstGeom>
          <a:noFill/>
          <a:ln/>
        </p:spPr>
        <p:txBody>
          <a:bodyPr wrap="square" lIns="0" tIns="0" rIns="0" bIns="0" rtlCol="0" anchor="ctr"/>
          <a:lstStyle/>
          <a:p>
            <a:pPr algn="ctr" indent="0" marL="0">
              <a:buNone/>
            </a:pPr>
            <a:r>
              <a:rPr lang="en-US" sz="1612" b="1" dirty="0">
                <a:solidFill>
                  <a:srgbClr val="2EA0F5"/>
                </a:solidFill>
                <a:latin typeface="Calibri" pitchFamily="34" charset="0"/>
                <a:ea typeface="Calibri" pitchFamily="34" charset="-122"/>
                <a:cs typeface="Calibri" pitchFamily="34" charset="-120"/>
              </a:rPr>
              <a:t>↻</a:t>
            </a:r>
            <a:endParaRPr lang="en-US" sz="1612" dirty="0"/>
          </a:p>
        </p:txBody>
      </p:sp>
      <p:sp>
        <p:nvSpPr>
          <p:cNvPr id="22" name="Text 20"/>
          <p:cNvSpPr/>
          <p:nvPr/>
        </p:nvSpPr>
        <p:spPr>
          <a:xfrm>
            <a:off x="813816" y="4654296"/>
            <a:ext cx="3136392" cy="365760"/>
          </a:xfrm>
          <a:prstGeom prst="rect">
            <a:avLst/>
          </a:prstGeom>
          <a:noFill/>
          <a:ln/>
        </p:spPr>
        <p:txBody>
          <a:bodyPr wrap="square" lIns="0" tIns="0" rIns="0" bIns="0" rtlCol="0" anchor="ctr"/>
          <a:lstStyle/>
          <a:p>
            <a:pPr indent="0" marL="0">
              <a:buNone/>
            </a:pPr>
            <a:r>
              <a:rPr lang="en-US" sz="1500" b="1" dirty="0">
                <a:solidFill>
                  <a:srgbClr val="0B1533"/>
                </a:solidFill>
                <a:latin typeface="Cambria" pitchFamily="34" charset="0"/>
                <a:ea typeface="Cambria" pitchFamily="34" charset="-122"/>
                <a:cs typeface="Cambria" pitchFamily="34" charset="-120"/>
              </a:rPr>
              <a:t>Blob Versioning</a:t>
            </a:r>
            <a:endParaRPr lang="en-US" sz="1500" dirty="0"/>
          </a:p>
        </p:txBody>
      </p:sp>
      <p:sp>
        <p:nvSpPr>
          <p:cNvPr id="23" name="Text 21"/>
          <p:cNvSpPr/>
          <p:nvPr/>
        </p:nvSpPr>
        <p:spPr>
          <a:xfrm>
            <a:off x="813816" y="5020056"/>
            <a:ext cx="3136392" cy="777240"/>
          </a:xfrm>
          <a:prstGeom prst="rect">
            <a:avLst/>
          </a:prstGeom>
          <a:noFill/>
          <a:ln/>
        </p:spPr>
        <p:txBody>
          <a:bodyPr wrap="square" lIns="0" tIns="0" rIns="0" bIns="0" rtlCol="0" anchor="ctr"/>
          <a:lstStyle/>
          <a:p>
            <a:pPr indent="0" marL="0">
              <a:lnSpc>
                <a:spcPct val="120000"/>
              </a:lnSpc>
              <a:buNone/>
            </a:pPr>
            <a:r>
              <a:rPr lang="en-US" sz="1150" dirty="0">
                <a:solidFill>
                  <a:srgbClr val="6B7690"/>
                </a:solidFill>
                <a:latin typeface="Calibri" pitchFamily="34" charset="0"/>
                <a:ea typeface="Calibri" pitchFamily="34" charset="-122"/>
                <a:cs typeface="Calibri" pitchFamily="34" charset="-120"/>
              </a:rPr>
              <a:t>Auto-creates a new version on re-upload of a filename</a:t>
            </a:r>
            <a:endParaRPr lang="en-US" sz="1150" dirty="0"/>
          </a:p>
        </p:txBody>
      </p:sp>
      <p:sp>
        <p:nvSpPr>
          <p:cNvPr id="24" name="Shape 22"/>
          <p:cNvSpPr/>
          <p:nvPr/>
        </p:nvSpPr>
        <p:spPr>
          <a:xfrm>
            <a:off x="4370832" y="3721608"/>
            <a:ext cx="3593592" cy="2148840"/>
          </a:xfrm>
          <a:prstGeom prst="roundRect">
            <a:avLst>
              <a:gd name="adj" fmla="val 4255"/>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25" name="Shape 23"/>
          <p:cNvSpPr/>
          <p:nvPr/>
        </p:nvSpPr>
        <p:spPr>
          <a:xfrm>
            <a:off x="4608576" y="3959352"/>
            <a:ext cx="566928" cy="566928"/>
          </a:xfrm>
          <a:prstGeom prst="ellipse">
            <a:avLst/>
          </a:prstGeom>
          <a:solidFill>
            <a:srgbClr val="E9F2FE"/>
          </a:solidFill>
          <a:ln/>
        </p:spPr>
      </p:sp>
      <p:sp>
        <p:nvSpPr>
          <p:cNvPr id="26" name="Text 24"/>
          <p:cNvSpPr/>
          <p:nvPr/>
        </p:nvSpPr>
        <p:spPr>
          <a:xfrm>
            <a:off x="4608576" y="3959352"/>
            <a:ext cx="566928" cy="566928"/>
          </a:xfrm>
          <a:prstGeom prst="rect">
            <a:avLst/>
          </a:prstGeom>
          <a:noFill/>
          <a:ln/>
        </p:spPr>
        <p:txBody>
          <a:bodyPr wrap="square" lIns="0" tIns="0" rIns="0" bIns="0" rtlCol="0" anchor="ctr"/>
          <a:lstStyle/>
          <a:p>
            <a:pPr algn="ctr" indent="0" marL="0">
              <a:buNone/>
            </a:pPr>
            <a:r>
              <a:rPr lang="en-US" sz="1612" b="1" dirty="0">
                <a:solidFill>
                  <a:srgbClr val="2EA0F5"/>
                </a:solidFill>
                <a:latin typeface="Calibri" pitchFamily="34" charset="0"/>
                <a:ea typeface="Calibri" pitchFamily="34" charset="-122"/>
                <a:cs typeface="Calibri" pitchFamily="34" charset="-120"/>
              </a:rPr>
              <a:t>⇄</a:t>
            </a:r>
            <a:endParaRPr lang="en-US" sz="1612" dirty="0"/>
          </a:p>
        </p:txBody>
      </p:sp>
      <p:sp>
        <p:nvSpPr>
          <p:cNvPr id="27" name="Text 25"/>
          <p:cNvSpPr/>
          <p:nvPr/>
        </p:nvSpPr>
        <p:spPr>
          <a:xfrm>
            <a:off x="4590288" y="4654296"/>
            <a:ext cx="3136392" cy="365760"/>
          </a:xfrm>
          <a:prstGeom prst="rect">
            <a:avLst/>
          </a:prstGeom>
          <a:noFill/>
          <a:ln/>
        </p:spPr>
        <p:txBody>
          <a:bodyPr wrap="square" lIns="0" tIns="0" rIns="0" bIns="0" rtlCol="0" anchor="ctr"/>
          <a:lstStyle/>
          <a:p>
            <a:pPr indent="0" marL="0">
              <a:buNone/>
            </a:pPr>
            <a:r>
              <a:rPr lang="en-US" sz="1500" b="1" dirty="0">
                <a:solidFill>
                  <a:srgbClr val="0B1533"/>
                </a:solidFill>
                <a:latin typeface="Cambria" pitchFamily="34" charset="0"/>
                <a:ea typeface="Cambria" pitchFamily="34" charset="-122"/>
                <a:cs typeface="Cambria" pitchFamily="34" charset="-120"/>
              </a:rPr>
              <a:t>Deployment Center</a:t>
            </a:r>
            <a:endParaRPr lang="en-US" sz="1500" dirty="0"/>
          </a:p>
        </p:txBody>
      </p:sp>
      <p:sp>
        <p:nvSpPr>
          <p:cNvPr id="28" name="Text 26"/>
          <p:cNvSpPr/>
          <p:nvPr/>
        </p:nvSpPr>
        <p:spPr>
          <a:xfrm>
            <a:off x="4590288" y="5020056"/>
            <a:ext cx="3136392" cy="777240"/>
          </a:xfrm>
          <a:prstGeom prst="rect">
            <a:avLst/>
          </a:prstGeom>
          <a:noFill/>
          <a:ln/>
        </p:spPr>
        <p:txBody>
          <a:bodyPr wrap="square" lIns="0" tIns="0" rIns="0" bIns="0" rtlCol="0" anchor="ctr"/>
          <a:lstStyle/>
          <a:p>
            <a:pPr indent="0" marL="0">
              <a:lnSpc>
                <a:spcPct val="120000"/>
              </a:lnSpc>
              <a:buNone/>
            </a:pPr>
            <a:r>
              <a:rPr lang="en-US" sz="1150" dirty="0">
                <a:solidFill>
                  <a:srgbClr val="6B7690"/>
                </a:solidFill>
                <a:latin typeface="Calibri" pitchFamily="34" charset="0"/>
                <a:ea typeface="Calibri" pitchFamily="34" charset="-122"/>
                <a:cs typeface="Calibri" pitchFamily="34" charset="-120"/>
              </a:rPr>
              <a:t>Automates deployment directly from GitHub</a:t>
            </a:r>
            <a:endParaRPr lang="en-US" sz="1150" dirty="0"/>
          </a:p>
        </p:txBody>
      </p:sp>
      <p:sp>
        <p:nvSpPr>
          <p:cNvPr id="29" name="Shape 27"/>
          <p:cNvSpPr/>
          <p:nvPr/>
        </p:nvSpPr>
        <p:spPr>
          <a:xfrm>
            <a:off x="8147304" y="3721608"/>
            <a:ext cx="3593592" cy="2148840"/>
          </a:xfrm>
          <a:prstGeom prst="roundRect">
            <a:avLst>
              <a:gd name="adj" fmla="val 4255"/>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30" name="Shape 28"/>
          <p:cNvSpPr/>
          <p:nvPr/>
        </p:nvSpPr>
        <p:spPr>
          <a:xfrm>
            <a:off x="8385048" y="3959352"/>
            <a:ext cx="566928" cy="566928"/>
          </a:xfrm>
          <a:prstGeom prst="ellipse">
            <a:avLst/>
          </a:prstGeom>
          <a:solidFill>
            <a:srgbClr val="E9F2FE"/>
          </a:solidFill>
          <a:ln/>
        </p:spPr>
      </p:sp>
      <p:sp>
        <p:nvSpPr>
          <p:cNvPr id="31" name="Text 29"/>
          <p:cNvSpPr/>
          <p:nvPr/>
        </p:nvSpPr>
        <p:spPr>
          <a:xfrm>
            <a:off x="8385048" y="3959352"/>
            <a:ext cx="566928" cy="566928"/>
          </a:xfrm>
          <a:prstGeom prst="rect">
            <a:avLst/>
          </a:prstGeom>
          <a:noFill/>
          <a:ln/>
        </p:spPr>
        <p:txBody>
          <a:bodyPr wrap="square" lIns="0" tIns="0" rIns="0" bIns="0" rtlCol="0" anchor="ctr"/>
          <a:lstStyle/>
          <a:p>
            <a:pPr algn="ctr" indent="0" marL="0">
              <a:buNone/>
            </a:pPr>
            <a:r>
              <a:rPr lang="en-US" sz="1612" b="1" dirty="0">
                <a:solidFill>
                  <a:srgbClr val="2EA0F5"/>
                </a:solidFill>
                <a:latin typeface="Calibri" pitchFamily="34" charset="0"/>
                <a:ea typeface="Calibri" pitchFamily="34" charset="-122"/>
                <a:cs typeface="Calibri" pitchFamily="34" charset="-120"/>
              </a:rPr>
              <a:t>⌥</a:t>
            </a:r>
            <a:endParaRPr lang="en-US" sz="1612" dirty="0"/>
          </a:p>
        </p:txBody>
      </p:sp>
      <p:sp>
        <p:nvSpPr>
          <p:cNvPr id="32" name="Text 30"/>
          <p:cNvSpPr/>
          <p:nvPr/>
        </p:nvSpPr>
        <p:spPr>
          <a:xfrm>
            <a:off x="8366760" y="4654296"/>
            <a:ext cx="3136392" cy="365760"/>
          </a:xfrm>
          <a:prstGeom prst="rect">
            <a:avLst/>
          </a:prstGeom>
          <a:noFill/>
          <a:ln/>
        </p:spPr>
        <p:txBody>
          <a:bodyPr wrap="square" lIns="0" tIns="0" rIns="0" bIns="0" rtlCol="0" anchor="ctr"/>
          <a:lstStyle/>
          <a:p>
            <a:pPr indent="0" marL="0">
              <a:buNone/>
            </a:pPr>
            <a:r>
              <a:rPr lang="en-US" sz="1500" b="1" dirty="0">
                <a:solidFill>
                  <a:srgbClr val="0B1533"/>
                </a:solidFill>
                <a:latin typeface="Cambria" pitchFamily="34" charset="0"/>
                <a:ea typeface="Cambria" pitchFamily="34" charset="-122"/>
                <a:cs typeface="Cambria" pitchFamily="34" charset="-120"/>
              </a:rPr>
              <a:t>GitHub Actions</a:t>
            </a:r>
            <a:endParaRPr lang="en-US" sz="1500" dirty="0"/>
          </a:p>
        </p:txBody>
      </p:sp>
      <p:sp>
        <p:nvSpPr>
          <p:cNvPr id="33" name="Text 31"/>
          <p:cNvSpPr/>
          <p:nvPr/>
        </p:nvSpPr>
        <p:spPr>
          <a:xfrm>
            <a:off x="8366760" y="5020056"/>
            <a:ext cx="3136392" cy="777240"/>
          </a:xfrm>
          <a:prstGeom prst="rect">
            <a:avLst/>
          </a:prstGeom>
          <a:noFill/>
          <a:ln/>
        </p:spPr>
        <p:txBody>
          <a:bodyPr wrap="square" lIns="0" tIns="0" rIns="0" bIns="0" rtlCol="0" anchor="ctr"/>
          <a:lstStyle/>
          <a:p>
            <a:pPr indent="0" marL="0">
              <a:lnSpc>
                <a:spcPct val="120000"/>
              </a:lnSpc>
              <a:buNone/>
            </a:pPr>
            <a:r>
              <a:rPr lang="en-US" sz="1150" dirty="0">
                <a:solidFill>
                  <a:srgbClr val="6B7690"/>
                </a:solidFill>
                <a:latin typeface="Calibri" pitchFamily="34" charset="0"/>
                <a:ea typeface="Calibri" pitchFamily="34" charset="-122"/>
                <a:cs typeface="Calibri" pitchFamily="34" charset="-120"/>
              </a:rPr>
              <a:t>Builds and deploys the project on every push</a:t>
            </a:r>
            <a:endParaRPr lang="en-US" sz="1150" dirty="0"/>
          </a:p>
        </p:txBody>
      </p:sp>
      <p:sp>
        <p:nvSpPr>
          <p:cNvPr id="34" name="Text 32"/>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Overall Workflow</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HOW DATA MOVES</a:t>
            </a:r>
            <a:endParaRPr lang="en-US" sz="1100" dirty="0"/>
          </a:p>
        </p:txBody>
      </p:sp>
      <p:sp>
        <p:nvSpPr>
          <p:cNvPr id="4" name="Shape 2"/>
          <p:cNvSpPr/>
          <p:nvPr/>
        </p:nvSpPr>
        <p:spPr>
          <a:xfrm>
            <a:off x="2560320" y="3108960"/>
            <a:ext cx="297180" cy="0"/>
          </a:xfrm>
          <a:prstGeom prst="line">
            <a:avLst/>
          </a:prstGeom>
          <a:noFill/>
          <a:ln w="25400">
            <a:solidFill>
              <a:srgbClr val="AAB8DC"/>
            </a:solidFill>
            <a:prstDash val="solid"/>
            <a:tailEnd type="triangle"/>
          </a:ln>
        </p:spPr>
      </p:sp>
      <p:sp>
        <p:nvSpPr>
          <p:cNvPr id="5" name="Shape 3"/>
          <p:cNvSpPr/>
          <p:nvPr/>
        </p:nvSpPr>
        <p:spPr>
          <a:xfrm>
            <a:off x="594360" y="2331720"/>
            <a:ext cx="1965960" cy="1554480"/>
          </a:xfrm>
          <a:prstGeom prst="roundRect">
            <a:avLst>
              <a:gd name="adj" fmla="val 7059"/>
            </a:avLst>
          </a:prstGeom>
          <a:solidFill>
            <a:srgbClr val="FFFFFF"/>
          </a:solidFill>
          <a:ln w="12700">
            <a:solidFill>
              <a:srgbClr val="E3E8F2"/>
            </a:solidFill>
            <a:prstDash val="solid"/>
          </a:ln>
          <a:effectLst>
            <a:outerShdw sx="100000" sy="100000" kx="0" ky="0" algn="bl" rotWithShape="0" blurRad="76200" dist="25400" dir="5400000">
              <a:srgbClr val="0B1533">
                <a:alpha val="12000"/>
              </a:srgbClr>
            </a:outerShdw>
          </a:effectLst>
        </p:spPr>
      </p:sp>
      <p:sp>
        <p:nvSpPr>
          <p:cNvPr id="6" name="Shape 4"/>
          <p:cNvSpPr/>
          <p:nvPr/>
        </p:nvSpPr>
        <p:spPr>
          <a:xfrm>
            <a:off x="1266444" y="2496312"/>
            <a:ext cx="621792" cy="621792"/>
          </a:xfrm>
          <a:prstGeom prst="ellipse">
            <a:avLst/>
          </a:prstGeom>
          <a:solidFill>
            <a:srgbClr val="E9F2FE"/>
          </a:solidFill>
          <a:ln/>
        </p:spPr>
      </p:sp>
      <p:sp>
        <p:nvSpPr>
          <p:cNvPr id="7" name="Text 5"/>
          <p:cNvSpPr/>
          <p:nvPr/>
        </p:nvSpPr>
        <p:spPr>
          <a:xfrm>
            <a:off x="1266444" y="2496312"/>
            <a:ext cx="621792" cy="621792"/>
          </a:xfrm>
          <a:prstGeom prst="rect">
            <a:avLst/>
          </a:prstGeom>
          <a:noFill/>
          <a:ln/>
        </p:spPr>
        <p:txBody>
          <a:bodyPr wrap="square" lIns="0" tIns="0" rIns="0" bIns="0" rtlCol="0" anchor="ctr"/>
          <a:lstStyle/>
          <a:p>
            <a:pPr algn="ctr" indent="0" marL="0">
              <a:buNone/>
            </a:pPr>
            <a:r>
              <a:rPr lang="en-US" sz="1768" b="1" dirty="0">
                <a:solidFill>
                  <a:srgbClr val="2EA0F5"/>
                </a:solidFill>
                <a:latin typeface="Calibri" pitchFamily="34" charset="0"/>
                <a:ea typeface="Calibri" pitchFamily="34" charset="-122"/>
                <a:cs typeface="Calibri" pitchFamily="34" charset="-120"/>
              </a:rPr>
              <a:t>☉</a:t>
            </a:r>
            <a:endParaRPr lang="en-US" sz="1768" dirty="0"/>
          </a:p>
        </p:txBody>
      </p:sp>
      <p:sp>
        <p:nvSpPr>
          <p:cNvPr id="8" name="Text 6"/>
          <p:cNvSpPr/>
          <p:nvPr/>
        </p:nvSpPr>
        <p:spPr>
          <a:xfrm>
            <a:off x="667512" y="3191256"/>
            <a:ext cx="1819656" cy="347472"/>
          </a:xfrm>
          <a:prstGeom prst="rect">
            <a:avLst/>
          </a:prstGeom>
          <a:noFill/>
          <a:ln/>
        </p:spPr>
        <p:txBody>
          <a:bodyPr wrap="square" lIns="0" tIns="0" rIns="0" bIns="0" rtlCol="0" anchor="ctr"/>
          <a:lstStyle/>
          <a:p>
            <a:pPr algn="ctr" indent="0" marL="0">
              <a:buNone/>
            </a:pPr>
            <a:r>
              <a:rPr lang="en-US" sz="1250" b="1" dirty="0">
                <a:solidFill>
                  <a:srgbClr val="0B1533"/>
                </a:solidFill>
                <a:latin typeface="Cambria" pitchFamily="34" charset="0"/>
                <a:ea typeface="Cambria" pitchFamily="34" charset="-122"/>
                <a:cs typeface="Cambria" pitchFamily="34" charset="-120"/>
              </a:rPr>
              <a:t>User</a:t>
            </a:r>
            <a:endParaRPr lang="en-US" sz="1250" dirty="0"/>
          </a:p>
        </p:txBody>
      </p:sp>
      <p:sp>
        <p:nvSpPr>
          <p:cNvPr id="9" name="Text 7"/>
          <p:cNvSpPr/>
          <p:nvPr/>
        </p:nvSpPr>
        <p:spPr>
          <a:xfrm>
            <a:off x="667512" y="3520440"/>
            <a:ext cx="1819656" cy="347472"/>
          </a:xfrm>
          <a:prstGeom prst="rect">
            <a:avLst/>
          </a:prstGeom>
          <a:noFill/>
          <a:ln/>
        </p:spPr>
        <p:txBody>
          <a:bodyPr wrap="square" lIns="0" tIns="0" rIns="0" bIns="0" rtlCol="0" anchor="ctr"/>
          <a:lstStyle/>
          <a:p>
            <a:pPr algn="ctr" indent="0" marL="0">
              <a:buNone/>
            </a:pPr>
            <a:r>
              <a:rPr lang="en-US" sz="950" dirty="0">
                <a:solidFill>
                  <a:srgbClr val="6B7690"/>
                </a:solidFill>
                <a:latin typeface="Calibri" pitchFamily="34" charset="0"/>
                <a:ea typeface="Calibri" pitchFamily="34" charset="-122"/>
                <a:cs typeface="Calibri" pitchFamily="34" charset="-120"/>
              </a:rPr>
              <a:t>Interacts via browser</a:t>
            </a:r>
            <a:endParaRPr lang="en-US" sz="950" dirty="0"/>
          </a:p>
        </p:txBody>
      </p:sp>
      <p:sp>
        <p:nvSpPr>
          <p:cNvPr id="10" name="Shape 8"/>
          <p:cNvSpPr/>
          <p:nvPr/>
        </p:nvSpPr>
        <p:spPr>
          <a:xfrm>
            <a:off x="4823460" y="3108960"/>
            <a:ext cx="297180" cy="0"/>
          </a:xfrm>
          <a:prstGeom prst="line">
            <a:avLst/>
          </a:prstGeom>
          <a:noFill/>
          <a:ln w="25400">
            <a:solidFill>
              <a:srgbClr val="AAB8DC"/>
            </a:solidFill>
            <a:prstDash val="solid"/>
            <a:tailEnd type="triangle"/>
          </a:ln>
        </p:spPr>
      </p:sp>
      <p:sp>
        <p:nvSpPr>
          <p:cNvPr id="11" name="Shape 9"/>
          <p:cNvSpPr/>
          <p:nvPr/>
        </p:nvSpPr>
        <p:spPr>
          <a:xfrm>
            <a:off x="2857500" y="2331720"/>
            <a:ext cx="1965960" cy="1554480"/>
          </a:xfrm>
          <a:prstGeom prst="roundRect">
            <a:avLst>
              <a:gd name="adj" fmla="val 7059"/>
            </a:avLst>
          </a:prstGeom>
          <a:solidFill>
            <a:srgbClr val="FFFFFF"/>
          </a:solidFill>
          <a:ln w="12700">
            <a:solidFill>
              <a:srgbClr val="E3E8F2"/>
            </a:solidFill>
            <a:prstDash val="solid"/>
          </a:ln>
          <a:effectLst>
            <a:outerShdw sx="100000" sy="100000" kx="0" ky="0" algn="bl" rotWithShape="0" blurRad="76200" dist="25400" dir="5400000">
              <a:srgbClr val="0B1533">
                <a:alpha val="12000"/>
              </a:srgbClr>
            </a:outerShdw>
          </a:effectLst>
        </p:spPr>
      </p:sp>
      <p:sp>
        <p:nvSpPr>
          <p:cNvPr id="12" name="Shape 10"/>
          <p:cNvSpPr/>
          <p:nvPr/>
        </p:nvSpPr>
        <p:spPr>
          <a:xfrm>
            <a:off x="3529584" y="2496312"/>
            <a:ext cx="621792" cy="621792"/>
          </a:xfrm>
          <a:prstGeom prst="ellipse">
            <a:avLst/>
          </a:prstGeom>
          <a:solidFill>
            <a:srgbClr val="E9F2FE"/>
          </a:solidFill>
          <a:ln/>
        </p:spPr>
      </p:sp>
      <p:sp>
        <p:nvSpPr>
          <p:cNvPr id="13" name="Text 11"/>
          <p:cNvSpPr/>
          <p:nvPr/>
        </p:nvSpPr>
        <p:spPr>
          <a:xfrm>
            <a:off x="3529584" y="2496312"/>
            <a:ext cx="621792" cy="621792"/>
          </a:xfrm>
          <a:prstGeom prst="rect">
            <a:avLst/>
          </a:prstGeom>
          <a:noFill/>
          <a:ln/>
        </p:spPr>
        <p:txBody>
          <a:bodyPr wrap="square" lIns="0" tIns="0" rIns="0" bIns="0" rtlCol="0" anchor="ctr"/>
          <a:lstStyle/>
          <a:p>
            <a:pPr algn="ctr" indent="0" marL="0">
              <a:buNone/>
            </a:pPr>
            <a:r>
              <a:rPr lang="en-US" sz="1768" b="1" dirty="0">
                <a:solidFill>
                  <a:srgbClr val="2EA0F5"/>
                </a:solidFill>
                <a:latin typeface="Calibri" pitchFamily="34" charset="0"/>
                <a:ea typeface="Calibri" pitchFamily="34" charset="-122"/>
                <a:cs typeface="Calibri" pitchFamily="34" charset="-120"/>
              </a:rPr>
              <a:t>▢</a:t>
            </a:r>
            <a:endParaRPr lang="en-US" sz="1768" dirty="0"/>
          </a:p>
        </p:txBody>
      </p:sp>
      <p:sp>
        <p:nvSpPr>
          <p:cNvPr id="14" name="Text 12"/>
          <p:cNvSpPr/>
          <p:nvPr/>
        </p:nvSpPr>
        <p:spPr>
          <a:xfrm>
            <a:off x="2930652" y="3191256"/>
            <a:ext cx="1819656" cy="347472"/>
          </a:xfrm>
          <a:prstGeom prst="rect">
            <a:avLst/>
          </a:prstGeom>
          <a:noFill/>
          <a:ln/>
        </p:spPr>
        <p:txBody>
          <a:bodyPr wrap="square" lIns="0" tIns="0" rIns="0" bIns="0" rtlCol="0" anchor="ctr"/>
          <a:lstStyle/>
          <a:p>
            <a:pPr algn="ctr" indent="0" marL="0">
              <a:buNone/>
            </a:pPr>
            <a:r>
              <a:rPr lang="en-US" sz="1250" b="1" dirty="0">
                <a:solidFill>
                  <a:srgbClr val="0B1533"/>
                </a:solidFill>
                <a:latin typeface="Cambria" pitchFamily="34" charset="0"/>
                <a:ea typeface="Cambria" pitchFamily="34" charset="-122"/>
                <a:cs typeface="Cambria" pitchFamily="34" charset="-120"/>
              </a:rPr>
              <a:t>Flask Application</a:t>
            </a:r>
            <a:endParaRPr lang="en-US" sz="1250" dirty="0"/>
          </a:p>
        </p:txBody>
      </p:sp>
      <p:sp>
        <p:nvSpPr>
          <p:cNvPr id="15" name="Text 13"/>
          <p:cNvSpPr/>
          <p:nvPr/>
        </p:nvSpPr>
        <p:spPr>
          <a:xfrm>
            <a:off x="2930652" y="3520440"/>
            <a:ext cx="1819656" cy="347472"/>
          </a:xfrm>
          <a:prstGeom prst="rect">
            <a:avLst/>
          </a:prstGeom>
          <a:noFill/>
          <a:ln/>
        </p:spPr>
        <p:txBody>
          <a:bodyPr wrap="square" lIns="0" tIns="0" rIns="0" bIns="0" rtlCol="0" anchor="ctr"/>
          <a:lstStyle/>
          <a:p>
            <a:pPr algn="ctr" indent="0" marL="0">
              <a:buNone/>
            </a:pPr>
            <a:r>
              <a:rPr lang="en-US" sz="950" dirty="0">
                <a:solidFill>
                  <a:srgbClr val="6B7690"/>
                </a:solidFill>
                <a:latin typeface="Calibri" pitchFamily="34" charset="0"/>
                <a:ea typeface="Calibri" pitchFamily="34" charset="-122"/>
                <a:cs typeface="Calibri" pitchFamily="34" charset="-120"/>
              </a:rPr>
              <a:t>Handles logic &amp; requests</a:t>
            </a:r>
            <a:endParaRPr lang="en-US" sz="950" dirty="0"/>
          </a:p>
        </p:txBody>
      </p:sp>
      <p:sp>
        <p:nvSpPr>
          <p:cNvPr id="16" name="Shape 14"/>
          <p:cNvSpPr/>
          <p:nvPr/>
        </p:nvSpPr>
        <p:spPr>
          <a:xfrm>
            <a:off x="7086600" y="3108960"/>
            <a:ext cx="297180" cy="0"/>
          </a:xfrm>
          <a:prstGeom prst="line">
            <a:avLst/>
          </a:prstGeom>
          <a:noFill/>
          <a:ln w="25400">
            <a:solidFill>
              <a:srgbClr val="AAB8DC"/>
            </a:solidFill>
            <a:prstDash val="solid"/>
            <a:tailEnd type="triangle"/>
          </a:ln>
        </p:spPr>
      </p:sp>
      <p:sp>
        <p:nvSpPr>
          <p:cNvPr id="17" name="Shape 15"/>
          <p:cNvSpPr/>
          <p:nvPr/>
        </p:nvSpPr>
        <p:spPr>
          <a:xfrm>
            <a:off x="5120640" y="2331720"/>
            <a:ext cx="1965960" cy="1554480"/>
          </a:xfrm>
          <a:prstGeom prst="roundRect">
            <a:avLst>
              <a:gd name="adj" fmla="val 7059"/>
            </a:avLst>
          </a:prstGeom>
          <a:solidFill>
            <a:srgbClr val="0B1533"/>
          </a:solidFill>
          <a:ln w="12700">
            <a:solidFill>
              <a:srgbClr val="0B1533"/>
            </a:solidFill>
            <a:prstDash val="solid"/>
          </a:ln>
          <a:effectLst>
            <a:outerShdw sx="100000" sy="100000" kx="0" ky="0" algn="bl" rotWithShape="0" blurRad="76200" dist="25400" dir="5400000">
              <a:srgbClr val="0B1533">
                <a:alpha val="12000"/>
              </a:srgbClr>
            </a:outerShdw>
          </a:effectLst>
        </p:spPr>
      </p:sp>
      <p:sp>
        <p:nvSpPr>
          <p:cNvPr id="18" name="Shape 16"/>
          <p:cNvSpPr/>
          <p:nvPr/>
        </p:nvSpPr>
        <p:spPr>
          <a:xfrm>
            <a:off x="5792724" y="2496312"/>
            <a:ext cx="621792" cy="621792"/>
          </a:xfrm>
          <a:prstGeom prst="ellipse">
            <a:avLst/>
          </a:prstGeom>
          <a:solidFill>
            <a:srgbClr val="2EA0F5"/>
          </a:solidFill>
          <a:ln/>
        </p:spPr>
      </p:sp>
      <p:sp>
        <p:nvSpPr>
          <p:cNvPr id="19" name="Text 17"/>
          <p:cNvSpPr/>
          <p:nvPr/>
        </p:nvSpPr>
        <p:spPr>
          <a:xfrm>
            <a:off x="5792724" y="2496312"/>
            <a:ext cx="621792" cy="621792"/>
          </a:xfrm>
          <a:prstGeom prst="rect">
            <a:avLst/>
          </a:prstGeom>
          <a:noFill/>
          <a:ln/>
        </p:spPr>
        <p:txBody>
          <a:bodyPr wrap="square" lIns="0" tIns="0" rIns="0" bIns="0" rtlCol="0" anchor="ctr"/>
          <a:lstStyle/>
          <a:p>
            <a:pPr algn="ctr" indent="0" marL="0">
              <a:buNone/>
            </a:pPr>
            <a:r>
              <a:rPr lang="en-US" sz="1768" b="1" dirty="0">
                <a:solidFill>
                  <a:srgbClr val="FFFFFF"/>
                </a:solidFill>
                <a:latin typeface="Calibri" pitchFamily="34" charset="0"/>
                <a:ea typeface="Calibri" pitchFamily="34" charset="-122"/>
                <a:cs typeface="Calibri" pitchFamily="34" charset="-120"/>
              </a:rPr>
              <a:t>⌸</a:t>
            </a:r>
            <a:endParaRPr lang="en-US" sz="1768" dirty="0"/>
          </a:p>
        </p:txBody>
      </p:sp>
      <p:sp>
        <p:nvSpPr>
          <p:cNvPr id="20" name="Text 18"/>
          <p:cNvSpPr/>
          <p:nvPr/>
        </p:nvSpPr>
        <p:spPr>
          <a:xfrm>
            <a:off x="5193792" y="3191256"/>
            <a:ext cx="1819656"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Azure SQL + Blob</a:t>
            </a:r>
            <a:endParaRPr lang="en-US" sz="1250" dirty="0"/>
          </a:p>
        </p:txBody>
      </p:sp>
      <p:sp>
        <p:nvSpPr>
          <p:cNvPr id="21" name="Text 19"/>
          <p:cNvSpPr/>
          <p:nvPr/>
        </p:nvSpPr>
        <p:spPr>
          <a:xfrm>
            <a:off x="5193792" y="3520440"/>
            <a:ext cx="1819656" cy="347472"/>
          </a:xfrm>
          <a:prstGeom prst="rect">
            <a:avLst/>
          </a:prstGeom>
          <a:noFill/>
          <a:ln/>
        </p:spPr>
        <p:txBody>
          <a:bodyPr wrap="square" lIns="0" tIns="0" rIns="0" bIns="0" rtlCol="0" anchor="ctr"/>
          <a:lstStyle/>
          <a:p>
            <a:pPr algn="ctr" indent="0" marL="0">
              <a:buNone/>
            </a:pPr>
            <a:r>
              <a:rPr lang="en-US" sz="950" dirty="0">
                <a:solidFill>
                  <a:srgbClr val="CFE0FA"/>
                </a:solidFill>
                <a:latin typeface="Calibri" pitchFamily="34" charset="0"/>
                <a:ea typeface="Calibri" pitchFamily="34" charset="-122"/>
                <a:cs typeface="Calibri" pitchFamily="34" charset="-120"/>
              </a:rPr>
              <a:t>Stores data &amp; files</a:t>
            </a:r>
            <a:endParaRPr lang="en-US" sz="950" dirty="0"/>
          </a:p>
        </p:txBody>
      </p:sp>
      <p:sp>
        <p:nvSpPr>
          <p:cNvPr id="22" name="Shape 20"/>
          <p:cNvSpPr/>
          <p:nvPr/>
        </p:nvSpPr>
        <p:spPr>
          <a:xfrm>
            <a:off x="9349740" y="3108960"/>
            <a:ext cx="297180" cy="0"/>
          </a:xfrm>
          <a:prstGeom prst="line">
            <a:avLst/>
          </a:prstGeom>
          <a:noFill/>
          <a:ln w="25400">
            <a:solidFill>
              <a:srgbClr val="AAB8DC"/>
            </a:solidFill>
            <a:prstDash val="solid"/>
            <a:tailEnd type="triangle"/>
          </a:ln>
        </p:spPr>
      </p:sp>
      <p:sp>
        <p:nvSpPr>
          <p:cNvPr id="23" name="Shape 21"/>
          <p:cNvSpPr/>
          <p:nvPr/>
        </p:nvSpPr>
        <p:spPr>
          <a:xfrm>
            <a:off x="7383780" y="2331720"/>
            <a:ext cx="1965960" cy="1554480"/>
          </a:xfrm>
          <a:prstGeom prst="roundRect">
            <a:avLst>
              <a:gd name="adj" fmla="val 7059"/>
            </a:avLst>
          </a:prstGeom>
          <a:solidFill>
            <a:srgbClr val="FFFFFF"/>
          </a:solidFill>
          <a:ln w="12700">
            <a:solidFill>
              <a:srgbClr val="E3E8F2"/>
            </a:solidFill>
            <a:prstDash val="solid"/>
          </a:ln>
          <a:effectLst>
            <a:outerShdw sx="100000" sy="100000" kx="0" ky="0" algn="bl" rotWithShape="0" blurRad="76200" dist="25400" dir="5400000">
              <a:srgbClr val="0B1533">
                <a:alpha val="12000"/>
              </a:srgbClr>
            </a:outerShdw>
          </a:effectLst>
        </p:spPr>
      </p:sp>
      <p:sp>
        <p:nvSpPr>
          <p:cNvPr id="24" name="Shape 22"/>
          <p:cNvSpPr/>
          <p:nvPr/>
        </p:nvSpPr>
        <p:spPr>
          <a:xfrm>
            <a:off x="8055864" y="2496312"/>
            <a:ext cx="621792" cy="621792"/>
          </a:xfrm>
          <a:prstGeom prst="ellipse">
            <a:avLst/>
          </a:prstGeom>
          <a:solidFill>
            <a:srgbClr val="E9F2FE"/>
          </a:solidFill>
          <a:ln/>
        </p:spPr>
      </p:sp>
      <p:sp>
        <p:nvSpPr>
          <p:cNvPr id="25" name="Text 23"/>
          <p:cNvSpPr/>
          <p:nvPr/>
        </p:nvSpPr>
        <p:spPr>
          <a:xfrm>
            <a:off x="8055864" y="2496312"/>
            <a:ext cx="621792" cy="621792"/>
          </a:xfrm>
          <a:prstGeom prst="rect">
            <a:avLst/>
          </a:prstGeom>
          <a:noFill/>
          <a:ln/>
        </p:spPr>
        <p:txBody>
          <a:bodyPr wrap="square" lIns="0" tIns="0" rIns="0" bIns="0" rtlCol="0" anchor="ctr"/>
          <a:lstStyle/>
          <a:p>
            <a:pPr algn="ctr" indent="0" marL="0">
              <a:buNone/>
            </a:pPr>
            <a:r>
              <a:rPr lang="en-US" sz="1768" b="1" dirty="0">
                <a:solidFill>
                  <a:srgbClr val="2EA0F5"/>
                </a:solidFill>
                <a:latin typeface="Calibri" pitchFamily="34" charset="0"/>
                <a:ea typeface="Calibri" pitchFamily="34" charset="-122"/>
                <a:cs typeface="Calibri" pitchFamily="34" charset="-120"/>
              </a:rPr>
              <a:t>▣</a:t>
            </a:r>
            <a:endParaRPr lang="en-US" sz="1768" dirty="0"/>
          </a:p>
        </p:txBody>
      </p:sp>
      <p:sp>
        <p:nvSpPr>
          <p:cNvPr id="26" name="Text 24"/>
          <p:cNvSpPr/>
          <p:nvPr/>
        </p:nvSpPr>
        <p:spPr>
          <a:xfrm>
            <a:off x="7456932" y="3191256"/>
            <a:ext cx="1819656" cy="347472"/>
          </a:xfrm>
          <a:prstGeom prst="rect">
            <a:avLst/>
          </a:prstGeom>
          <a:noFill/>
          <a:ln/>
        </p:spPr>
        <p:txBody>
          <a:bodyPr wrap="square" lIns="0" tIns="0" rIns="0" bIns="0" rtlCol="0" anchor="ctr"/>
          <a:lstStyle/>
          <a:p>
            <a:pPr algn="ctr" indent="0" marL="0">
              <a:buNone/>
            </a:pPr>
            <a:r>
              <a:rPr lang="en-US" sz="1250" b="1" dirty="0">
                <a:solidFill>
                  <a:srgbClr val="0B1533"/>
                </a:solidFill>
                <a:latin typeface="Cambria" pitchFamily="34" charset="0"/>
                <a:ea typeface="Cambria" pitchFamily="34" charset="-122"/>
                <a:cs typeface="Cambria" pitchFamily="34" charset="-120"/>
              </a:rPr>
              <a:t>Dashboard Update</a:t>
            </a:r>
            <a:endParaRPr lang="en-US" sz="1250" dirty="0"/>
          </a:p>
        </p:txBody>
      </p:sp>
      <p:sp>
        <p:nvSpPr>
          <p:cNvPr id="27" name="Text 25"/>
          <p:cNvSpPr/>
          <p:nvPr/>
        </p:nvSpPr>
        <p:spPr>
          <a:xfrm>
            <a:off x="7456932" y="3520440"/>
            <a:ext cx="1819656" cy="347472"/>
          </a:xfrm>
          <a:prstGeom prst="rect">
            <a:avLst/>
          </a:prstGeom>
          <a:noFill/>
          <a:ln/>
        </p:spPr>
        <p:txBody>
          <a:bodyPr wrap="square" lIns="0" tIns="0" rIns="0" bIns="0" rtlCol="0" anchor="ctr"/>
          <a:lstStyle/>
          <a:p>
            <a:pPr algn="ctr" indent="0" marL="0">
              <a:buNone/>
            </a:pPr>
            <a:r>
              <a:rPr lang="en-US" sz="950" dirty="0">
                <a:solidFill>
                  <a:srgbClr val="6B7690"/>
                </a:solidFill>
                <a:latin typeface="Calibri" pitchFamily="34" charset="0"/>
                <a:ea typeface="Calibri" pitchFamily="34" charset="-122"/>
                <a:cs typeface="Calibri" pitchFamily="34" charset="-120"/>
              </a:rPr>
              <a:t>Reflects live metrics</a:t>
            </a:r>
            <a:endParaRPr lang="en-US" sz="950" dirty="0"/>
          </a:p>
        </p:txBody>
      </p:sp>
      <p:sp>
        <p:nvSpPr>
          <p:cNvPr id="28" name="Shape 26"/>
          <p:cNvSpPr/>
          <p:nvPr/>
        </p:nvSpPr>
        <p:spPr>
          <a:xfrm>
            <a:off x="9646920" y="2331720"/>
            <a:ext cx="1965960" cy="1554480"/>
          </a:xfrm>
          <a:prstGeom prst="roundRect">
            <a:avLst>
              <a:gd name="adj" fmla="val 7059"/>
            </a:avLst>
          </a:prstGeom>
          <a:solidFill>
            <a:srgbClr val="FFFFFF"/>
          </a:solidFill>
          <a:ln w="12700">
            <a:solidFill>
              <a:srgbClr val="E3E8F2"/>
            </a:solidFill>
            <a:prstDash val="solid"/>
          </a:ln>
          <a:effectLst>
            <a:outerShdw sx="100000" sy="100000" kx="0" ky="0" algn="bl" rotWithShape="0" blurRad="76200" dist="25400" dir="5400000">
              <a:srgbClr val="0B1533">
                <a:alpha val="12000"/>
              </a:srgbClr>
            </a:outerShdw>
          </a:effectLst>
        </p:spPr>
      </p:sp>
      <p:sp>
        <p:nvSpPr>
          <p:cNvPr id="29" name="Shape 27"/>
          <p:cNvSpPr/>
          <p:nvPr/>
        </p:nvSpPr>
        <p:spPr>
          <a:xfrm>
            <a:off x="10319004" y="2496312"/>
            <a:ext cx="621792" cy="621792"/>
          </a:xfrm>
          <a:prstGeom prst="ellipse">
            <a:avLst/>
          </a:prstGeom>
          <a:solidFill>
            <a:srgbClr val="E9F2FE"/>
          </a:solidFill>
          <a:ln/>
        </p:spPr>
      </p:sp>
      <p:sp>
        <p:nvSpPr>
          <p:cNvPr id="30" name="Text 28"/>
          <p:cNvSpPr/>
          <p:nvPr/>
        </p:nvSpPr>
        <p:spPr>
          <a:xfrm>
            <a:off x="10319004" y="2496312"/>
            <a:ext cx="621792" cy="621792"/>
          </a:xfrm>
          <a:prstGeom prst="rect">
            <a:avLst/>
          </a:prstGeom>
          <a:noFill/>
          <a:ln/>
        </p:spPr>
        <p:txBody>
          <a:bodyPr wrap="square" lIns="0" tIns="0" rIns="0" bIns="0" rtlCol="0" anchor="ctr"/>
          <a:lstStyle/>
          <a:p>
            <a:pPr algn="ctr" indent="0" marL="0">
              <a:buNone/>
            </a:pPr>
            <a:r>
              <a:rPr lang="en-US" sz="1768" b="1" dirty="0">
                <a:solidFill>
                  <a:srgbClr val="2EA0F5"/>
                </a:solidFill>
                <a:latin typeface="Calibri" pitchFamily="34" charset="0"/>
                <a:ea typeface="Calibri" pitchFamily="34" charset="-122"/>
                <a:cs typeface="Calibri" pitchFamily="34" charset="-120"/>
              </a:rPr>
              <a:t>↓</a:t>
            </a:r>
            <a:endParaRPr lang="en-US" sz="1768" dirty="0"/>
          </a:p>
        </p:txBody>
      </p:sp>
      <p:sp>
        <p:nvSpPr>
          <p:cNvPr id="31" name="Text 29"/>
          <p:cNvSpPr/>
          <p:nvPr/>
        </p:nvSpPr>
        <p:spPr>
          <a:xfrm>
            <a:off x="9720072" y="3191256"/>
            <a:ext cx="1819656" cy="347472"/>
          </a:xfrm>
          <a:prstGeom prst="rect">
            <a:avLst/>
          </a:prstGeom>
          <a:noFill/>
          <a:ln/>
        </p:spPr>
        <p:txBody>
          <a:bodyPr wrap="square" lIns="0" tIns="0" rIns="0" bIns="0" rtlCol="0" anchor="ctr"/>
          <a:lstStyle/>
          <a:p>
            <a:pPr algn="ctr" indent="0" marL="0">
              <a:buNone/>
            </a:pPr>
            <a:r>
              <a:rPr lang="en-US" sz="1250" b="1" dirty="0">
                <a:solidFill>
                  <a:srgbClr val="0B1533"/>
                </a:solidFill>
                <a:latin typeface="Cambria" pitchFamily="34" charset="0"/>
                <a:ea typeface="Cambria" pitchFamily="34" charset="-122"/>
                <a:cs typeface="Cambria" pitchFamily="34" charset="-120"/>
              </a:rPr>
              <a:t>Download / Restore</a:t>
            </a:r>
            <a:endParaRPr lang="en-US" sz="1250" dirty="0"/>
          </a:p>
        </p:txBody>
      </p:sp>
      <p:sp>
        <p:nvSpPr>
          <p:cNvPr id="32" name="Text 30"/>
          <p:cNvSpPr/>
          <p:nvPr/>
        </p:nvSpPr>
        <p:spPr>
          <a:xfrm>
            <a:off x="9720072" y="3520440"/>
            <a:ext cx="1819656" cy="347472"/>
          </a:xfrm>
          <a:prstGeom prst="rect">
            <a:avLst/>
          </a:prstGeom>
          <a:noFill/>
          <a:ln/>
        </p:spPr>
        <p:txBody>
          <a:bodyPr wrap="square" lIns="0" tIns="0" rIns="0" bIns="0" rtlCol="0" anchor="ctr"/>
          <a:lstStyle/>
          <a:p>
            <a:pPr algn="ctr" indent="0" marL="0">
              <a:buNone/>
            </a:pPr>
            <a:r>
              <a:rPr lang="en-US" sz="950" dirty="0">
                <a:solidFill>
                  <a:srgbClr val="6B7690"/>
                </a:solidFill>
                <a:latin typeface="Calibri" pitchFamily="34" charset="0"/>
                <a:ea typeface="Calibri" pitchFamily="34" charset="-122"/>
                <a:cs typeface="Calibri" pitchFamily="34" charset="-120"/>
              </a:rPr>
              <a:t>User retrieves files</a:t>
            </a:r>
            <a:endParaRPr lang="en-US" sz="950" dirty="0"/>
          </a:p>
        </p:txBody>
      </p:sp>
      <p:sp>
        <p:nvSpPr>
          <p:cNvPr id="33" name="Text 31"/>
          <p:cNvSpPr/>
          <p:nvPr/>
        </p:nvSpPr>
        <p:spPr>
          <a:xfrm>
            <a:off x="594360" y="4434840"/>
            <a:ext cx="10972800" cy="548640"/>
          </a:xfrm>
          <a:prstGeom prst="rect">
            <a:avLst/>
          </a:prstGeom>
          <a:noFill/>
          <a:ln/>
        </p:spPr>
        <p:txBody>
          <a:bodyPr wrap="square" lIns="0" tIns="0" rIns="0" bIns="0" rtlCol="0" anchor="ctr"/>
          <a:lstStyle/>
          <a:p>
            <a:pPr algn="ctr" indent="0" marL="0">
              <a:buNone/>
            </a:pPr>
            <a:r>
              <a:rPr lang="en-US" sz="1300" i="1" dirty="0">
                <a:solidFill>
                  <a:srgbClr val="6B7690"/>
                </a:solidFill>
                <a:latin typeface="Calibri" pitchFamily="34" charset="0"/>
                <a:ea typeface="Calibri" pitchFamily="34" charset="-122"/>
                <a:cs typeface="Calibri" pitchFamily="34" charset="-120"/>
              </a:rPr>
              <a:t>Every upload flows through Flask, splitting metadata into Azure SQL Database and the file itself into Azure Blob Storage — keeping the dashboard and audit trail always in sync.</a:t>
            </a:r>
            <a:endParaRPr lang="en-US" sz="1300" dirty="0"/>
          </a:p>
        </p:txBody>
      </p:sp>
      <p:sp>
        <p:nvSpPr>
          <p:cNvPr id="34" name="Text 32"/>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533"/>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System Architecture</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5CC8E6"/>
                </a:solidFill>
                <a:latin typeface="Calibri" pitchFamily="34" charset="0"/>
                <a:ea typeface="Calibri" pitchFamily="34" charset="-122"/>
                <a:cs typeface="Calibri" pitchFamily="34" charset="-120"/>
              </a:rPr>
              <a:t>LAYERED DESIGN</a:t>
            </a:r>
            <a:endParaRPr lang="en-US" sz="1100" dirty="0"/>
          </a:p>
        </p:txBody>
      </p:sp>
      <p:sp>
        <p:nvSpPr>
          <p:cNvPr id="4" name="Shape 2"/>
          <p:cNvSpPr/>
          <p:nvPr/>
        </p:nvSpPr>
        <p:spPr>
          <a:xfrm>
            <a:off x="4480560" y="1417320"/>
            <a:ext cx="3200400" cy="685800"/>
          </a:xfrm>
          <a:prstGeom prst="roundRect">
            <a:avLst>
              <a:gd name="adj" fmla="val 13333"/>
            </a:avLst>
          </a:prstGeom>
          <a:solidFill>
            <a:srgbClr val="142352"/>
          </a:solidFill>
          <a:ln w="12700">
            <a:solidFill>
              <a:srgbClr val="2A3B77"/>
            </a:solidFill>
            <a:prstDash val="solid"/>
          </a:ln>
        </p:spPr>
      </p:sp>
      <p:sp>
        <p:nvSpPr>
          <p:cNvPr id="5" name="Text 3"/>
          <p:cNvSpPr/>
          <p:nvPr/>
        </p:nvSpPr>
        <p:spPr>
          <a:xfrm>
            <a:off x="4480560" y="1490472"/>
            <a:ext cx="32004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User</a:t>
            </a:r>
            <a:endParaRPr lang="en-US" sz="1400" dirty="0"/>
          </a:p>
        </p:txBody>
      </p:sp>
      <p:sp>
        <p:nvSpPr>
          <p:cNvPr id="6" name="Text 4"/>
          <p:cNvSpPr/>
          <p:nvPr/>
        </p:nvSpPr>
        <p:spPr>
          <a:xfrm>
            <a:off x="4480560" y="1801368"/>
            <a:ext cx="3200400" cy="274320"/>
          </a:xfrm>
          <a:prstGeom prst="rect">
            <a:avLst/>
          </a:prstGeom>
          <a:noFill/>
          <a:ln/>
        </p:spPr>
        <p:txBody>
          <a:bodyPr wrap="square" lIns="0" tIns="0" rIns="0" bIns="0" rtlCol="0" anchor="ctr"/>
          <a:lstStyle/>
          <a:p>
            <a:pPr algn="ctr" indent="0" marL="0">
              <a:buNone/>
            </a:pPr>
            <a:r>
              <a:rPr lang="en-US" sz="1000" dirty="0">
                <a:solidFill>
                  <a:srgbClr val="CFE0FA"/>
                </a:solidFill>
                <a:latin typeface="Calibri" pitchFamily="34" charset="0"/>
                <a:ea typeface="Calibri" pitchFamily="34" charset="-122"/>
                <a:cs typeface="Calibri" pitchFamily="34" charset="-120"/>
              </a:rPr>
              <a:t>Browser-based access</a:t>
            </a:r>
            <a:endParaRPr lang="en-US" sz="1000" dirty="0"/>
          </a:p>
        </p:txBody>
      </p:sp>
      <p:sp>
        <p:nvSpPr>
          <p:cNvPr id="7" name="Shape 5"/>
          <p:cNvSpPr/>
          <p:nvPr/>
        </p:nvSpPr>
        <p:spPr>
          <a:xfrm>
            <a:off x="6080760" y="2103120"/>
            <a:ext cx="0" cy="228600"/>
          </a:xfrm>
          <a:prstGeom prst="line">
            <a:avLst/>
          </a:prstGeom>
          <a:noFill/>
          <a:ln w="25400">
            <a:solidFill>
              <a:srgbClr val="5CC8E6"/>
            </a:solidFill>
            <a:prstDash val="solid"/>
            <a:tailEnd type="triangle"/>
          </a:ln>
        </p:spPr>
      </p:sp>
      <p:sp>
        <p:nvSpPr>
          <p:cNvPr id="8" name="Shape 6"/>
          <p:cNvSpPr/>
          <p:nvPr/>
        </p:nvSpPr>
        <p:spPr>
          <a:xfrm>
            <a:off x="3566160" y="2331720"/>
            <a:ext cx="5029200" cy="731520"/>
          </a:xfrm>
          <a:prstGeom prst="roundRect">
            <a:avLst>
              <a:gd name="adj" fmla="val 12500"/>
            </a:avLst>
          </a:prstGeom>
          <a:solidFill>
            <a:srgbClr val="2EA0F5"/>
          </a:solidFill>
          <a:ln/>
        </p:spPr>
      </p:sp>
      <p:sp>
        <p:nvSpPr>
          <p:cNvPr id="9" name="Text 7"/>
          <p:cNvSpPr/>
          <p:nvPr/>
        </p:nvSpPr>
        <p:spPr>
          <a:xfrm>
            <a:off x="3566160" y="2423160"/>
            <a:ext cx="5029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Azure App Service  —  Flask Application</a:t>
            </a:r>
            <a:endParaRPr lang="en-US" sz="1400" dirty="0"/>
          </a:p>
        </p:txBody>
      </p:sp>
      <p:sp>
        <p:nvSpPr>
          <p:cNvPr id="10" name="Text 8"/>
          <p:cNvSpPr/>
          <p:nvPr/>
        </p:nvSpPr>
        <p:spPr>
          <a:xfrm>
            <a:off x="3566160" y="2752344"/>
            <a:ext cx="5029200" cy="274320"/>
          </a:xfrm>
          <a:prstGeom prst="rect">
            <a:avLst/>
          </a:prstGeom>
          <a:noFill/>
          <a:ln/>
        </p:spPr>
        <p:txBody>
          <a:bodyPr wrap="square" lIns="0" tIns="0" rIns="0" bIns="0" rtlCol="0" anchor="ctr"/>
          <a:lstStyle/>
          <a:p>
            <a:pPr algn="ctr" indent="0" marL="0">
              <a:buNone/>
            </a:pPr>
            <a:r>
              <a:rPr lang="en-US" sz="1000" dirty="0">
                <a:solidFill>
                  <a:srgbClr val="EAF6FF"/>
                </a:solidFill>
                <a:latin typeface="Calibri" pitchFamily="34" charset="0"/>
                <a:ea typeface="Calibri" pitchFamily="34" charset="-122"/>
                <a:cs typeface="Calibri" pitchFamily="34" charset="-120"/>
              </a:rPr>
              <a:t>Application logic, authentication &amp; routing</a:t>
            </a:r>
            <a:endParaRPr lang="en-US" sz="1000" dirty="0"/>
          </a:p>
        </p:txBody>
      </p:sp>
      <p:sp>
        <p:nvSpPr>
          <p:cNvPr id="11" name="Shape 9"/>
          <p:cNvSpPr/>
          <p:nvPr/>
        </p:nvSpPr>
        <p:spPr>
          <a:xfrm>
            <a:off x="4892040" y="3063240"/>
            <a:ext cx="-1234440" cy="320040"/>
          </a:xfrm>
          <a:prstGeom prst="line">
            <a:avLst/>
          </a:prstGeom>
          <a:noFill/>
          <a:ln w="25400">
            <a:solidFill>
              <a:srgbClr val="5CC8E6"/>
            </a:solidFill>
            <a:prstDash val="solid"/>
            <a:tailEnd type="triangle"/>
          </a:ln>
        </p:spPr>
      </p:sp>
      <p:sp>
        <p:nvSpPr>
          <p:cNvPr id="12" name="Shape 10"/>
          <p:cNvSpPr/>
          <p:nvPr/>
        </p:nvSpPr>
        <p:spPr>
          <a:xfrm>
            <a:off x="7315200" y="3063240"/>
            <a:ext cx="1234440" cy="320040"/>
          </a:xfrm>
          <a:prstGeom prst="line">
            <a:avLst/>
          </a:prstGeom>
          <a:noFill/>
          <a:ln w="25400">
            <a:solidFill>
              <a:srgbClr val="5CC8E6"/>
            </a:solidFill>
            <a:prstDash val="solid"/>
            <a:tailEnd type="triangle"/>
          </a:ln>
        </p:spPr>
      </p:sp>
      <p:sp>
        <p:nvSpPr>
          <p:cNvPr id="13" name="Shape 11"/>
          <p:cNvSpPr/>
          <p:nvPr/>
        </p:nvSpPr>
        <p:spPr>
          <a:xfrm>
            <a:off x="1828800" y="3383280"/>
            <a:ext cx="3931920" cy="914400"/>
          </a:xfrm>
          <a:prstGeom prst="roundRect">
            <a:avLst>
              <a:gd name="adj" fmla="val 10000"/>
            </a:avLst>
          </a:prstGeom>
          <a:solidFill>
            <a:srgbClr val="142352"/>
          </a:solidFill>
          <a:ln w="12700">
            <a:solidFill>
              <a:srgbClr val="2A3B77"/>
            </a:solidFill>
            <a:prstDash val="solid"/>
          </a:ln>
        </p:spPr>
      </p:sp>
      <p:sp>
        <p:nvSpPr>
          <p:cNvPr id="14" name="Shape 12"/>
          <p:cNvSpPr/>
          <p:nvPr/>
        </p:nvSpPr>
        <p:spPr>
          <a:xfrm>
            <a:off x="2057400" y="3547872"/>
            <a:ext cx="566928" cy="566928"/>
          </a:xfrm>
          <a:prstGeom prst="ellipse">
            <a:avLst/>
          </a:prstGeom>
          <a:solidFill>
            <a:srgbClr val="1B2C63"/>
          </a:solidFill>
          <a:ln/>
        </p:spPr>
      </p:sp>
      <p:sp>
        <p:nvSpPr>
          <p:cNvPr id="15" name="Text 13"/>
          <p:cNvSpPr/>
          <p:nvPr/>
        </p:nvSpPr>
        <p:spPr>
          <a:xfrm>
            <a:off x="2057400" y="3547872"/>
            <a:ext cx="566928" cy="566928"/>
          </a:xfrm>
          <a:prstGeom prst="rect">
            <a:avLst/>
          </a:prstGeom>
          <a:noFill/>
          <a:ln/>
        </p:spPr>
        <p:txBody>
          <a:bodyPr wrap="square" lIns="0" tIns="0" rIns="0" bIns="0" rtlCol="0" anchor="ctr"/>
          <a:lstStyle/>
          <a:p>
            <a:pPr algn="ctr" indent="0" marL="0">
              <a:buNone/>
            </a:pPr>
            <a:r>
              <a:rPr lang="en-US" sz="1612" b="1" dirty="0">
                <a:solidFill>
                  <a:srgbClr val="5CC8E6"/>
                </a:solidFill>
                <a:latin typeface="Calibri" pitchFamily="34" charset="0"/>
                <a:ea typeface="Calibri" pitchFamily="34" charset="-122"/>
                <a:cs typeface="Calibri" pitchFamily="34" charset="-120"/>
              </a:rPr>
              <a:t>⌸</a:t>
            </a:r>
            <a:endParaRPr lang="en-US" sz="1612" dirty="0"/>
          </a:p>
        </p:txBody>
      </p:sp>
      <p:sp>
        <p:nvSpPr>
          <p:cNvPr id="16" name="Text 14"/>
          <p:cNvSpPr/>
          <p:nvPr/>
        </p:nvSpPr>
        <p:spPr>
          <a:xfrm>
            <a:off x="2743200" y="3520440"/>
            <a:ext cx="2926080" cy="32004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Azure SQL Database</a:t>
            </a:r>
            <a:endParaRPr lang="en-US" sz="1350" dirty="0"/>
          </a:p>
        </p:txBody>
      </p:sp>
      <p:sp>
        <p:nvSpPr>
          <p:cNvPr id="17" name="Text 15"/>
          <p:cNvSpPr/>
          <p:nvPr/>
        </p:nvSpPr>
        <p:spPr>
          <a:xfrm>
            <a:off x="2743200" y="3858768"/>
            <a:ext cx="2926080" cy="365760"/>
          </a:xfrm>
          <a:prstGeom prst="rect">
            <a:avLst/>
          </a:prstGeom>
          <a:noFill/>
          <a:ln/>
        </p:spPr>
        <p:txBody>
          <a:bodyPr wrap="square" lIns="0" tIns="0" rIns="0" bIns="0" rtlCol="0" anchor="ctr"/>
          <a:lstStyle/>
          <a:p>
            <a:pPr indent="0" marL="0">
              <a:buNone/>
            </a:pPr>
            <a:r>
              <a:rPr lang="en-US" sz="1000" dirty="0">
                <a:solidFill>
                  <a:srgbClr val="CFE0FA"/>
                </a:solidFill>
                <a:latin typeface="Calibri" pitchFamily="34" charset="0"/>
                <a:ea typeface="Calibri" pitchFamily="34" charset="-122"/>
                <a:cs typeface="Calibri" pitchFamily="34" charset="-120"/>
              </a:rPr>
              <a:t>Users · Documents · Versions · Audits</a:t>
            </a:r>
            <a:endParaRPr lang="en-US" sz="1000" dirty="0"/>
          </a:p>
        </p:txBody>
      </p:sp>
      <p:sp>
        <p:nvSpPr>
          <p:cNvPr id="18" name="Shape 16"/>
          <p:cNvSpPr/>
          <p:nvPr/>
        </p:nvSpPr>
        <p:spPr>
          <a:xfrm>
            <a:off x="6400800" y="3383280"/>
            <a:ext cx="3931920" cy="914400"/>
          </a:xfrm>
          <a:prstGeom prst="roundRect">
            <a:avLst>
              <a:gd name="adj" fmla="val 10000"/>
            </a:avLst>
          </a:prstGeom>
          <a:solidFill>
            <a:srgbClr val="142352"/>
          </a:solidFill>
          <a:ln w="12700">
            <a:solidFill>
              <a:srgbClr val="2A3B77"/>
            </a:solidFill>
            <a:prstDash val="solid"/>
          </a:ln>
        </p:spPr>
      </p:sp>
      <p:sp>
        <p:nvSpPr>
          <p:cNvPr id="19" name="Shape 17"/>
          <p:cNvSpPr/>
          <p:nvPr/>
        </p:nvSpPr>
        <p:spPr>
          <a:xfrm>
            <a:off x="6629400" y="3547872"/>
            <a:ext cx="566928" cy="566928"/>
          </a:xfrm>
          <a:prstGeom prst="ellipse">
            <a:avLst/>
          </a:prstGeom>
          <a:solidFill>
            <a:srgbClr val="1B2C63"/>
          </a:solidFill>
          <a:ln/>
        </p:spPr>
      </p:sp>
      <p:sp>
        <p:nvSpPr>
          <p:cNvPr id="20" name="Text 18"/>
          <p:cNvSpPr/>
          <p:nvPr/>
        </p:nvSpPr>
        <p:spPr>
          <a:xfrm>
            <a:off x="6629400" y="3547872"/>
            <a:ext cx="566928" cy="566928"/>
          </a:xfrm>
          <a:prstGeom prst="rect">
            <a:avLst/>
          </a:prstGeom>
          <a:noFill/>
          <a:ln/>
        </p:spPr>
        <p:txBody>
          <a:bodyPr wrap="square" lIns="0" tIns="0" rIns="0" bIns="0" rtlCol="0" anchor="ctr"/>
          <a:lstStyle/>
          <a:p>
            <a:pPr algn="ctr" indent="0" marL="0">
              <a:buNone/>
            </a:pPr>
            <a:r>
              <a:rPr lang="en-US" sz="1612" b="1" dirty="0">
                <a:solidFill>
                  <a:srgbClr val="5CC8E6"/>
                </a:solidFill>
                <a:latin typeface="Calibri" pitchFamily="34" charset="0"/>
                <a:ea typeface="Calibri" pitchFamily="34" charset="-122"/>
                <a:cs typeface="Calibri" pitchFamily="34" charset="-120"/>
              </a:rPr>
              <a:t>▣</a:t>
            </a:r>
            <a:endParaRPr lang="en-US" sz="1612" dirty="0"/>
          </a:p>
        </p:txBody>
      </p:sp>
      <p:sp>
        <p:nvSpPr>
          <p:cNvPr id="21" name="Text 19"/>
          <p:cNvSpPr/>
          <p:nvPr/>
        </p:nvSpPr>
        <p:spPr>
          <a:xfrm>
            <a:off x="7315200" y="3520440"/>
            <a:ext cx="2926080" cy="32004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Azure Blob Storage</a:t>
            </a:r>
            <a:endParaRPr lang="en-US" sz="1350" dirty="0"/>
          </a:p>
        </p:txBody>
      </p:sp>
      <p:sp>
        <p:nvSpPr>
          <p:cNvPr id="22" name="Text 20"/>
          <p:cNvSpPr/>
          <p:nvPr/>
        </p:nvSpPr>
        <p:spPr>
          <a:xfrm>
            <a:off x="7315200" y="3858768"/>
            <a:ext cx="2926080" cy="365760"/>
          </a:xfrm>
          <a:prstGeom prst="rect">
            <a:avLst/>
          </a:prstGeom>
          <a:noFill/>
          <a:ln/>
        </p:spPr>
        <p:txBody>
          <a:bodyPr wrap="square" lIns="0" tIns="0" rIns="0" bIns="0" rtlCol="0" anchor="ctr"/>
          <a:lstStyle/>
          <a:p>
            <a:pPr indent="0" marL="0">
              <a:buNone/>
            </a:pPr>
            <a:r>
              <a:rPr lang="en-US" sz="1000" dirty="0">
                <a:solidFill>
                  <a:srgbClr val="CFE0FA"/>
                </a:solidFill>
                <a:latin typeface="Calibri" pitchFamily="34" charset="0"/>
                <a:ea typeface="Calibri" pitchFamily="34" charset="-122"/>
                <a:cs typeface="Calibri" pitchFamily="34" charset="-120"/>
              </a:rPr>
              <a:t>Versioned file storage, all uploads</a:t>
            </a:r>
            <a:endParaRPr lang="en-US" sz="1000" dirty="0"/>
          </a:p>
        </p:txBody>
      </p:sp>
      <p:sp>
        <p:nvSpPr>
          <p:cNvPr id="23" name="Shape 21"/>
          <p:cNvSpPr/>
          <p:nvPr/>
        </p:nvSpPr>
        <p:spPr>
          <a:xfrm>
            <a:off x="3794760" y="4297680"/>
            <a:ext cx="2286000" cy="320040"/>
          </a:xfrm>
          <a:prstGeom prst="line">
            <a:avLst/>
          </a:prstGeom>
          <a:noFill/>
          <a:ln w="25400">
            <a:solidFill>
              <a:srgbClr val="5CC8E6"/>
            </a:solidFill>
            <a:prstDash val="solid"/>
            <a:tailEnd type="triangle"/>
          </a:ln>
        </p:spPr>
      </p:sp>
      <p:sp>
        <p:nvSpPr>
          <p:cNvPr id="24" name="Shape 22"/>
          <p:cNvSpPr/>
          <p:nvPr/>
        </p:nvSpPr>
        <p:spPr>
          <a:xfrm>
            <a:off x="8366760" y="4297680"/>
            <a:ext cx="-2286000" cy="320040"/>
          </a:xfrm>
          <a:prstGeom prst="line">
            <a:avLst/>
          </a:prstGeom>
          <a:noFill/>
          <a:ln w="25400">
            <a:solidFill>
              <a:srgbClr val="5CC8E6"/>
            </a:solidFill>
            <a:prstDash val="solid"/>
            <a:tailEnd type="triangle"/>
          </a:ln>
        </p:spPr>
      </p:sp>
      <p:sp>
        <p:nvSpPr>
          <p:cNvPr id="25" name="Shape 23"/>
          <p:cNvSpPr/>
          <p:nvPr/>
        </p:nvSpPr>
        <p:spPr>
          <a:xfrm>
            <a:off x="3794760" y="4617720"/>
            <a:ext cx="4572000" cy="777240"/>
          </a:xfrm>
          <a:prstGeom prst="roundRect">
            <a:avLst>
              <a:gd name="adj" fmla="val 11765"/>
            </a:avLst>
          </a:prstGeom>
          <a:solidFill>
            <a:srgbClr val="142352"/>
          </a:solidFill>
          <a:ln w="19050">
            <a:solidFill>
              <a:srgbClr val="5CC8E6"/>
            </a:solidFill>
            <a:prstDash val="solid"/>
          </a:ln>
        </p:spPr>
      </p:sp>
      <p:sp>
        <p:nvSpPr>
          <p:cNvPr id="26" name="Text 24"/>
          <p:cNvSpPr/>
          <p:nvPr/>
        </p:nvSpPr>
        <p:spPr>
          <a:xfrm>
            <a:off x="3794760" y="4709160"/>
            <a:ext cx="45720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Dashboard  &amp;  Audit Logs</a:t>
            </a:r>
            <a:endParaRPr lang="en-US" sz="1400" dirty="0"/>
          </a:p>
        </p:txBody>
      </p:sp>
      <p:sp>
        <p:nvSpPr>
          <p:cNvPr id="27" name="Text 25"/>
          <p:cNvSpPr/>
          <p:nvPr/>
        </p:nvSpPr>
        <p:spPr>
          <a:xfrm>
            <a:off x="3794760" y="5038344"/>
            <a:ext cx="4572000" cy="274320"/>
          </a:xfrm>
          <a:prstGeom prst="rect">
            <a:avLst/>
          </a:prstGeom>
          <a:noFill/>
          <a:ln/>
        </p:spPr>
        <p:txBody>
          <a:bodyPr wrap="square" lIns="0" tIns="0" rIns="0" bIns="0" rtlCol="0" anchor="ctr"/>
          <a:lstStyle/>
          <a:p>
            <a:pPr algn="ctr" indent="0" marL="0">
              <a:buNone/>
            </a:pPr>
            <a:r>
              <a:rPr lang="en-US" sz="1000" dirty="0">
                <a:solidFill>
                  <a:srgbClr val="CFE0FA"/>
                </a:solidFill>
                <a:latin typeface="Calibri" pitchFamily="34" charset="0"/>
                <a:ea typeface="Calibri" pitchFamily="34" charset="-122"/>
                <a:cs typeface="Calibri" pitchFamily="34" charset="-120"/>
              </a:rPr>
              <a:t>Real-time metrics and full activity trail for every user</a:t>
            </a:r>
            <a:endParaRPr lang="en-US" sz="1000" dirty="0"/>
          </a:p>
        </p:txBody>
      </p:sp>
      <p:sp>
        <p:nvSpPr>
          <p:cNvPr id="28" name="Text 26"/>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8592B5"/>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Database Design</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AZURE SQL SCHEMA</a:t>
            </a:r>
            <a:endParaRPr lang="en-US" sz="1100" dirty="0"/>
          </a:p>
        </p:txBody>
      </p:sp>
      <p:sp>
        <p:nvSpPr>
          <p:cNvPr id="4" name="Shape 2"/>
          <p:cNvSpPr/>
          <p:nvPr/>
        </p:nvSpPr>
        <p:spPr>
          <a:xfrm>
            <a:off x="594360" y="1280160"/>
            <a:ext cx="2606040" cy="2377440"/>
          </a:xfrm>
          <a:prstGeom prst="roundRect">
            <a:avLst>
              <a:gd name="adj" fmla="val 3846"/>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5" name="Shape 3"/>
          <p:cNvSpPr/>
          <p:nvPr/>
        </p:nvSpPr>
        <p:spPr>
          <a:xfrm>
            <a:off x="594360" y="1280160"/>
            <a:ext cx="2606040" cy="457200"/>
          </a:xfrm>
          <a:prstGeom prst="roundRect">
            <a:avLst>
              <a:gd name="adj" fmla="val 20000"/>
            </a:avLst>
          </a:prstGeom>
          <a:solidFill>
            <a:srgbClr val="0B1533"/>
          </a:solidFill>
          <a:ln/>
        </p:spPr>
      </p:sp>
      <p:sp>
        <p:nvSpPr>
          <p:cNvPr id="6" name="Shape 4"/>
          <p:cNvSpPr/>
          <p:nvPr/>
        </p:nvSpPr>
        <p:spPr>
          <a:xfrm>
            <a:off x="594360" y="1554480"/>
            <a:ext cx="2606040" cy="182880"/>
          </a:xfrm>
          <a:prstGeom prst="rect">
            <a:avLst/>
          </a:prstGeom>
          <a:solidFill>
            <a:srgbClr val="0B1533"/>
          </a:solidFill>
          <a:ln/>
        </p:spPr>
      </p:sp>
      <p:sp>
        <p:nvSpPr>
          <p:cNvPr id="7" name="Text 5"/>
          <p:cNvSpPr/>
          <p:nvPr/>
        </p:nvSpPr>
        <p:spPr>
          <a:xfrm>
            <a:off x="594360" y="128016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Users</a:t>
            </a:r>
            <a:endParaRPr lang="en-US" sz="1500" dirty="0"/>
          </a:p>
        </p:txBody>
      </p:sp>
      <p:sp>
        <p:nvSpPr>
          <p:cNvPr id="8" name="Shape 6"/>
          <p:cNvSpPr/>
          <p:nvPr/>
        </p:nvSpPr>
        <p:spPr>
          <a:xfrm>
            <a:off x="795528" y="2020824"/>
            <a:ext cx="82296" cy="82296"/>
          </a:xfrm>
          <a:prstGeom prst="ellipse">
            <a:avLst/>
          </a:prstGeom>
          <a:solidFill>
            <a:srgbClr val="2EA0F5"/>
          </a:solidFill>
          <a:ln/>
        </p:spPr>
      </p:sp>
      <p:sp>
        <p:nvSpPr>
          <p:cNvPr id="9" name="Text 7"/>
          <p:cNvSpPr/>
          <p:nvPr/>
        </p:nvSpPr>
        <p:spPr>
          <a:xfrm>
            <a:off x="978408" y="1938528"/>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User Name</a:t>
            </a:r>
            <a:endParaRPr lang="en-US" sz="1150" dirty="0"/>
          </a:p>
        </p:txBody>
      </p:sp>
      <p:sp>
        <p:nvSpPr>
          <p:cNvPr id="10" name="Shape 8"/>
          <p:cNvSpPr/>
          <p:nvPr/>
        </p:nvSpPr>
        <p:spPr>
          <a:xfrm>
            <a:off x="795528" y="2404872"/>
            <a:ext cx="82296" cy="82296"/>
          </a:xfrm>
          <a:prstGeom prst="ellipse">
            <a:avLst/>
          </a:prstGeom>
          <a:solidFill>
            <a:srgbClr val="2EA0F5"/>
          </a:solidFill>
          <a:ln/>
        </p:spPr>
      </p:sp>
      <p:sp>
        <p:nvSpPr>
          <p:cNvPr id="11" name="Text 9"/>
          <p:cNvSpPr/>
          <p:nvPr/>
        </p:nvSpPr>
        <p:spPr>
          <a:xfrm>
            <a:off x="978408" y="2322576"/>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Email</a:t>
            </a:r>
            <a:endParaRPr lang="en-US" sz="1150" dirty="0"/>
          </a:p>
        </p:txBody>
      </p:sp>
      <p:sp>
        <p:nvSpPr>
          <p:cNvPr id="12" name="Shape 10"/>
          <p:cNvSpPr/>
          <p:nvPr/>
        </p:nvSpPr>
        <p:spPr>
          <a:xfrm>
            <a:off x="795528" y="2788920"/>
            <a:ext cx="82296" cy="82296"/>
          </a:xfrm>
          <a:prstGeom prst="ellipse">
            <a:avLst/>
          </a:prstGeom>
          <a:solidFill>
            <a:srgbClr val="2EA0F5"/>
          </a:solidFill>
          <a:ln/>
        </p:spPr>
      </p:sp>
      <p:sp>
        <p:nvSpPr>
          <p:cNvPr id="13" name="Text 11"/>
          <p:cNvSpPr/>
          <p:nvPr/>
        </p:nvSpPr>
        <p:spPr>
          <a:xfrm>
            <a:off x="978408" y="2706624"/>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Password</a:t>
            </a:r>
            <a:endParaRPr lang="en-US" sz="1150" dirty="0"/>
          </a:p>
        </p:txBody>
      </p:sp>
      <p:sp>
        <p:nvSpPr>
          <p:cNvPr id="14" name="Shape 12"/>
          <p:cNvSpPr/>
          <p:nvPr/>
        </p:nvSpPr>
        <p:spPr>
          <a:xfrm>
            <a:off x="795528" y="3172968"/>
            <a:ext cx="82296" cy="82296"/>
          </a:xfrm>
          <a:prstGeom prst="ellipse">
            <a:avLst/>
          </a:prstGeom>
          <a:solidFill>
            <a:srgbClr val="2EA0F5"/>
          </a:solidFill>
          <a:ln/>
        </p:spPr>
      </p:sp>
      <p:sp>
        <p:nvSpPr>
          <p:cNvPr id="15" name="Text 13"/>
          <p:cNvSpPr/>
          <p:nvPr/>
        </p:nvSpPr>
        <p:spPr>
          <a:xfrm>
            <a:off x="978408" y="3090672"/>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Role</a:t>
            </a:r>
            <a:endParaRPr lang="en-US" sz="1150" dirty="0"/>
          </a:p>
        </p:txBody>
      </p:sp>
      <p:sp>
        <p:nvSpPr>
          <p:cNvPr id="16" name="Shape 14"/>
          <p:cNvSpPr/>
          <p:nvPr/>
        </p:nvSpPr>
        <p:spPr>
          <a:xfrm>
            <a:off x="3364992" y="1280160"/>
            <a:ext cx="2606040" cy="2377440"/>
          </a:xfrm>
          <a:prstGeom prst="roundRect">
            <a:avLst>
              <a:gd name="adj" fmla="val 3846"/>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17" name="Shape 15"/>
          <p:cNvSpPr/>
          <p:nvPr/>
        </p:nvSpPr>
        <p:spPr>
          <a:xfrm>
            <a:off x="3364992" y="1280160"/>
            <a:ext cx="2606040" cy="457200"/>
          </a:xfrm>
          <a:prstGeom prst="roundRect">
            <a:avLst>
              <a:gd name="adj" fmla="val 20000"/>
            </a:avLst>
          </a:prstGeom>
          <a:solidFill>
            <a:srgbClr val="0B1533"/>
          </a:solidFill>
          <a:ln/>
        </p:spPr>
      </p:sp>
      <p:sp>
        <p:nvSpPr>
          <p:cNvPr id="18" name="Shape 16"/>
          <p:cNvSpPr/>
          <p:nvPr/>
        </p:nvSpPr>
        <p:spPr>
          <a:xfrm>
            <a:off x="3364992" y="1554480"/>
            <a:ext cx="2606040" cy="182880"/>
          </a:xfrm>
          <a:prstGeom prst="rect">
            <a:avLst/>
          </a:prstGeom>
          <a:solidFill>
            <a:srgbClr val="0B1533"/>
          </a:solidFill>
          <a:ln/>
        </p:spPr>
      </p:sp>
      <p:sp>
        <p:nvSpPr>
          <p:cNvPr id="19" name="Text 17"/>
          <p:cNvSpPr/>
          <p:nvPr/>
        </p:nvSpPr>
        <p:spPr>
          <a:xfrm>
            <a:off x="3364992" y="128016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Documents</a:t>
            </a:r>
            <a:endParaRPr lang="en-US" sz="1500" dirty="0"/>
          </a:p>
        </p:txBody>
      </p:sp>
      <p:sp>
        <p:nvSpPr>
          <p:cNvPr id="20" name="Shape 18"/>
          <p:cNvSpPr/>
          <p:nvPr/>
        </p:nvSpPr>
        <p:spPr>
          <a:xfrm>
            <a:off x="3566160" y="2020824"/>
            <a:ext cx="82296" cy="82296"/>
          </a:xfrm>
          <a:prstGeom prst="ellipse">
            <a:avLst/>
          </a:prstGeom>
          <a:solidFill>
            <a:srgbClr val="2EA0F5"/>
          </a:solidFill>
          <a:ln/>
        </p:spPr>
      </p:sp>
      <p:sp>
        <p:nvSpPr>
          <p:cNvPr id="21" name="Text 19"/>
          <p:cNvSpPr/>
          <p:nvPr/>
        </p:nvSpPr>
        <p:spPr>
          <a:xfrm>
            <a:off x="3749040" y="1938528"/>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Document Title</a:t>
            </a:r>
            <a:endParaRPr lang="en-US" sz="1150" dirty="0"/>
          </a:p>
        </p:txBody>
      </p:sp>
      <p:sp>
        <p:nvSpPr>
          <p:cNvPr id="22" name="Shape 20"/>
          <p:cNvSpPr/>
          <p:nvPr/>
        </p:nvSpPr>
        <p:spPr>
          <a:xfrm>
            <a:off x="3566160" y="2404872"/>
            <a:ext cx="82296" cy="82296"/>
          </a:xfrm>
          <a:prstGeom prst="ellipse">
            <a:avLst/>
          </a:prstGeom>
          <a:solidFill>
            <a:srgbClr val="2EA0F5"/>
          </a:solidFill>
          <a:ln/>
        </p:spPr>
      </p:sp>
      <p:sp>
        <p:nvSpPr>
          <p:cNvPr id="23" name="Text 21"/>
          <p:cNvSpPr/>
          <p:nvPr/>
        </p:nvSpPr>
        <p:spPr>
          <a:xfrm>
            <a:off x="3749040" y="2322576"/>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Owner</a:t>
            </a:r>
            <a:endParaRPr lang="en-US" sz="1150" dirty="0"/>
          </a:p>
        </p:txBody>
      </p:sp>
      <p:sp>
        <p:nvSpPr>
          <p:cNvPr id="24" name="Shape 22"/>
          <p:cNvSpPr/>
          <p:nvPr/>
        </p:nvSpPr>
        <p:spPr>
          <a:xfrm>
            <a:off x="3566160" y="2788920"/>
            <a:ext cx="82296" cy="82296"/>
          </a:xfrm>
          <a:prstGeom prst="ellipse">
            <a:avLst/>
          </a:prstGeom>
          <a:solidFill>
            <a:srgbClr val="2EA0F5"/>
          </a:solidFill>
          <a:ln/>
        </p:spPr>
      </p:sp>
      <p:sp>
        <p:nvSpPr>
          <p:cNvPr id="25" name="Text 23"/>
          <p:cNvSpPr/>
          <p:nvPr/>
        </p:nvSpPr>
        <p:spPr>
          <a:xfrm>
            <a:off x="3749040" y="2706624"/>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Latest Version</a:t>
            </a:r>
            <a:endParaRPr lang="en-US" sz="1150" dirty="0"/>
          </a:p>
        </p:txBody>
      </p:sp>
      <p:sp>
        <p:nvSpPr>
          <p:cNvPr id="26" name="Shape 24"/>
          <p:cNvSpPr/>
          <p:nvPr/>
        </p:nvSpPr>
        <p:spPr>
          <a:xfrm>
            <a:off x="6135624" y="1280160"/>
            <a:ext cx="2606040" cy="2377440"/>
          </a:xfrm>
          <a:prstGeom prst="roundRect">
            <a:avLst>
              <a:gd name="adj" fmla="val 3846"/>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27" name="Shape 25"/>
          <p:cNvSpPr/>
          <p:nvPr/>
        </p:nvSpPr>
        <p:spPr>
          <a:xfrm>
            <a:off x="6135624" y="1280160"/>
            <a:ext cx="2606040" cy="457200"/>
          </a:xfrm>
          <a:prstGeom prst="roundRect">
            <a:avLst>
              <a:gd name="adj" fmla="val 20000"/>
            </a:avLst>
          </a:prstGeom>
          <a:solidFill>
            <a:srgbClr val="0B1533"/>
          </a:solidFill>
          <a:ln/>
        </p:spPr>
      </p:sp>
      <p:sp>
        <p:nvSpPr>
          <p:cNvPr id="28" name="Shape 26"/>
          <p:cNvSpPr/>
          <p:nvPr/>
        </p:nvSpPr>
        <p:spPr>
          <a:xfrm>
            <a:off x="6135624" y="1554480"/>
            <a:ext cx="2606040" cy="182880"/>
          </a:xfrm>
          <a:prstGeom prst="rect">
            <a:avLst/>
          </a:prstGeom>
          <a:solidFill>
            <a:srgbClr val="0B1533"/>
          </a:solidFill>
          <a:ln/>
        </p:spPr>
      </p:sp>
      <p:sp>
        <p:nvSpPr>
          <p:cNvPr id="29" name="Text 27"/>
          <p:cNvSpPr/>
          <p:nvPr/>
        </p:nvSpPr>
        <p:spPr>
          <a:xfrm>
            <a:off x="6135624" y="128016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Versions</a:t>
            </a:r>
            <a:endParaRPr lang="en-US" sz="1500" dirty="0"/>
          </a:p>
        </p:txBody>
      </p:sp>
      <p:sp>
        <p:nvSpPr>
          <p:cNvPr id="30" name="Shape 28"/>
          <p:cNvSpPr/>
          <p:nvPr/>
        </p:nvSpPr>
        <p:spPr>
          <a:xfrm>
            <a:off x="6336792" y="2020824"/>
            <a:ext cx="82296" cy="82296"/>
          </a:xfrm>
          <a:prstGeom prst="ellipse">
            <a:avLst/>
          </a:prstGeom>
          <a:solidFill>
            <a:srgbClr val="2EA0F5"/>
          </a:solidFill>
          <a:ln/>
        </p:spPr>
      </p:sp>
      <p:sp>
        <p:nvSpPr>
          <p:cNvPr id="31" name="Text 29"/>
          <p:cNvSpPr/>
          <p:nvPr/>
        </p:nvSpPr>
        <p:spPr>
          <a:xfrm>
            <a:off x="6519672" y="1938528"/>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Version Number</a:t>
            </a:r>
            <a:endParaRPr lang="en-US" sz="1150" dirty="0"/>
          </a:p>
        </p:txBody>
      </p:sp>
      <p:sp>
        <p:nvSpPr>
          <p:cNvPr id="32" name="Shape 30"/>
          <p:cNvSpPr/>
          <p:nvPr/>
        </p:nvSpPr>
        <p:spPr>
          <a:xfrm>
            <a:off x="6336792" y="2404872"/>
            <a:ext cx="82296" cy="82296"/>
          </a:xfrm>
          <a:prstGeom prst="ellipse">
            <a:avLst/>
          </a:prstGeom>
          <a:solidFill>
            <a:srgbClr val="2EA0F5"/>
          </a:solidFill>
          <a:ln/>
        </p:spPr>
      </p:sp>
      <p:sp>
        <p:nvSpPr>
          <p:cNvPr id="33" name="Text 31"/>
          <p:cNvSpPr/>
          <p:nvPr/>
        </p:nvSpPr>
        <p:spPr>
          <a:xfrm>
            <a:off x="6519672" y="2322576"/>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Azure Version ID</a:t>
            </a:r>
            <a:endParaRPr lang="en-US" sz="1150" dirty="0"/>
          </a:p>
        </p:txBody>
      </p:sp>
      <p:sp>
        <p:nvSpPr>
          <p:cNvPr id="34" name="Shape 32"/>
          <p:cNvSpPr/>
          <p:nvPr/>
        </p:nvSpPr>
        <p:spPr>
          <a:xfrm>
            <a:off x="6336792" y="2788920"/>
            <a:ext cx="82296" cy="82296"/>
          </a:xfrm>
          <a:prstGeom prst="ellipse">
            <a:avLst/>
          </a:prstGeom>
          <a:solidFill>
            <a:srgbClr val="2EA0F5"/>
          </a:solidFill>
          <a:ln/>
        </p:spPr>
      </p:sp>
      <p:sp>
        <p:nvSpPr>
          <p:cNvPr id="35" name="Text 33"/>
          <p:cNvSpPr/>
          <p:nvPr/>
        </p:nvSpPr>
        <p:spPr>
          <a:xfrm>
            <a:off x="6519672" y="2706624"/>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File URL</a:t>
            </a:r>
            <a:endParaRPr lang="en-US" sz="1150" dirty="0"/>
          </a:p>
        </p:txBody>
      </p:sp>
      <p:sp>
        <p:nvSpPr>
          <p:cNvPr id="36" name="Shape 34"/>
          <p:cNvSpPr/>
          <p:nvPr/>
        </p:nvSpPr>
        <p:spPr>
          <a:xfrm>
            <a:off x="6336792" y="3172968"/>
            <a:ext cx="82296" cy="82296"/>
          </a:xfrm>
          <a:prstGeom prst="ellipse">
            <a:avLst/>
          </a:prstGeom>
          <a:solidFill>
            <a:srgbClr val="2EA0F5"/>
          </a:solidFill>
          <a:ln/>
        </p:spPr>
      </p:sp>
      <p:sp>
        <p:nvSpPr>
          <p:cNvPr id="37" name="Text 35"/>
          <p:cNvSpPr/>
          <p:nvPr/>
        </p:nvSpPr>
        <p:spPr>
          <a:xfrm>
            <a:off x="6519672" y="3090672"/>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Upload Time</a:t>
            </a:r>
            <a:endParaRPr lang="en-US" sz="1150" dirty="0"/>
          </a:p>
        </p:txBody>
      </p:sp>
      <p:sp>
        <p:nvSpPr>
          <p:cNvPr id="38" name="Shape 36"/>
          <p:cNvSpPr/>
          <p:nvPr/>
        </p:nvSpPr>
        <p:spPr>
          <a:xfrm>
            <a:off x="8906256" y="1280160"/>
            <a:ext cx="2606040" cy="2377440"/>
          </a:xfrm>
          <a:prstGeom prst="roundRect">
            <a:avLst>
              <a:gd name="adj" fmla="val 3846"/>
            </a:avLst>
          </a:prstGeom>
          <a:solidFill>
            <a:srgbClr val="FFFFFF"/>
          </a:solidFill>
          <a:ln w="12700">
            <a:solidFill>
              <a:srgbClr val="E3E8F2"/>
            </a:solidFill>
            <a:prstDash val="solid"/>
          </a:ln>
          <a:effectLst>
            <a:outerShdw sx="100000" sy="100000" kx="0" ky="0" algn="bl" rotWithShape="0" blurRad="76200" dist="25400" dir="5400000">
              <a:srgbClr val="0B1533">
                <a:alpha val="10000"/>
              </a:srgbClr>
            </a:outerShdw>
          </a:effectLst>
        </p:spPr>
      </p:sp>
      <p:sp>
        <p:nvSpPr>
          <p:cNvPr id="39" name="Shape 37"/>
          <p:cNvSpPr/>
          <p:nvPr/>
        </p:nvSpPr>
        <p:spPr>
          <a:xfrm>
            <a:off x="8906256" y="1280160"/>
            <a:ext cx="2606040" cy="457200"/>
          </a:xfrm>
          <a:prstGeom prst="roundRect">
            <a:avLst>
              <a:gd name="adj" fmla="val 20000"/>
            </a:avLst>
          </a:prstGeom>
          <a:solidFill>
            <a:srgbClr val="0B1533"/>
          </a:solidFill>
          <a:ln/>
        </p:spPr>
      </p:sp>
      <p:sp>
        <p:nvSpPr>
          <p:cNvPr id="40" name="Shape 38"/>
          <p:cNvSpPr/>
          <p:nvPr/>
        </p:nvSpPr>
        <p:spPr>
          <a:xfrm>
            <a:off x="8906256" y="1554480"/>
            <a:ext cx="2606040" cy="182880"/>
          </a:xfrm>
          <a:prstGeom prst="rect">
            <a:avLst/>
          </a:prstGeom>
          <a:solidFill>
            <a:srgbClr val="0B1533"/>
          </a:solidFill>
          <a:ln/>
        </p:spPr>
      </p:sp>
      <p:sp>
        <p:nvSpPr>
          <p:cNvPr id="41" name="Text 39"/>
          <p:cNvSpPr/>
          <p:nvPr/>
        </p:nvSpPr>
        <p:spPr>
          <a:xfrm>
            <a:off x="8906256" y="128016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Audits</a:t>
            </a:r>
            <a:endParaRPr lang="en-US" sz="1500" dirty="0"/>
          </a:p>
        </p:txBody>
      </p:sp>
      <p:sp>
        <p:nvSpPr>
          <p:cNvPr id="42" name="Shape 40"/>
          <p:cNvSpPr/>
          <p:nvPr/>
        </p:nvSpPr>
        <p:spPr>
          <a:xfrm>
            <a:off x="9107424" y="2020824"/>
            <a:ext cx="82296" cy="82296"/>
          </a:xfrm>
          <a:prstGeom prst="ellipse">
            <a:avLst/>
          </a:prstGeom>
          <a:solidFill>
            <a:srgbClr val="2EA0F5"/>
          </a:solidFill>
          <a:ln/>
        </p:spPr>
      </p:sp>
      <p:sp>
        <p:nvSpPr>
          <p:cNvPr id="43" name="Text 41"/>
          <p:cNvSpPr/>
          <p:nvPr/>
        </p:nvSpPr>
        <p:spPr>
          <a:xfrm>
            <a:off x="9290304" y="1938528"/>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User</a:t>
            </a:r>
            <a:endParaRPr lang="en-US" sz="1150" dirty="0"/>
          </a:p>
        </p:txBody>
      </p:sp>
      <p:sp>
        <p:nvSpPr>
          <p:cNvPr id="44" name="Shape 42"/>
          <p:cNvSpPr/>
          <p:nvPr/>
        </p:nvSpPr>
        <p:spPr>
          <a:xfrm>
            <a:off x="9107424" y="2404872"/>
            <a:ext cx="82296" cy="82296"/>
          </a:xfrm>
          <a:prstGeom prst="ellipse">
            <a:avLst/>
          </a:prstGeom>
          <a:solidFill>
            <a:srgbClr val="2EA0F5"/>
          </a:solidFill>
          <a:ln/>
        </p:spPr>
      </p:sp>
      <p:sp>
        <p:nvSpPr>
          <p:cNvPr id="45" name="Text 43"/>
          <p:cNvSpPr/>
          <p:nvPr/>
        </p:nvSpPr>
        <p:spPr>
          <a:xfrm>
            <a:off x="9290304" y="2322576"/>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Action</a:t>
            </a:r>
            <a:endParaRPr lang="en-US" sz="1150" dirty="0"/>
          </a:p>
        </p:txBody>
      </p:sp>
      <p:sp>
        <p:nvSpPr>
          <p:cNvPr id="46" name="Shape 44"/>
          <p:cNvSpPr/>
          <p:nvPr/>
        </p:nvSpPr>
        <p:spPr>
          <a:xfrm>
            <a:off x="9107424" y="2788920"/>
            <a:ext cx="82296" cy="82296"/>
          </a:xfrm>
          <a:prstGeom prst="ellipse">
            <a:avLst/>
          </a:prstGeom>
          <a:solidFill>
            <a:srgbClr val="2EA0F5"/>
          </a:solidFill>
          <a:ln/>
        </p:spPr>
      </p:sp>
      <p:sp>
        <p:nvSpPr>
          <p:cNvPr id="47" name="Text 45"/>
          <p:cNvSpPr/>
          <p:nvPr/>
        </p:nvSpPr>
        <p:spPr>
          <a:xfrm>
            <a:off x="9290304" y="2706624"/>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Timestamp</a:t>
            </a:r>
            <a:endParaRPr lang="en-US" sz="1150" dirty="0"/>
          </a:p>
        </p:txBody>
      </p:sp>
      <p:sp>
        <p:nvSpPr>
          <p:cNvPr id="48" name="Shape 46"/>
          <p:cNvSpPr/>
          <p:nvPr/>
        </p:nvSpPr>
        <p:spPr>
          <a:xfrm>
            <a:off x="9107424" y="3172968"/>
            <a:ext cx="82296" cy="82296"/>
          </a:xfrm>
          <a:prstGeom prst="ellipse">
            <a:avLst/>
          </a:prstGeom>
          <a:solidFill>
            <a:srgbClr val="2EA0F5"/>
          </a:solidFill>
          <a:ln/>
        </p:spPr>
      </p:sp>
      <p:sp>
        <p:nvSpPr>
          <p:cNvPr id="49" name="Text 47"/>
          <p:cNvSpPr/>
          <p:nvPr/>
        </p:nvSpPr>
        <p:spPr>
          <a:xfrm>
            <a:off x="9290304" y="3090672"/>
            <a:ext cx="2057400" cy="310896"/>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Document Name</a:t>
            </a:r>
            <a:endParaRPr lang="en-US" sz="1150" dirty="0"/>
          </a:p>
        </p:txBody>
      </p:sp>
      <p:sp>
        <p:nvSpPr>
          <p:cNvPr id="50" name="Text 48"/>
          <p:cNvSpPr/>
          <p:nvPr/>
        </p:nvSpPr>
        <p:spPr>
          <a:xfrm>
            <a:off x="594360" y="3794760"/>
            <a:ext cx="5394960" cy="822960"/>
          </a:xfrm>
          <a:prstGeom prst="rect">
            <a:avLst/>
          </a:prstGeom>
          <a:noFill/>
          <a:ln/>
        </p:spPr>
        <p:txBody>
          <a:bodyPr wrap="square" lIns="0" tIns="0" rIns="0" bIns="0" rtlCol="0" anchor="ctr"/>
          <a:lstStyle/>
          <a:p>
            <a:pPr indent="0" marL="0">
              <a:lnSpc>
                <a:spcPct val="125000"/>
              </a:lnSpc>
              <a:buNone/>
            </a:pPr>
            <a:r>
              <a:rPr lang="en-US" sz="1250" i="1" dirty="0">
                <a:solidFill>
                  <a:srgbClr val="6B7690"/>
                </a:solidFill>
                <a:latin typeface="Calibri" pitchFamily="34" charset="0"/>
                <a:ea typeface="Calibri" pitchFamily="34" charset="-122"/>
                <a:cs typeface="Calibri" pitchFamily="34" charset="-120"/>
              </a:rPr>
              <a:t>Azure SQL Database stores all structured metadata, while Azure Blob Storage holds the actual document files — linked through Version records.</a:t>
            </a:r>
            <a:endParaRPr lang="en-US" sz="1250" dirty="0"/>
          </a:p>
        </p:txBody>
      </p:sp>
      <p:sp>
        <p:nvSpPr>
          <p:cNvPr id="51" name="Text 49"/>
          <p:cNvSpPr/>
          <p:nvPr/>
        </p:nvSpPr>
        <p:spPr>
          <a:xfrm>
            <a:off x="6172200" y="3794760"/>
            <a:ext cx="5394960" cy="822960"/>
          </a:xfrm>
          <a:prstGeom prst="rect">
            <a:avLst/>
          </a:prstGeom>
          <a:noFill/>
          <a:ln/>
        </p:spPr>
        <p:txBody>
          <a:bodyPr wrap="square" lIns="0" tIns="0" rIns="0" bIns="0" rtlCol="0" anchor="ctr"/>
          <a:lstStyle/>
          <a:p>
            <a:pPr indent="0" marL="0">
              <a:lnSpc>
                <a:spcPct val="125000"/>
              </a:lnSpc>
              <a:buNone/>
            </a:pPr>
            <a:r>
              <a:rPr lang="en-US" sz="1250" i="1" dirty="0">
                <a:solidFill>
                  <a:srgbClr val="6B7690"/>
                </a:solidFill>
                <a:latin typeface="Calibri" pitchFamily="34" charset="0"/>
                <a:ea typeface="Calibri" pitchFamily="34" charset="-122"/>
                <a:cs typeface="Calibri" pitchFamily="34" charset="-120"/>
              </a:rPr>
              <a:t>Live activity log confirms the database scales automatically under application load.</a:t>
            </a:r>
            <a:endParaRPr lang="en-US" sz="1250" dirty="0"/>
          </a:p>
        </p:txBody>
      </p:sp>
      <p:sp>
        <p:nvSpPr>
          <p:cNvPr id="52" name="Shape 50"/>
          <p:cNvSpPr/>
          <p:nvPr/>
        </p:nvSpPr>
        <p:spPr>
          <a:xfrm>
            <a:off x="594360" y="4709160"/>
            <a:ext cx="5522976" cy="2764978"/>
          </a:xfrm>
          <a:prstGeom prst="roundRect">
            <a:avLst>
              <a:gd name="adj" fmla="val 1984"/>
            </a:avLst>
          </a:prstGeom>
          <a:solidFill>
            <a:srgbClr val="FFFFFF"/>
          </a:solidFill>
          <a:ln w="12700">
            <a:solidFill>
              <a:srgbClr val="E3E8F2"/>
            </a:solidFill>
            <a:prstDash val="solid"/>
          </a:ln>
          <a:effectLst>
            <a:outerShdw sx="100000" sy="100000" kx="0" ky="0" algn="bl" rotWithShape="0" blurRad="101600" dist="38100" dir="5400000">
              <a:srgbClr val="0B1533">
                <a:alpha val="15000"/>
              </a:srgbClr>
            </a:outerShdw>
          </a:effectLst>
        </p:spPr>
      </p:sp>
      <p:pic>
        <p:nvPicPr>
          <p:cNvPr id="53" name="Image 0" descr="/home/claude/proj/cropped/azuresqldatabase.png">    </p:cNvPr>
          <p:cNvPicPr>
            <a:picLocks noChangeAspect="1"/>
          </p:cNvPicPr>
          <p:nvPr/>
        </p:nvPicPr>
        <p:blipFill>
          <a:blip r:embed="rId1"/>
          <a:stretch>
            <a:fillRect/>
          </a:stretch>
        </p:blipFill>
        <p:spPr>
          <a:xfrm>
            <a:off x="658368" y="4773168"/>
            <a:ext cx="5394960" cy="2636962"/>
          </a:xfrm>
          <a:prstGeom prst="rect">
            <a:avLst/>
          </a:prstGeom>
        </p:spPr>
      </p:pic>
      <p:sp>
        <p:nvSpPr>
          <p:cNvPr id="54" name="Shape 51"/>
          <p:cNvSpPr/>
          <p:nvPr/>
        </p:nvSpPr>
        <p:spPr>
          <a:xfrm>
            <a:off x="6172200" y="4709160"/>
            <a:ext cx="5522976" cy="2764978"/>
          </a:xfrm>
          <a:prstGeom prst="roundRect">
            <a:avLst>
              <a:gd name="adj" fmla="val 1984"/>
            </a:avLst>
          </a:prstGeom>
          <a:solidFill>
            <a:srgbClr val="FFFFFF"/>
          </a:solidFill>
          <a:ln w="12700">
            <a:solidFill>
              <a:srgbClr val="E3E8F2"/>
            </a:solidFill>
            <a:prstDash val="solid"/>
          </a:ln>
          <a:effectLst>
            <a:outerShdw sx="100000" sy="100000" kx="0" ky="0" algn="bl" rotWithShape="0" blurRad="101600" dist="38100" dir="5400000">
              <a:srgbClr val="0B1533">
                <a:alpha val="15000"/>
              </a:srgbClr>
            </a:outerShdw>
          </a:effectLst>
        </p:spPr>
      </p:sp>
      <p:pic>
        <p:nvPicPr>
          <p:cNvPr id="55" name="Image 1" descr="/home/claude/proj/cropped/azuredatabase.png">    </p:cNvPr>
          <p:cNvPicPr>
            <a:picLocks noChangeAspect="1"/>
          </p:cNvPicPr>
          <p:nvPr/>
        </p:nvPicPr>
        <p:blipFill>
          <a:blip r:embed="rId2"/>
          <a:stretch>
            <a:fillRect/>
          </a:stretch>
        </p:blipFill>
        <p:spPr>
          <a:xfrm>
            <a:off x="6236208" y="4773168"/>
            <a:ext cx="5394960" cy="2636962"/>
          </a:xfrm>
          <a:prstGeom prst="rect">
            <a:avLst/>
          </a:prstGeom>
        </p:spPr>
      </p:pic>
      <p:sp>
        <p:nvSpPr>
          <p:cNvPr id="56" name="Text 52"/>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Project Features</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WHAT USERS CAN DO</a:t>
            </a:r>
            <a:endParaRPr lang="en-US" sz="1100" dirty="0"/>
          </a:p>
        </p:txBody>
      </p:sp>
      <p:sp>
        <p:nvSpPr>
          <p:cNvPr id="4" name="Shape 2"/>
          <p:cNvSpPr/>
          <p:nvPr/>
        </p:nvSpPr>
        <p:spPr>
          <a:xfrm>
            <a:off x="594360" y="1298448"/>
            <a:ext cx="4892040" cy="786384"/>
          </a:xfrm>
          <a:prstGeom prst="roundRect">
            <a:avLst>
              <a:gd name="adj" fmla="val 9302"/>
            </a:avLst>
          </a:prstGeom>
          <a:solidFill>
            <a:srgbClr val="FFFFFF"/>
          </a:solidFill>
          <a:ln w="12700">
            <a:solidFill>
              <a:srgbClr val="E3E8F2"/>
            </a:solidFill>
            <a:prstDash val="solid"/>
          </a:ln>
        </p:spPr>
      </p:sp>
      <p:sp>
        <p:nvSpPr>
          <p:cNvPr id="5" name="Shape 3"/>
          <p:cNvSpPr/>
          <p:nvPr/>
        </p:nvSpPr>
        <p:spPr>
          <a:xfrm>
            <a:off x="758952" y="1435608"/>
            <a:ext cx="512064" cy="512064"/>
          </a:xfrm>
          <a:prstGeom prst="ellipse">
            <a:avLst/>
          </a:prstGeom>
          <a:solidFill>
            <a:srgbClr val="E9F2FE"/>
          </a:solidFill>
          <a:ln/>
        </p:spPr>
      </p:sp>
      <p:sp>
        <p:nvSpPr>
          <p:cNvPr id="6" name="Text 4"/>
          <p:cNvSpPr/>
          <p:nvPr/>
        </p:nvSpPr>
        <p:spPr>
          <a:xfrm>
            <a:off x="758952" y="1435608"/>
            <a:ext cx="512064" cy="512064"/>
          </a:xfrm>
          <a:prstGeom prst="rect">
            <a:avLst/>
          </a:prstGeom>
          <a:noFill/>
          <a:ln/>
        </p:spPr>
        <p:txBody>
          <a:bodyPr wrap="square" lIns="0" tIns="0" rIns="0" bIns="0" rtlCol="0" anchor="ctr"/>
          <a:lstStyle/>
          <a:p>
            <a:pPr algn="ctr" indent="0" marL="0">
              <a:buNone/>
            </a:pPr>
            <a:r>
              <a:rPr lang="en-US" sz="1456" b="1" dirty="0">
                <a:solidFill>
                  <a:srgbClr val="2EA0F5"/>
                </a:solidFill>
                <a:latin typeface="Calibri" pitchFamily="34" charset="0"/>
                <a:ea typeface="Calibri" pitchFamily="34" charset="-122"/>
                <a:cs typeface="Calibri" pitchFamily="34" charset="-120"/>
              </a:rPr>
              <a:t>1</a:t>
            </a:r>
            <a:endParaRPr lang="en-US" sz="1456" dirty="0"/>
          </a:p>
        </p:txBody>
      </p:sp>
      <p:sp>
        <p:nvSpPr>
          <p:cNvPr id="7" name="Text 5"/>
          <p:cNvSpPr/>
          <p:nvPr/>
        </p:nvSpPr>
        <p:spPr>
          <a:xfrm>
            <a:off x="1417320" y="1371600"/>
            <a:ext cx="3931920" cy="310896"/>
          </a:xfrm>
          <a:prstGeom prst="rect">
            <a:avLst/>
          </a:prstGeom>
          <a:noFill/>
          <a:ln/>
        </p:spPr>
        <p:txBody>
          <a:bodyPr wrap="square" lIns="0" tIns="0" rIns="0" bIns="0" rtlCol="0" anchor="ctr"/>
          <a:lstStyle/>
          <a:p>
            <a:pPr indent="0" marL="0">
              <a:buNone/>
            </a:pPr>
            <a:r>
              <a:rPr lang="en-US" sz="1350" b="1" dirty="0">
                <a:solidFill>
                  <a:srgbClr val="0B1533"/>
                </a:solidFill>
                <a:latin typeface="Cambria" pitchFamily="34" charset="0"/>
                <a:ea typeface="Cambria" pitchFamily="34" charset="-122"/>
                <a:cs typeface="Cambria" pitchFamily="34" charset="-120"/>
              </a:rPr>
              <a:t>Authentication</a:t>
            </a:r>
            <a:endParaRPr lang="en-US" sz="1350" dirty="0"/>
          </a:p>
        </p:txBody>
      </p:sp>
      <p:sp>
        <p:nvSpPr>
          <p:cNvPr id="8" name="Text 6"/>
          <p:cNvSpPr/>
          <p:nvPr/>
        </p:nvSpPr>
        <p:spPr>
          <a:xfrm>
            <a:off x="1417320" y="1682496"/>
            <a:ext cx="3931920" cy="347472"/>
          </a:xfrm>
          <a:prstGeom prst="rect">
            <a:avLst/>
          </a:prstGeom>
          <a:noFill/>
          <a:ln/>
        </p:spPr>
        <p:txBody>
          <a:bodyPr wrap="square" lIns="0" tIns="0" rIns="0" bIns="0" rtlCol="0" anchor="ctr"/>
          <a:lstStyle/>
          <a:p>
            <a:pPr indent="0" marL="0">
              <a:buNone/>
            </a:pPr>
            <a:r>
              <a:rPr lang="en-US" sz="1050" dirty="0">
                <a:solidFill>
                  <a:srgbClr val="6B7690"/>
                </a:solidFill>
                <a:latin typeface="Calibri" pitchFamily="34" charset="0"/>
                <a:ea typeface="Calibri" pitchFamily="34" charset="-122"/>
                <a:cs typeface="Calibri" pitchFamily="34" charset="-120"/>
              </a:rPr>
              <a:t>Register, log in, and log out securely</a:t>
            </a:r>
            <a:endParaRPr lang="en-US" sz="1050" dirty="0"/>
          </a:p>
        </p:txBody>
      </p:sp>
      <p:sp>
        <p:nvSpPr>
          <p:cNvPr id="9" name="Shape 7"/>
          <p:cNvSpPr/>
          <p:nvPr/>
        </p:nvSpPr>
        <p:spPr>
          <a:xfrm>
            <a:off x="594360" y="2212848"/>
            <a:ext cx="4892040" cy="786384"/>
          </a:xfrm>
          <a:prstGeom prst="roundRect">
            <a:avLst>
              <a:gd name="adj" fmla="val 9302"/>
            </a:avLst>
          </a:prstGeom>
          <a:solidFill>
            <a:srgbClr val="FFFFFF"/>
          </a:solidFill>
          <a:ln w="12700">
            <a:solidFill>
              <a:srgbClr val="E3E8F2"/>
            </a:solidFill>
            <a:prstDash val="solid"/>
          </a:ln>
        </p:spPr>
      </p:sp>
      <p:sp>
        <p:nvSpPr>
          <p:cNvPr id="10" name="Shape 8"/>
          <p:cNvSpPr/>
          <p:nvPr/>
        </p:nvSpPr>
        <p:spPr>
          <a:xfrm>
            <a:off x="758952" y="2350008"/>
            <a:ext cx="512064" cy="512064"/>
          </a:xfrm>
          <a:prstGeom prst="ellipse">
            <a:avLst/>
          </a:prstGeom>
          <a:solidFill>
            <a:srgbClr val="E9F2FE"/>
          </a:solidFill>
          <a:ln/>
        </p:spPr>
      </p:sp>
      <p:sp>
        <p:nvSpPr>
          <p:cNvPr id="11" name="Text 9"/>
          <p:cNvSpPr/>
          <p:nvPr/>
        </p:nvSpPr>
        <p:spPr>
          <a:xfrm>
            <a:off x="758952" y="2350008"/>
            <a:ext cx="512064" cy="512064"/>
          </a:xfrm>
          <a:prstGeom prst="rect">
            <a:avLst/>
          </a:prstGeom>
          <a:noFill/>
          <a:ln/>
        </p:spPr>
        <p:txBody>
          <a:bodyPr wrap="square" lIns="0" tIns="0" rIns="0" bIns="0" rtlCol="0" anchor="ctr"/>
          <a:lstStyle/>
          <a:p>
            <a:pPr algn="ctr" indent="0" marL="0">
              <a:buNone/>
            </a:pPr>
            <a:r>
              <a:rPr lang="en-US" sz="1456" b="1" dirty="0">
                <a:solidFill>
                  <a:srgbClr val="2EA0F5"/>
                </a:solidFill>
                <a:latin typeface="Calibri" pitchFamily="34" charset="0"/>
                <a:ea typeface="Calibri" pitchFamily="34" charset="-122"/>
                <a:cs typeface="Calibri" pitchFamily="34" charset="-120"/>
              </a:rPr>
              <a:t>2</a:t>
            </a:r>
            <a:endParaRPr lang="en-US" sz="1456" dirty="0"/>
          </a:p>
        </p:txBody>
      </p:sp>
      <p:sp>
        <p:nvSpPr>
          <p:cNvPr id="12" name="Text 10"/>
          <p:cNvSpPr/>
          <p:nvPr/>
        </p:nvSpPr>
        <p:spPr>
          <a:xfrm>
            <a:off x="1417320" y="2286000"/>
            <a:ext cx="3931920" cy="310896"/>
          </a:xfrm>
          <a:prstGeom prst="rect">
            <a:avLst/>
          </a:prstGeom>
          <a:noFill/>
          <a:ln/>
        </p:spPr>
        <p:txBody>
          <a:bodyPr wrap="square" lIns="0" tIns="0" rIns="0" bIns="0" rtlCol="0" anchor="ctr"/>
          <a:lstStyle/>
          <a:p>
            <a:pPr indent="0" marL="0">
              <a:buNone/>
            </a:pPr>
            <a:r>
              <a:rPr lang="en-US" sz="1350" b="1" dirty="0">
                <a:solidFill>
                  <a:srgbClr val="0B1533"/>
                </a:solidFill>
                <a:latin typeface="Cambria" pitchFamily="34" charset="0"/>
                <a:ea typeface="Cambria" pitchFamily="34" charset="-122"/>
                <a:cs typeface="Cambria" pitchFamily="34" charset="-120"/>
              </a:rPr>
              <a:t>Dashboard</a:t>
            </a:r>
            <a:endParaRPr lang="en-US" sz="1350" dirty="0"/>
          </a:p>
        </p:txBody>
      </p:sp>
      <p:sp>
        <p:nvSpPr>
          <p:cNvPr id="13" name="Text 11"/>
          <p:cNvSpPr/>
          <p:nvPr/>
        </p:nvSpPr>
        <p:spPr>
          <a:xfrm>
            <a:off x="1417320" y="2596896"/>
            <a:ext cx="3931920" cy="347472"/>
          </a:xfrm>
          <a:prstGeom prst="rect">
            <a:avLst/>
          </a:prstGeom>
          <a:noFill/>
          <a:ln/>
        </p:spPr>
        <p:txBody>
          <a:bodyPr wrap="square" lIns="0" tIns="0" rIns="0" bIns="0" rtlCol="0" anchor="ctr"/>
          <a:lstStyle/>
          <a:p>
            <a:pPr indent="0" marL="0">
              <a:buNone/>
            </a:pPr>
            <a:r>
              <a:rPr lang="en-US" sz="1050" dirty="0">
                <a:solidFill>
                  <a:srgbClr val="6B7690"/>
                </a:solidFill>
                <a:latin typeface="Calibri" pitchFamily="34" charset="0"/>
                <a:ea typeface="Calibri" pitchFamily="34" charset="-122"/>
                <a:cs typeface="Calibri" pitchFamily="34" charset="-120"/>
              </a:rPr>
              <a:t>Live totals: documents, versions, users, storage</a:t>
            </a:r>
            <a:endParaRPr lang="en-US" sz="1050" dirty="0"/>
          </a:p>
        </p:txBody>
      </p:sp>
      <p:sp>
        <p:nvSpPr>
          <p:cNvPr id="14" name="Shape 12"/>
          <p:cNvSpPr/>
          <p:nvPr/>
        </p:nvSpPr>
        <p:spPr>
          <a:xfrm>
            <a:off x="594360" y="3127248"/>
            <a:ext cx="4892040" cy="786384"/>
          </a:xfrm>
          <a:prstGeom prst="roundRect">
            <a:avLst>
              <a:gd name="adj" fmla="val 9302"/>
            </a:avLst>
          </a:prstGeom>
          <a:solidFill>
            <a:srgbClr val="FFFFFF"/>
          </a:solidFill>
          <a:ln w="12700">
            <a:solidFill>
              <a:srgbClr val="E3E8F2"/>
            </a:solidFill>
            <a:prstDash val="solid"/>
          </a:ln>
        </p:spPr>
      </p:sp>
      <p:sp>
        <p:nvSpPr>
          <p:cNvPr id="15" name="Shape 13"/>
          <p:cNvSpPr/>
          <p:nvPr/>
        </p:nvSpPr>
        <p:spPr>
          <a:xfrm>
            <a:off x="758952" y="3264408"/>
            <a:ext cx="512064" cy="512064"/>
          </a:xfrm>
          <a:prstGeom prst="ellipse">
            <a:avLst/>
          </a:prstGeom>
          <a:solidFill>
            <a:srgbClr val="E9F2FE"/>
          </a:solidFill>
          <a:ln/>
        </p:spPr>
      </p:sp>
      <p:sp>
        <p:nvSpPr>
          <p:cNvPr id="16" name="Text 14"/>
          <p:cNvSpPr/>
          <p:nvPr/>
        </p:nvSpPr>
        <p:spPr>
          <a:xfrm>
            <a:off x="758952" y="3264408"/>
            <a:ext cx="512064" cy="512064"/>
          </a:xfrm>
          <a:prstGeom prst="rect">
            <a:avLst/>
          </a:prstGeom>
          <a:noFill/>
          <a:ln/>
        </p:spPr>
        <p:txBody>
          <a:bodyPr wrap="square" lIns="0" tIns="0" rIns="0" bIns="0" rtlCol="0" anchor="ctr"/>
          <a:lstStyle/>
          <a:p>
            <a:pPr algn="ctr" indent="0" marL="0">
              <a:buNone/>
            </a:pPr>
            <a:r>
              <a:rPr lang="en-US" sz="1456" b="1" dirty="0">
                <a:solidFill>
                  <a:srgbClr val="2EA0F5"/>
                </a:solidFill>
                <a:latin typeface="Calibri" pitchFamily="34" charset="0"/>
                <a:ea typeface="Calibri" pitchFamily="34" charset="-122"/>
                <a:cs typeface="Calibri" pitchFamily="34" charset="-120"/>
              </a:rPr>
              <a:t>3</a:t>
            </a:r>
            <a:endParaRPr lang="en-US" sz="1456" dirty="0"/>
          </a:p>
        </p:txBody>
      </p:sp>
      <p:sp>
        <p:nvSpPr>
          <p:cNvPr id="17" name="Text 15"/>
          <p:cNvSpPr/>
          <p:nvPr/>
        </p:nvSpPr>
        <p:spPr>
          <a:xfrm>
            <a:off x="1417320" y="3200400"/>
            <a:ext cx="3931920" cy="310896"/>
          </a:xfrm>
          <a:prstGeom prst="rect">
            <a:avLst/>
          </a:prstGeom>
          <a:noFill/>
          <a:ln/>
        </p:spPr>
        <p:txBody>
          <a:bodyPr wrap="square" lIns="0" tIns="0" rIns="0" bIns="0" rtlCol="0" anchor="ctr"/>
          <a:lstStyle/>
          <a:p>
            <a:pPr indent="0" marL="0">
              <a:buNone/>
            </a:pPr>
            <a:r>
              <a:rPr lang="en-US" sz="1350" b="1" dirty="0">
                <a:solidFill>
                  <a:srgbClr val="0B1533"/>
                </a:solidFill>
                <a:latin typeface="Cambria" pitchFamily="34" charset="0"/>
                <a:ea typeface="Cambria" pitchFamily="34" charset="-122"/>
                <a:cs typeface="Cambria" pitchFamily="34" charset="-120"/>
              </a:rPr>
              <a:t>Document Management</a:t>
            </a:r>
            <a:endParaRPr lang="en-US" sz="1350" dirty="0"/>
          </a:p>
        </p:txBody>
      </p:sp>
      <p:sp>
        <p:nvSpPr>
          <p:cNvPr id="18" name="Text 16"/>
          <p:cNvSpPr/>
          <p:nvPr/>
        </p:nvSpPr>
        <p:spPr>
          <a:xfrm>
            <a:off x="1417320" y="3511296"/>
            <a:ext cx="3931920" cy="347472"/>
          </a:xfrm>
          <a:prstGeom prst="rect">
            <a:avLst/>
          </a:prstGeom>
          <a:noFill/>
          <a:ln/>
        </p:spPr>
        <p:txBody>
          <a:bodyPr wrap="square" lIns="0" tIns="0" rIns="0" bIns="0" rtlCol="0" anchor="ctr"/>
          <a:lstStyle/>
          <a:p>
            <a:pPr indent="0" marL="0">
              <a:buNone/>
            </a:pPr>
            <a:r>
              <a:rPr lang="en-US" sz="1050" dirty="0">
                <a:solidFill>
                  <a:srgbClr val="6B7690"/>
                </a:solidFill>
                <a:latin typeface="Calibri" pitchFamily="34" charset="0"/>
                <a:ea typeface="Calibri" pitchFamily="34" charset="-122"/>
                <a:cs typeface="Calibri" pitchFamily="34" charset="-120"/>
              </a:rPr>
              <a:t>Upload, download, and delete files</a:t>
            </a:r>
            <a:endParaRPr lang="en-US" sz="1050" dirty="0"/>
          </a:p>
        </p:txBody>
      </p:sp>
      <p:sp>
        <p:nvSpPr>
          <p:cNvPr id="19" name="Shape 17"/>
          <p:cNvSpPr/>
          <p:nvPr/>
        </p:nvSpPr>
        <p:spPr>
          <a:xfrm>
            <a:off x="594360" y="4041648"/>
            <a:ext cx="4892040" cy="786384"/>
          </a:xfrm>
          <a:prstGeom prst="roundRect">
            <a:avLst>
              <a:gd name="adj" fmla="val 9302"/>
            </a:avLst>
          </a:prstGeom>
          <a:solidFill>
            <a:srgbClr val="FFFFFF"/>
          </a:solidFill>
          <a:ln w="12700">
            <a:solidFill>
              <a:srgbClr val="E3E8F2"/>
            </a:solidFill>
            <a:prstDash val="solid"/>
          </a:ln>
        </p:spPr>
      </p:sp>
      <p:sp>
        <p:nvSpPr>
          <p:cNvPr id="20" name="Shape 18"/>
          <p:cNvSpPr/>
          <p:nvPr/>
        </p:nvSpPr>
        <p:spPr>
          <a:xfrm>
            <a:off x="758952" y="4178808"/>
            <a:ext cx="512064" cy="512064"/>
          </a:xfrm>
          <a:prstGeom prst="ellipse">
            <a:avLst/>
          </a:prstGeom>
          <a:solidFill>
            <a:srgbClr val="E9F2FE"/>
          </a:solidFill>
          <a:ln/>
        </p:spPr>
      </p:sp>
      <p:sp>
        <p:nvSpPr>
          <p:cNvPr id="21" name="Text 19"/>
          <p:cNvSpPr/>
          <p:nvPr/>
        </p:nvSpPr>
        <p:spPr>
          <a:xfrm>
            <a:off x="758952" y="4178808"/>
            <a:ext cx="512064" cy="512064"/>
          </a:xfrm>
          <a:prstGeom prst="rect">
            <a:avLst/>
          </a:prstGeom>
          <a:noFill/>
          <a:ln/>
        </p:spPr>
        <p:txBody>
          <a:bodyPr wrap="square" lIns="0" tIns="0" rIns="0" bIns="0" rtlCol="0" anchor="ctr"/>
          <a:lstStyle/>
          <a:p>
            <a:pPr algn="ctr" indent="0" marL="0">
              <a:buNone/>
            </a:pPr>
            <a:r>
              <a:rPr lang="en-US" sz="1456" b="1" dirty="0">
                <a:solidFill>
                  <a:srgbClr val="2EA0F5"/>
                </a:solidFill>
                <a:latin typeface="Calibri" pitchFamily="34" charset="0"/>
                <a:ea typeface="Calibri" pitchFamily="34" charset="-122"/>
                <a:cs typeface="Calibri" pitchFamily="34" charset="-120"/>
              </a:rPr>
              <a:t>4</a:t>
            </a:r>
            <a:endParaRPr lang="en-US" sz="1456" dirty="0"/>
          </a:p>
        </p:txBody>
      </p:sp>
      <p:sp>
        <p:nvSpPr>
          <p:cNvPr id="22" name="Text 20"/>
          <p:cNvSpPr/>
          <p:nvPr/>
        </p:nvSpPr>
        <p:spPr>
          <a:xfrm>
            <a:off x="1417320" y="4114800"/>
            <a:ext cx="3931920" cy="310896"/>
          </a:xfrm>
          <a:prstGeom prst="rect">
            <a:avLst/>
          </a:prstGeom>
          <a:noFill/>
          <a:ln/>
        </p:spPr>
        <p:txBody>
          <a:bodyPr wrap="square" lIns="0" tIns="0" rIns="0" bIns="0" rtlCol="0" anchor="ctr"/>
          <a:lstStyle/>
          <a:p>
            <a:pPr indent="0" marL="0">
              <a:buNone/>
            </a:pPr>
            <a:r>
              <a:rPr lang="en-US" sz="1350" b="1" dirty="0">
                <a:solidFill>
                  <a:srgbClr val="0B1533"/>
                </a:solidFill>
                <a:latin typeface="Cambria" pitchFamily="34" charset="0"/>
                <a:ea typeface="Cambria" pitchFamily="34" charset="-122"/>
                <a:cs typeface="Cambria" pitchFamily="34" charset="-120"/>
              </a:rPr>
              <a:t>Version Control</a:t>
            </a:r>
            <a:endParaRPr lang="en-US" sz="1350" dirty="0"/>
          </a:p>
        </p:txBody>
      </p:sp>
      <p:sp>
        <p:nvSpPr>
          <p:cNvPr id="23" name="Text 21"/>
          <p:cNvSpPr/>
          <p:nvPr/>
        </p:nvSpPr>
        <p:spPr>
          <a:xfrm>
            <a:off x="1417320" y="4425696"/>
            <a:ext cx="3931920" cy="347472"/>
          </a:xfrm>
          <a:prstGeom prst="rect">
            <a:avLst/>
          </a:prstGeom>
          <a:noFill/>
          <a:ln/>
        </p:spPr>
        <p:txBody>
          <a:bodyPr wrap="square" lIns="0" tIns="0" rIns="0" bIns="0" rtlCol="0" anchor="ctr"/>
          <a:lstStyle/>
          <a:p>
            <a:pPr indent="0" marL="0">
              <a:buNone/>
            </a:pPr>
            <a:r>
              <a:rPr lang="en-US" sz="1050" dirty="0">
                <a:solidFill>
                  <a:srgbClr val="6B7690"/>
                </a:solidFill>
                <a:latin typeface="Calibri" pitchFamily="34" charset="0"/>
                <a:ea typeface="Calibri" pitchFamily="34" charset="-122"/>
                <a:cs typeface="Calibri" pitchFamily="34" charset="-120"/>
              </a:rPr>
              <a:t>Automatic versioning with one-click restore</a:t>
            </a:r>
            <a:endParaRPr lang="en-US" sz="1050" dirty="0"/>
          </a:p>
        </p:txBody>
      </p:sp>
      <p:sp>
        <p:nvSpPr>
          <p:cNvPr id="24" name="Shape 22"/>
          <p:cNvSpPr/>
          <p:nvPr/>
        </p:nvSpPr>
        <p:spPr>
          <a:xfrm>
            <a:off x="594360" y="4956048"/>
            <a:ext cx="4892040" cy="786384"/>
          </a:xfrm>
          <a:prstGeom prst="roundRect">
            <a:avLst>
              <a:gd name="adj" fmla="val 9302"/>
            </a:avLst>
          </a:prstGeom>
          <a:solidFill>
            <a:srgbClr val="FFFFFF"/>
          </a:solidFill>
          <a:ln w="12700">
            <a:solidFill>
              <a:srgbClr val="E3E8F2"/>
            </a:solidFill>
            <a:prstDash val="solid"/>
          </a:ln>
        </p:spPr>
      </p:sp>
      <p:sp>
        <p:nvSpPr>
          <p:cNvPr id="25" name="Shape 23"/>
          <p:cNvSpPr/>
          <p:nvPr/>
        </p:nvSpPr>
        <p:spPr>
          <a:xfrm>
            <a:off x="758952" y="5093208"/>
            <a:ext cx="512064" cy="512064"/>
          </a:xfrm>
          <a:prstGeom prst="ellipse">
            <a:avLst/>
          </a:prstGeom>
          <a:solidFill>
            <a:srgbClr val="E9F2FE"/>
          </a:solidFill>
          <a:ln/>
        </p:spPr>
      </p:sp>
      <p:sp>
        <p:nvSpPr>
          <p:cNvPr id="26" name="Text 24"/>
          <p:cNvSpPr/>
          <p:nvPr/>
        </p:nvSpPr>
        <p:spPr>
          <a:xfrm>
            <a:off x="758952" y="5093208"/>
            <a:ext cx="512064" cy="512064"/>
          </a:xfrm>
          <a:prstGeom prst="rect">
            <a:avLst/>
          </a:prstGeom>
          <a:noFill/>
          <a:ln/>
        </p:spPr>
        <p:txBody>
          <a:bodyPr wrap="square" lIns="0" tIns="0" rIns="0" bIns="0" rtlCol="0" anchor="ctr"/>
          <a:lstStyle/>
          <a:p>
            <a:pPr algn="ctr" indent="0" marL="0">
              <a:buNone/>
            </a:pPr>
            <a:r>
              <a:rPr lang="en-US" sz="1456" b="1" dirty="0">
                <a:solidFill>
                  <a:srgbClr val="2EA0F5"/>
                </a:solidFill>
                <a:latin typeface="Calibri" pitchFamily="34" charset="0"/>
                <a:ea typeface="Calibri" pitchFamily="34" charset="-122"/>
                <a:cs typeface="Calibri" pitchFamily="34" charset="-120"/>
              </a:rPr>
              <a:t>5</a:t>
            </a:r>
            <a:endParaRPr lang="en-US" sz="1456" dirty="0"/>
          </a:p>
        </p:txBody>
      </p:sp>
      <p:sp>
        <p:nvSpPr>
          <p:cNvPr id="27" name="Text 25"/>
          <p:cNvSpPr/>
          <p:nvPr/>
        </p:nvSpPr>
        <p:spPr>
          <a:xfrm>
            <a:off x="1417320" y="5029200"/>
            <a:ext cx="3931920" cy="310896"/>
          </a:xfrm>
          <a:prstGeom prst="rect">
            <a:avLst/>
          </a:prstGeom>
          <a:noFill/>
          <a:ln/>
        </p:spPr>
        <p:txBody>
          <a:bodyPr wrap="square" lIns="0" tIns="0" rIns="0" bIns="0" rtlCol="0" anchor="ctr"/>
          <a:lstStyle/>
          <a:p>
            <a:pPr indent="0" marL="0">
              <a:buNone/>
            </a:pPr>
            <a:r>
              <a:rPr lang="en-US" sz="1350" b="1" dirty="0">
                <a:solidFill>
                  <a:srgbClr val="0B1533"/>
                </a:solidFill>
                <a:latin typeface="Cambria" pitchFamily="34" charset="0"/>
                <a:ea typeface="Cambria" pitchFamily="34" charset="-122"/>
                <a:cs typeface="Cambria" pitchFamily="34" charset="-120"/>
              </a:rPr>
              <a:t>Audit Logs</a:t>
            </a:r>
            <a:endParaRPr lang="en-US" sz="1350" dirty="0"/>
          </a:p>
        </p:txBody>
      </p:sp>
      <p:sp>
        <p:nvSpPr>
          <p:cNvPr id="28" name="Text 26"/>
          <p:cNvSpPr/>
          <p:nvPr/>
        </p:nvSpPr>
        <p:spPr>
          <a:xfrm>
            <a:off x="1417320" y="5340096"/>
            <a:ext cx="3931920" cy="347472"/>
          </a:xfrm>
          <a:prstGeom prst="rect">
            <a:avLst/>
          </a:prstGeom>
          <a:noFill/>
          <a:ln/>
        </p:spPr>
        <p:txBody>
          <a:bodyPr wrap="square" lIns="0" tIns="0" rIns="0" bIns="0" rtlCol="0" anchor="ctr"/>
          <a:lstStyle/>
          <a:p>
            <a:pPr indent="0" marL="0">
              <a:buNone/>
            </a:pPr>
            <a:r>
              <a:rPr lang="en-US" sz="1050" dirty="0">
                <a:solidFill>
                  <a:srgbClr val="6B7690"/>
                </a:solidFill>
                <a:latin typeface="Calibri" pitchFamily="34" charset="0"/>
                <a:ea typeface="Calibri" pitchFamily="34" charset="-122"/>
                <a:cs typeface="Calibri" pitchFamily="34" charset="-120"/>
              </a:rPr>
              <a:t>Every upload, download, restore &amp; delete tracked</a:t>
            </a:r>
            <a:endParaRPr lang="en-US" sz="1050" dirty="0"/>
          </a:p>
        </p:txBody>
      </p:sp>
      <p:sp>
        <p:nvSpPr>
          <p:cNvPr id="29" name="Shape 27"/>
          <p:cNvSpPr/>
          <p:nvPr/>
        </p:nvSpPr>
        <p:spPr>
          <a:xfrm>
            <a:off x="5806440" y="1280160"/>
            <a:ext cx="6117336" cy="3055490"/>
          </a:xfrm>
          <a:prstGeom prst="roundRect">
            <a:avLst>
              <a:gd name="adj" fmla="val 1796"/>
            </a:avLst>
          </a:prstGeom>
          <a:solidFill>
            <a:srgbClr val="FFFFFF"/>
          </a:solidFill>
          <a:ln w="12700">
            <a:solidFill>
              <a:srgbClr val="E3E8F2"/>
            </a:solidFill>
            <a:prstDash val="solid"/>
          </a:ln>
          <a:effectLst>
            <a:outerShdw sx="100000" sy="100000" kx="0" ky="0" algn="bl" rotWithShape="0" blurRad="127000" dist="38100" dir="5400000">
              <a:srgbClr val="0B1533">
                <a:alpha val="18000"/>
              </a:srgbClr>
            </a:outerShdw>
          </a:effectLst>
        </p:spPr>
      </p:sp>
      <p:pic>
        <p:nvPicPr>
          <p:cNvPr id="30" name="Image 0" descr="/home/claude/proj/cropped/login.png">    </p:cNvPr>
          <p:cNvPicPr>
            <a:picLocks noChangeAspect="1"/>
          </p:cNvPicPr>
          <p:nvPr/>
        </p:nvPicPr>
        <p:blipFill>
          <a:blip r:embed="rId1"/>
          <a:stretch>
            <a:fillRect/>
          </a:stretch>
        </p:blipFill>
        <p:spPr>
          <a:xfrm>
            <a:off x="5870448" y="1344168"/>
            <a:ext cx="5989320" cy="2927474"/>
          </a:xfrm>
          <a:prstGeom prst="rect">
            <a:avLst/>
          </a:prstGeom>
        </p:spPr>
      </p:pic>
      <p:sp>
        <p:nvSpPr>
          <p:cNvPr id="31" name="Text 28"/>
          <p:cNvSpPr/>
          <p:nvPr/>
        </p:nvSpPr>
        <p:spPr>
          <a:xfrm>
            <a:off x="5870448" y="4326506"/>
            <a:ext cx="5989320" cy="256032"/>
          </a:xfrm>
          <a:prstGeom prst="rect">
            <a:avLst/>
          </a:prstGeom>
          <a:noFill/>
          <a:ln/>
        </p:spPr>
        <p:txBody>
          <a:bodyPr wrap="square" lIns="0" tIns="0" rIns="0" bIns="0" rtlCol="0" anchor="ctr"/>
          <a:lstStyle/>
          <a:p>
            <a:pPr indent="0" marL="0">
              <a:buNone/>
            </a:pPr>
            <a:r>
              <a:rPr lang="en-US" sz="1050" i="1" dirty="0">
                <a:solidFill>
                  <a:srgbClr val="6B7690"/>
                </a:solidFill>
                <a:latin typeface="Calibri" pitchFamily="34" charset="0"/>
                <a:ea typeface="Calibri" pitchFamily="34" charset="-122"/>
                <a:cs typeface="Calibri" pitchFamily="34" charset="-120"/>
              </a:rPr>
              <a:t>Secure Login</a:t>
            </a:r>
            <a:endParaRPr lang="en-US" sz="1050" dirty="0"/>
          </a:p>
        </p:txBody>
      </p:sp>
      <p:sp>
        <p:nvSpPr>
          <p:cNvPr id="32" name="Shape 29"/>
          <p:cNvSpPr/>
          <p:nvPr/>
        </p:nvSpPr>
        <p:spPr>
          <a:xfrm>
            <a:off x="5806440" y="4655690"/>
            <a:ext cx="6117336" cy="3055490"/>
          </a:xfrm>
          <a:prstGeom prst="roundRect">
            <a:avLst>
              <a:gd name="adj" fmla="val 1796"/>
            </a:avLst>
          </a:prstGeom>
          <a:solidFill>
            <a:srgbClr val="FFFFFF"/>
          </a:solidFill>
          <a:ln w="12700">
            <a:solidFill>
              <a:srgbClr val="E3E8F2"/>
            </a:solidFill>
            <a:prstDash val="solid"/>
          </a:ln>
          <a:effectLst>
            <a:outerShdw sx="100000" sy="100000" kx="0" ky="0" algn="bl" rotWithShape="0" blurRad="127000" dist="38100" dir="5400000">
              <a:srgbClr val="0B1533">
                <a:alpha val="18000"/>
              </a:srgbClr>
            </a:outerShdw>
          </a:effectLst>
        </p:spPr>
      </p:sp>
      <p:pic>
        <p:nvPicPr>
          <p:cNvPr id="33" name="Image 1" descr="/home/claude/proj/cropped/dashboard1.png">    </p:cNvPr>
          <p:cNvPicPr>
            <a:picLocks noChangeAspect="1"/>
          </p:cNvPicPr>
          <p:nvPr/>
        </p:nvPicPr>
        <p:blipFill>
          <a:blip r:embed="rId2"/>
          <a:stretch>
            <a:fillRect/>
          </a:stretch>
        </p:blipFill>
        <p:spPr>
          <a:xfrm>
            <a:off x="5870448" y="4719698"/>
            <a:ext cx="5989320" cy="2927474"/>
          </a:xfrm>
          <a:prstGeom prst="rect">
            <a:avLst/>
          </a:prstGeom>
        </p:spPr>
      </p:pic>
      <p:sp>
        <p:nvSpPr>
          <p:cNvPr id="34" name="Text 30"/>
          <p:cNvSpPr/>
          <p:nvPr/>
        </p:nvSpPr>
        <p:spPr>
          <a:xfrm>
            <a:off x="5870448" y="7702037"/>
            <a:ext cx="5989320" cy="256032"/>
          </a:xfrm>
          <a:prstGeom prst="rect">
            <a:avLst/>
          </a:prstGeom>
          <a:noFill/>
          <a:ln/>
        </p:spPr>
        <p:txBody>
          <a:bodyPr wrap="square" lIns="0" tIns="0" rIns="0" bIns="0" rtlCol="0" anchor="ctr"/>
          <a:lstStyle/>
          <a:p>
            <a:pPr indent="0" marL="0">
              <a:buNone/>
            </a:pPr>
            <a:r>
              <a:rPr lang="en-US" sz="1050" i="1" dirty="0">
                <a:solidFill>
                  <a:srgbClr val="6B7690"/>
                </a:solidFill>
                <a:latin typeface="Calibri" pitchFamily="34" charset="0"/>
                <a:ea typeface="Calibri" pitchFamily="34" charset="-122"/>
                <a:cs typeface="Calibri" pitchFamily="34" charset="-120"/>
              </a:rPr>
              <a:t>Live Dashboard</a:t>
            </a:r>
            <a:endParaRPr lang="en-US" sz="1050" dirty="0"/>
          </a:p>
        </p:txBody>
      </p:sp>
      <p:sp>
        <p:nvSpPr>
          <p:cNvPr id="35" name="Text 31"/>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Azure Blob Storage Integration</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FILE UPLOAD PIPELINE</a:t>
            </a:r>
            <a:endParaRPr lang="en-US" sz="1100" dirty="0"/>
          </a:p>
        </p:txBody>
      </p:sp>
      <p:sp>
        <p:nvSpPr>
          <p:cNvPr id="4" name="Shape 2"/>
          <p:cNvSpPr/>
          <p:nvPr/>
        </p:nvSpPr>
        <p:spPr>
          <a:xfrm>
            <a:off x="594360" y="1371600"/>
            <a:ext cx="384048" cy="384048"/>
          </a:xfrm>
          <a:prstGeom prst="ellipse">
            <a:avLst/>
          </a:prstGeom>
          <a:solidFill>
            <a:srgbClr val="0B1533"/>
          </a:solidFill>
          <a:ln/>
        </p:spPr>
      </p:sp>
      <p:sp>
        <p:nvSpPr>
          <p:cNvPr id="5" name="Text 3"/>
          <p:cNvSpPr/>
          <p:nvPr/>
        </p:nvSpPr>
        <p:spPr>
          <a:xfrm>
            <a:off x="59436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786384" y="1755648"/>
            <a:ext cx="0" cy="384048"/>
          </a:xfrm>
          <a:prstGeom prst="line">
            <a:avLst/>
          </a:prstGeom>
          <a:noFill/>
          <a:ln w="19050">
            <a:solidFill>
              <a:srgbClr val="AAB8DC"/>
            </a:solidFill>
            <a:prstDash val="dash"/>
          </a:ln>
        </p:spPr>
      </p:sp>
      <p:sp>
        <p:nvSpPr>
          <p:cNvPr id="7" name="Text 5"/>
          <p:cNvSpPr/>
          <p:nvPr/>
        </p:nvSpPr>
        <p:spPr>
          <a:xfrm>
            <a:off x="1170432" y="1353312"/>
            <a:ext cx="4297680" cy="45720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Flask receives the uploaded file</a:t>
            </a:r>
            <a:endParaRPr lang="en-US" sz="1300" dirty="0"/>
          </a:p>
        </p:txBody>
      </p:sp>
      <p:sp>
        <p:nvSpPr>
          <p:cNvPr id="8" name="Shape 6"/>
          <p:cNvSpPr/>
          <p:nvPr/>
        </p:nvSpPr>
        <p:spPr>
          <a:xfrm>
            <a:off x="594360" y="2139696"/>
            <a:ext cx="384048" cy="384048"/>
          </a:xfrm>
          <a:prstGeom prst="ellipse">
            <a:avLst/>
          </a:prstGeom>
          <a:solidFill>
            <a:srgbClr val="0B1533"/>
          </a:solidFill>
          <a:ln/>
        </p:spPr>
      </p:sp>
      <p:sp>
        <p:nvSpPr>
          <p:cNvPr id="9" name="Text 7"/>
          <p:cNvSpPr/>
          <p:nvPr/>
        </p:nvSpPr>
        <p:spPr>
          <a:xfrm>
            <a:off x="594360" y="2139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Shape 8"/>
          <p:cNvSpPr/>
          <p:nvPr/>
        </p:nvSpPr>
        <p:spPr>
          <a:xfrm>
            <a:off x="786384" y="2523744"/>
            <a:ext cx="0" cy="384048"/>
          </a:xfrm>
          <a:prstGeom prst="line">
            <a:avLst/>
          </a:prstGeom>
          <a:noFill/>
          <a:ln w="19050">
            <a:solidFill>
              <a:srgbClr val="AAB8DC"/>
            </a:solidFill>
            <a:prstDash val="dash"/>
          </a:ln>
        </p:spPr>
      </p:sp>
      <p:sp>
        <p:nvSpPr>
          <p:cNvPr id="11" name="Text 9"/>
          <p:cNvSpPr/>
          <p:nvPr/>
        </p:nvSpPr>
        <p:spPr>
          <a:xfrm>
            <a:off x="1170432" y="2121408"/>
            <a:ext cx="4297680" cy="45720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File is streamed to Azure Blob Storage</a:t>
            </a:r>
            <a:endParaRPr lang="en-US" sz="1300" dirty="0"/>
          </a:p>
        </p:txBody>
      </p:sp>
      <p:sp>
        <p:nvSpPr>
          <p:cNvPr id="12" name="Shape 10"/>
          <p:cNvSpPr/>
          <p:nvPr/>
        </p:nvSpPr>
        <p:spPr>
          <a:xfrm>
            <a:off x="594360" y="2907792"/>
            <a:ext cx="384048" cy="384048"/>
          </a:xfrm>
          <a:prstGeom prst="ellipse">
            <a:avLst/>
          </a:prstGeom>
          <a:solidFill>
            <a:srgbClr val="0B1533"/>
          </a:solidFill>
          <a:ln/>
        </p:spPr>
      </p:sp>
      <p:sp>
        <p:nvSpPr>
          <p:cNvPr id="13" name="Text 11"/>
          <p:cNvSpPr/>
          <p:nvPr/>
        </p:nvSpPr>
        <p:spPr>
          <a:xfrm>
            <a:off x="594360" y="2907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Shape 12"/>
          <p:cNvSpPr/>
          <p:nvPr/>
        </p:nvSpPr>
        <p:spPr>
          <a:xfrm>
            <a:off x="786384" y="3291840"/>
            <a:ext cx="0" cy="384048"/>
          </a:xfrm>
          <a:prstGeom prst="line">
            <a:avLst/>
          </a:prstGeom>
          <a:noFill/>
          <a:ln w="19050">
            <a:solidFill>
              <a:srgbClr val="AAB8DC"/>
            </a:solidFill>
            <a:prstDash val="dash"/>
          </a:ln>
        </p:spPr>
      </p:sp>
      <p:sp>
        <p:nvSpPr>
          <p:cNvPr id="15" name="Text 13"/>
          <p:cNvSpPr/>
          <p:nvPr/>
        </p:nvSpPr>
        <p:spPr>
          <a:xfrm>
            <a:off x="1170432" y="2889504"/>
            <a:ext cx="4297680" cy="45720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A unique Blob URL is generated</a:t>
            </a:r>
            <a:endParaRPr lang="en-US" sz="1300" dirty="0"/>
          </a:p>
        </p:txBody>
      </p:sp>
      <p:sp>
        <p:nvSpPr>
          <p:cNvPr id="16" name="Shape 14"/>
          <p:cNvSpPr/>
          <p:nvPr/>
        </p:nvSpPr>
        <p:spPr>
          <a:xfrm>
            <a:off x="594360" y="3675888"/>
            <a:ext cx="384048" cy="384048"/>
          </a:xfrm>
          <a:prstGeom prst="ellipse">
            <a:avLst/>
          </a:prstGeom>
          <a:solidFill>
            <a:srgbClr val="0B1533"/>
          </a:solidFill>
          <a:ln/>
        </p:spPr>
      </p:sp>
      <p:sp>
        <p:nvSpPr>
          <p:cNvPr id="17" name="Text 15"/>
          <p:cNvSpPr/>
          <p:nvPr/>
        </p:nvSpPr>
        <p:spPr>
          <a:xfrm>
            <a:off x="594360" y="3675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Shape 16"/>
          <p:cNvSpPr/>
          <p:nvPr/>
        </p:nvSpPr>
        <p:spPr>
          <a:xfrm>
            <a:off x="786384" y="4059936"/>
            <a:ext cx="0" cy="384048"/>
          </a:xfrm>
          <a:prstGeom prst="line">
            <a:avLst/>
          </a:prstGeom>
          <a:noFill/>
          <a:ln w="19050">
            <a:solidFill>
              <a:srgbClr val="AAB8DC"/>
            </a:solidFill>
            <a:prstDash val="dash"/>
          </a:ln>
        </p:spPr>
      </p:sp>
      <p:sp>
        <p:nvSpPr>
          <p:cNvPr id="19" name="Text 17"/>
          <p:cNvSpPr/>
          <p:nvPr/>
        </p:nvSpPr>
        <p:spPr>
          <a:xfrm>
            <a:off x="1170432" y="3657600"/>
            <a:ext cx="4297680" cy="45720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Azure assigns a new Version ID</a:t>
            </a:r>
            <a:endParaRPr lang="en-US" sz="1300" dirty="0"/>
          </a:p>
        </p:txBody>
      </p:sp>
      <p:sp>
        <p:nvSpPr>
          <p:cNvPr id="20" name="Shape 18"/>
          <p:cNvSpPr/>
          <p:nvPr/>
        </p:nvSpPr>
        <p:spPr>
          <a:xfrm>
            <a:off x="594360" y="4443984"/>
            <a:ext cx="384048" cy="384048"/>
          </a:xfrm>
          <a:prstGeom prst="ellipse">
            <a:avLst/>
          </a:prstGeom>
          <a:solidFill>
            <a:srgbClr val="0B1533"/>
          </a:solidFill>
          <a:ln/>
        </p:spPr>
      </p:sp>
      <p:sp>
        <p:nvSpPr>
          <p:cNvPr id="21" name="Text 19"/>
          <p:cNvSpPr/>
          <p:nvPr/>
        </p:nvSpPr>
        <p:spPr>
          <a:xfrm>
            <a:off x="594360" y="4443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170432" y="4425696"/>
            <a:ext cx="4297680" cy="45720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Blob URL &amp; Version ID are saved to Azure SQL</a:t>
            </a:r>
            <a:endParaRPr lang="en-US" sz="1300" dirty="0"/>
          </a:p>
        </p:txBody>
      </p:sp>
      <p:sp>
        <p:nvSpPr>
          <p:cNvPr id="23" name="Shape 21"/>
          <p:cNvSpPr/>
          <p:nvPr/>
        </p:nvSpPr>
        <p:spPr>
          <a:xfrm>
            <a:off x="594360" y="5349240"/>
            <a:ext cx="1737360" cy="384048"/>
          </a:xfrm>
          <a:prstGeom prst="roundRect">
            <a:avLst>
              <a:gd name="adj" fmla="val 50000"/>
            </a:avLst>
          </a:prstGeom>
          <a:solidFill>
            <a:srgbClr val="E9F2FE"/>
          </a:solidFill>
          <a:ln/>
        </p:spPr>
      </p:sp>
      <p:sp>
        <p:nvSpPr>
          <p:cNvPr id="24" name="Text 22"/>
          <p:cNvSpPr/>
          <p:nvPr/>
        </p:nvSpPr>
        <p:spPr>
          <a:xfrm>
            <a:off x="594360" y="5349240"/>
            <a:ext cx="1737360" cy="384048"/>
          </a:xfrm>
          <a:prstGeom prst="rect">
            <a:avLst/>
          </a:prstGeom>
          <a:noFill/>
          <a:ln/>
        </p:spPr>
        <p:txBody>
          <a:bodyPr wrap="square" lIns="0" tIns="0" rIns="0" bIns="0" rtlCol="0" anchor="ctr"/>
          <a:lstStyle/>
          <a:p>
            <a:pPr algn="ctr" indent="0" marL="0">
              <a:buNone/>
            </a:pPr>
            <a:r>
              <a:rPr lang="en-US" sz="1050" b="1" dirty="0">
                <a:solidFill>
                  <a:srgbClr val="0B1533"/>
                </a:solidFill>
                <a:latin typeface="Calibri" pitchFamily="34" charset="0"/>
                <a:ea typeface="Calibri" pitchFamily="34" charset="-122"/>
                <a:cs typeface="Calibri" pitchFamily="34" charset="-120"/>
              </a:rPr>
              <a:t>Secure Storage</a:t>
            </a:r>
            <a:endParaRPr lang="en-US" sz="1050" dirty="0"/>
          </a:p>
        </p:txBody>
      </p:sp>
      <p:sp>
        <p:nvSpPr>
          <p:cNvPr id="25" name="Shape 23"/>
          <p:cNvSpPr/>
          <p:nvPr/>
        </p:nvSpPr>
        <p:spPr>
          <a:xfrm>
            <a:off x="2468880" y="5349240"/>
            <a:ext cx="2011680" cy="384048"/>
          </a:xfrm>
          <a:prstGeom prst="roundRect">
            <a:avLst>
              <a:gd name="adj" fmla="val 50000"/>
            </a:avLst>
          </a:prstGeom>
          <a:solidFill>
            <a:srgbClr val="E9F2FE"/>
          </a:solidFill>
          <a:ln/>
        </p:spPr>
      </p:sp>
      <p:sp>
        <p:nvSpPr>
          <p:cNvPr id="26" name="Text 24"/>
          <p:cNvSpPr/>
          <p:nvPr/>
        </p:nvSpPr>
        <p:spPr>
          <a:xfrm>
            <a:off x="2468880" y="5349240"/>
            <a:ext cx="2011680" cy="384048"/>
          </a:xfrm>
          <a:prstGeom prst="rect">
            <a:avLst/>
          </a:prstGeom>
          <a:noFill/>
          <a:ln/>
        </p:spPr>
        <p:txBody>
          <a:bodyPr wrap="square" lIns="0" tIns="0" rIns="0" bIns="0" rtlCol="0" anchor="ctr"/>
          <a:lstStyle/>
          <a:p>
            <a:pPr algn="ctr" indent="0" marL="0">
              <a:buNone/>
            </a:pPr>
            <a:r>
              <a:rPr lang="en-US" sz="1050" b="1" dirty="0">
                <a:solidFill>
                  <a:srgbClr val="0B1533"/>
                </a:solidFill>
                <a:latin typeface="Calibri" pitchFamily="34" charset="0"/>
                <a:ea typeface="Calibri" pitchFamily="34" charset="-122"/>
                <a:cs typeface="Calibri" pitchFamily="34" charset="-120"/>
              </a:rPr>
              <a:t>High Availability</a:t>
            </a:r>
            <a:endParaRPr lang="en-US" sz="1050" dirty="0"/>
          </a:p>
        </p:txBody>
      </p:sp>
      <p:sp>
        <p:nvSpPr>
          <p:cNvPr id="27" name="Shape 25"/>
          <p:cNvSpPr/>
          <p:nvPr/>
        </p:nvSpPr>
        <p:spPr>
          <a:xfrm>
            <a:off x="4617720" y="5349240"/>
            <a:ext cx="2286000" cy="384048"/>
          </a:xfrm>
          <a:prstGeom prst="roundRect">
            <a:avLst>
              <a:gd name="adj" fmla="val 50000"/>
            </a:avLst>
          </a:prstGeom>
          <a:solidFill>
            <a:srgbClr val="E9F2FE"/>
          </a:solidFill>
          <a:ln/>
        </p:spPr>
      </p:sp>
      <p:sp>
        <p:nvSpPr>
          <p:cNvPr id="28" name="Text 26"/>
          <p:cNvSpPr/>
          <p:nvPr/>
        </p:nvSpPr>
        <p:spPr>
          <a:xfrm>
            <a:off x="4617720" y="5349240"/>
            <a:ext cx="2286000" cy="384048"/>
          </a:xfrm>
          <a:prstGeom prst="rect">
            <a:avLst/>
          </a:prstGeom>
          <a:noFill/>
          <a:ln/>
        </p:spPr>
        <p:txBody>
          <a:bodyPr wrap="square" lIns="0" tIns="0" rIns="0" bIns="0" rtlCol="0" anchor="ctr"/>
          <a:lstStyle/>
          <a:p>
            <a:pPr algn="ctr" indent="0" marL="0">
              <a:buNone/>
            </a:pPr>
            <a:r>
              <a:rPr lang="en-US" sz="1050" b="1" dirty="0">
                <a:solidFill>
                  <a:srgbClr val="0B1533"/>
                </a:solidFill>
                <a:latin typeface="Calibri" pitchFamily="34" charset="0"/>
                <a:ea typeface="Calibri" pitchFamily="34" charset="-122"/>
                <a:cs typeface="Calibri" pitchFamily="34" charset="-120"/>
              </a:rPr>
              <a:t>Automatic Versioning</a:t>
            </a:r>
            <a:endParaRPr lang="en-US" sz="1050" dirty="0"/>
          </a:p>
        </p:txBody>
      </p:sp>
      <p:sp>
        <p:nvSpPr>
          <p:cNvPr id="29" name="Shape 27"/>
          <p:cNvSpPr/>
          <p:nvPr/>
        </p:nvSpPr>
        <p:spPr>
          <a:xfrm>
            <a:off x="594360" y="5852160"/>
            <a:ext cx="2194560" cy="384048"/>
          </a:xfrm>
          <a:prstGeom prst="roundRect">
            <a:avLst>
              <a:gd name="adj" fmla="val 50000"/>
            </a:avLst>
          </a:prstGeom>
          <a:solidFill>
            <a:srgbClr val="E9F2FE"/>
          </a:solidFill>
          <a:ln/>
        </p:spPr>
      </p:sp>
      <p:sp>
        <p:nvSpPr>
          <p:cNvPr id="30" name="Text 28"/>
          <p:cNvSpPr/>
          <p:nvPr/>
        </p:nvSpPr>
        <p:spPr>
          <a:xfrm>
            <a:off x="594360" y="5852160"/>
            <a:ext cx="2194560" cy="384048"/>
          </a:xfrm>
          <a:prstGeom prst="rect">
            <a:avLst/>
          </a:prstGeom>
          <a:noFill/>
          <a:ln/>
        </p:spPr>
        <p:txBody>
          <a:bodyPr wrap="square" lIns="0" tIns="0" rIns="0" bIns="0" rtlCol="0" anchor="ctr"/>
          <a:lstStyle/>
          <a:p>
            <a:pPr algn="ctr" indent="0" marL="0">
              <a:buNone/>
            </a:pPr>
            <a:r>
              <a:rPr lang="en-US" sz="1050" b="1" dirty="0">
                <a:solidFill>
                  <a:srgbClr val="0B1533"/>
                </a:solidFill>
                <a:latin typeface="Calibri" pitchFamily="34" charset="0"/>
                <a:ea typeface="Calibri" pitchFamily="34" charset="-122"/>
                <a:cs typeface="Calibri" pitchFamily="34" charset="-120"/>
              </a:rPr>
              <a:t>Elastic Scalability</a:t>
            </a:r>
            <a:endParaRPr lang="en-US" sz="1050" dirty="0"/>
          </a:p>
        </p:txBody>
      </p:sp>
      <p:sp>
        <p:nvSpPr>
          <p:cNvPr id="31" name="Shape 29"/>
          <p:cNvSpPr/>
          <p:nvPr/>
        </p:nvSpPr>
        <p:spPr>
          <a:xfrm>
            <a:off x="5623560" y="1371600"/>
            <a:ext cx="6208776" cy="3100185"/>
          </a:xfrm>
          <a:prstGeom prst="roundRect">
            <a:avLst>
              <a:gd name="adj" fmla="val 1770"/>
            </a:avLst>
          </a:prstGeom>
          <a:solidFill>
            <a:srgbClr val="FFFFFF"/>
          </a:solidFill>
          <a:ln w="12700">
            <a:solidFill>
              <a:srgbClr val="E3E8F2"/>
            </a:solidFill>
            <a:prstDash val="solid"/>
          </a:ln>
          <a:effectLst>
            <a:outerShdw sx="100000" sy="100000" kx="0" ky="0" algn="bl" rotWithShape="0" blurRad="127000" dist="38100" dir="5400000">
              <a:srgbClr val="0B1533">
                <a:alpha val="18000"/>
              </a:srgbClr>
            </a:outerShdw>
          </a:effectLst>
        </p:spPr>
      </p:sp>
      <p:pic>
        <p:nvPicPr>
          <p:cNvPr id="32" name="Image 0" descr="/home/claude/proj/cropped/azureblobstorage.png">    </p:cNvPr>
          <p:cNvPicPr>
            <a:picLocks noChangeAspect="1"/>
          </p:cNvPicPr>
          <p:nvPr/>
        </p:nvPicPr>
        <p:blipFill>
          <a:blip r:embed="rId1"/>
          <a:stretch>
            <a:fillRect/>
          </a:stretch>
        </p:blipFill>
        <p:spPr>
          <a:xfrm>
            <a:off x="5687568" y="1435608"/>
            <a:ext cx="6080760" cy="2972169"/>
          </a:xfrm>
          <a:prstGeom prst="rect">
            <a:avLst/>
          </a:prstGeom>
        </p:spPr>
      </p:pic>
      <p:sp>
        <p:nvSpPr>
          <p:cNvPr id="33" name="Text 30"/>
          <p:cNvSpPr/>
          <p:nvPr/>
        </p:nvSpPr>
        <p:spPr>
          <a:xfrm>
            <a:off x="5623560" y="4544937"/>
            <a:ext cx="6172200" cy="320040"/>
          </a:xfrm>
          <a:prstGeom prst="rect">
            <a:avLst/>
          </a:prstGeom>
          <a:noFill/>
          <a:ln/>
        </p:spPr>
        <p:txBody>
          <a:bodyPr wrap="square" lIns="0" tIns="0" rIns="0" bIns="0" rtlCol="0" anchor="ctr"/>
          <a:lstStyle/>
          <a:p>
            <a:pPr indent="0" marL="0">
              <a:buNone/>
            </a:pPr>
            <a:r>
              <a:rPr lang="en-US" sz="1100" i="1" dirty="0">
                <a:solidFill>
                  <a:srgbClr val="6B7690"/>
                </a:solidFill>
                <a:latin typeface="Calibri" pitchFamily="34" charset="0"/>
                <a:ea typeface="Calibri" pitchFamily="34" charset="-122"/>
                <a:cs typeface="Calibri" pitchFamily="34" charset="-120"/>
              </a:rPr>
              <a:t>Azure Blob Storage — container view of uploaded documents</a:t>
            </a:r>
            <a:endParaRPr lang="en-US" sz="1100" dirty="0"/>
          </a:p>
        </p:txBody>
      </p:sp>
      <p:sp>
        <p:nvSpPr>
          <p:cNvPr id="34" name="Text 31"/>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533"/>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Cloud Deployment Workflow</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5CC8E6"/>
                </a:solidFill>
                <a:latin typeface="Calibri" pitchFamily="34" charset="0"/>
                <a:ea typeface="Calibri" pitchFamily="34" charset="-122"/>
                <a:cs typeface="Calibri" pitchFamily="34" charset="-120"/>
              </a:rPr>
              <a:t>CI/CD PIPELINE</a:t>
            </a:r>
            <a:endParaRPr lang="en-US" sz="1100" dirty="0"/>
          </a:p>
        </p:txBody>
      </p:sp>
      <p:sp>
        <p:nvSpPr>
          <p:cNvPr id="4" name="Shape 2"/>
          <p:cNvSpPr/>
          <p:nvPr/>
        </p:nvSpPr>
        <p:spPr>
          <a:xfrm>
            <a:off x="2286000" y="2080260"/>
            <a:ext cx="173736" cy="0"/>
          </a:xfrm>
          <a:prstGeom prst="line">
            <a:avLst/>
          </a:prstGeom>
          <a:noFill/>
          <a:ln w="25400">
            <a:solidFill>
              <a:srgbClr val="5CC8E6"/>
            </a:solidFill>
            <a:prstDash val="solid"/>
            <a:tailEnd type="triangle"/>
          </a:ln>
        </p:spPr>
      </p:sp>
      <p:sp>
        <p:nvSpPr>
          <p:cNvPr id="5" name="Shape 3"/>
          <p:cNvSpPr/>
          <p:nvPr/>
        </p:nvSpPr>
        <p:spPr>
          <a:xfrm>
            <a:off x="594360" y="1371600"/>
            <a:ext cx="1691640" cy="1417320"/>
          </a:xfrm>
          <a:prstGeom prst="roundRect">
            <a:avLst>
              <a:gd name="adj" fmla="val 6452"/>
            </a:avLst>
          </a:prstGeom>
          <a:solidFill>
            <a:srgbClr val="142352"/>
          </a:solidFill>
          <a:ln w="12700">
            <a:solidFill>
              <a:srgbClr val="2A3B77"/>
            </a:solidFill>
            <a:prstDash val="solid"/>
          </a:ln>
        </p:spPr>
      </p:sp>
      <p:sp>
        <p:nvSpPr>
          <p:cNvPr id="6" name="Shape 4"/>
          <p:cNvSpPr/>
          <p:nvPr/>
        </p:nvSpPr>
        <p:spPr>
          <a:xfrm>
            <a:off x="1175004" y="1517904"/>
            <a:ext cx="530352" cy="530352"/>
          </a:xfrm>
          <a:prstGeom prst="ellipse">
            <a:avLst/>
          </a:prstGeom>
          <a:solidFill>
            <a:srgbClr val="1B2C63"/>
          </a:solidFill>
          <a:ln/>
        </p:spPr>
      </p:sp>
      <p:sp>
        <p:nvSpPr>
          <p:cNvPr id="7" name="Text 5"/>
          <p:cNvSpPr/>
          <p:nvPr/>
        </p:nvSpPr>
        <p:spPr>
          <a:xfrm>
            <a:off x="1175004" y="1517904"/>
            <a:ext cx="530352" cy="530352"/>
          </a:xfrm>
          <a:prstGeom prst="rect">
            <a:avLst/>
          </a:prstGeom>
          <a:noFill/>
          <a:ln/>
        </p:spPr>
        <p:txBody>
          <a:bodyPr wrap="square" lIns="0" tIns="0" rIns="0" bIns="0" rtlCol="0" anchor="ctr"/>
          <a:lstStyle/>
          <a:p>
            <a:pPr algn="ctr" indent="0" marL="0">
              <a:buNone/>
            </a:pPr>
            <a:r>
              <a:rPr lang="en-US" sz="1508" b="1" dirty="0">
                <a:solidFill>
                  <a:srgbClr val="5CC8E6"/>
                </a:solidFill>
                <a:latin typeface="Calibri" pitchFamily="34" charset="0"/>
                <a:ea typeface="Calibri" pitchFamily="34" charset="-122"/>
                <a:cs typeface="Calibri" pitchFamily="34" charset="-120"/>
              </a:rPr>
              <a:t>⌘</a:t>
            </a:r>
            <a:endParaRPr lang="en-US" sz="1508" dirty="0"/>
          </a:p>
        </p:txBody>
      </p:sp>
      <p:sp>
        <p:nvSpPr>
          <p:cNvPr id="8" name="Text 6"/>
          <p:cNvSpPr/>
          <p:nvPr/>
        </p:nvSpPr>
        <p:spPr>
          <a:xfrm>
            <a:off x="649224" y="2121408"/>
            <a:ext cx="15819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Developer</a:t>
            </a:r>
            <a:endParaRPr lang="en-US" sz="1100" dirty="0"/>
          </a:p>
        </p:txBody>
      </p:sp>
      <p:sp>
        <p:nvSpPr>
          <p:cNvPr id="9" name="Text 7"/>
          <p:cNvSpPr/>
          <p:nvPr/>
        </p:nvSpPr>
        <p:spPr>
          <a:xfrm>
            <a:off x="649224" y="2414016"/>
            <a:ext cx="1581912" cy="310896"/>
          </a:xfrm>
          <a:prstGeom prst="rect">
            <a:avLst/>
          </a:prstGeom>
          <a:noFill/>
          <a:ln/>
        </p:spPr>
        <p:txBody>
          <a:bodyPr wrap="square" lIns="0" tIns="0" rIns="0" bIns="0" rtlCol="0" anchor="ctr"/>
          <a:lstStyle/>
          <a:p>
            <a:pPr algn="ctr" indent="0" marL="0">
              <a:buNone/>
            </a:pPr>
            <a:r>
              <a:rPr lang="en-US" sz="850" dirty="0">
                <a:solidFill>
                  <a:srgbClr val="CFE0FA"/>
                </a:solidFill>
                <a:latin typeface="Calibri" pitchFamily="34" charset="0"/>
                <a:ea typeface="Calibri" pitchFamily="34" charset="-122"/>
                <a:cs typeface="Calibri" pitchFamily="34" charset="-120"/>
              </a:rPr>
              <a:t>Pushes code</a:t>
            </a:r>
            <a:endParaRPr lang="en-US" sz="850" dirty="0"/>
          </a:p>
        </p:txBody>
      </p:sp>
      <p:sp>
        <p:nvSpPr>
          <p:cNvPr id="10" name="Shape 8"/>
          <p:cNvSpPr/>
          <p:nvPr/>
        </p:nvSpPr>
        <p:spPr>
          <a:xfrm>
            <a:off x="4151376" y="2080260"/>
            <a:ext cx="173736" cy="0"/>
          </a:xfrm>
          <a:prstGeom prst="line">
            <a:avLst/>
          </a:prstGeom>
          <a:noFill/>
          <a:ln w="25400">
            <a:solidFill>
              <a:srgbClr val="5CC8E6"/>
            </a:solidFill>
            <a:prstDash val="solid"/>
            <a:tailEnd type="triangle"/>
          </a:ln>
        </p:spPr>
      </p:sp>
      <p:sp>
        <p:nvSpPr>
          <p:cNvPr id="11" name="Shape 9"/>
          <p:cNvSpPr/>
          <p:nvPr/>
        </p:nvSpPr>
        <p:spPr>
          <a:xfrm>
            <a:off x="2459736" y="1371600"/>
            <a:ext cx="1691640" cy="1417320"/>
          </a:xfrm>
          <a:prstGeom prst="roundRect">
            <a:avLst>
              <a:gd name="adj" fmla="val 6452"/>
            </a:avLst>
          </a:prstGeom>
          <a:solidFill>
            <a:srgbClr val="142352"/>
          </a:solidFill>
          <a:ln w="12700">
            <a:solidFill>
              <a:srgbClr val="2A3B77"/>
            </a:solidFill>
            <a:prstDash val="solid"/>
          </a:ln>
        </p:spPr>
      </p:sp>
      <p:sp>
        <p:nvSpPr>
          <p:cNvPr id="12" name="Shape 10"/>
          <p:cNvSpPr/>
          <p:nvPr/>
        </p:nvSpPr>
        <p:spPr>
          <a:xfrm>
            <a:off x="3040380" y="1517904"/>
            <a:ext cx="530352" cy="530352"/>
          </a:xfrm>
          <a:prstGeom prst="ellipse">
            <a:avLst/>
          </a:prstGeom>
          <a:solidFill>
            <a:srgbClr val="1B2C63"/>
          </a:solidFill>
          <a:ln/>
        </p:spPr>
      </p:sp>
      <p:sp>
        <p:nvSpPr>
          <p:cNvPr id="13" name="Text 11"/>
          <p:cNvSpPr/>
          <p:nvPr/>
        </p:nvSpPr>
        <p:spPr>
          <a:xfrm>
            <a:off x="3040380" y="1517904"/>
            <a:ext cx="530352" cy="530352"/>
          </a:xfrm>
          <a:prstGeom prst="rect">
            <a:avLst/>
          </a:prstGeom>
          <a:noFill/>
          <a:ln/>
        </p:spPr>
        <p:txBody>
          <a:bodyPr wrap="square" lIns="0" tIns="0" rIns="0" bIns="0" rtlCol="0" anchor="ctr"/>
          <a:lstStyle/>
          <a:p>
            <a:pPr algn="ctr" indent="0" marL="0">
              <a:buNone/>
            </a:pPr>
            <a:r>
              <a:rPr lang="en-US" sz="1508" b="1" dirty="0">
                <a:solidFill>
                  <a:srgbClr val="5CC8E6"/>
                </a:solidFill>
                <a:latin typeface="Calibri" pitchFamily="34" charset="0"/>
                <a:ea typeface="Calibri" pitchFamily="34" charset="-122"/>
                <a:cs typeface="Calibri" pitchFamily="34" charset="-120"/>
              </a:rPr>
              <a:t>⌥</a:t>
            </a:r>
            <a:endParaRPr lang="en-US" sz="1508" dirty="0"/>
          </a:p>
        </p:txBody>
      </p:sp>
      <p:sp>
        <p:nvSpPr>
          <p:cNvPr id="14" name="Text 12"/>
          <p:cNvSpPr/>
          <p:nvPr/>
        </p:nvSpPr>
        <p:spPr>
          <a:xfrm>
            <a:off x="2514600" y="2121408"/>
            <a:ext cx="15819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GitHub Repo</a:t>
            </a:r>
            <a:endParaRPr lang="en-US" sz="1100" dirty="0"/>
          </a:p>
        </p:txBody>
      </p:sp>
      <p:sp>
        <p:nvSpPr>
          <p:cNvPr id="15" name="Text 13"/>
          <p:cNvSpPr/>
          <p:nvPr/>
        </p:nvSpPr>
        <p:spPr>
          <a:xfrm>
            <a:off x="2514600" y="2414016"/>
            <a:ext cx="1581912" cy="310896"/>
          </a:xfrm>
          <a:prstGeom prst="rect">
            <a:avLst/>
          </a:prstGeom>
          <a:noFill/>
          <a:ln/>
        </p:spPr>
        <p:txBody>
          <a:bodyPr wrap="square" lIns="0" tIns="0" rIns="0" bIns="0" rtlCol="0" anchor="ctr"/>
          <a:lstStyle/>
          <a:p>
            <a:pPr algn="ctr" indent="0" marL="0">
              <a:buNone/>
            </a:pPr>
            <a:r>
              <a:rPr lang="en-US" sz="850" dirty="0">
                <a:solidFill>
                  <a:srgbClr val="CFE0FA"/>
                </a:solidFill>
                <a:latin typeface="Calibri" pitchFamily="34" charset="0"/>
                <a:ea typeface="Calibri" pitchFamily="34" charset="-122"/>
                <a:cs typeface="Calibri" pitchFamily="34" charset="-120"/>
              </a:rPr>
              <a:t>Version controlled</a:t>
            </a:r>
            <a:endParaRPr lang="en-US" sz="850" dirty="0"/>
          </a:p>
        </p:txBody>
      </p:sp>
      <p:sp>
        <p:nvSpPr>
          <p:cNvPr id="16" name="Shape 14"/>
          <p:cNvSpPr/>
          <p:nvPr/>
        </p:nvSpPr>
        <p:spPr>
          <a:xfrm>
            <a:off x="6016752" y="2080260"/>
            <a:ext cx="173736" cy="0"/>
          </a:xfrm>
          <a:prstGeom prst="line">
            <a:avLst/>
          </a:prstGeom>
          <a:noFill/>
          <a:ln w="25400">
            <a:solidFill>
              <a:srgbClr val="5CC8E6"/>
            </a:solidFill>
            <a:prstDash val="solid"/>
            <a:tailEnd type="triangle"/>
          </a:ln>
        </p:spPr>
      </p:sp>
      <p:sp>
        <p:nvSpPr>
          <p:cNvPr id="17" name="Shape 15"/>
          <p:cNvSpPr/>
          <p:nvPr/>
        </p:nvSpPr>
        <p:spPr>
          <a:xfrm>
            <a:off x="4325112" y="1371600"/>
            <a:ext cx="1691640" cy="1417320"/>
          </a:xfrm>
          <a:prstGeom prst="roundRect">
            <a:avLst>
              <a:gd name="adj" fmla="val 6452"/>
            </a:avLst>
          </a:prstGeom>
          <a:solidFill>
            <a:srgbClr val="142352"/>
          </a:solidFill>
          <a:ln w="12700">
            <a:solidFill>
              <a:srgbClr val="2A3B77"/>
            </a:solidFill>
            <a:prstDash val="solid"/>
          </a:ln>
        </p:spPr>
      </p:sp>
      <p:sp>
        <p:nvSpPr>
          <p:cNvPr id="18" name="Shape 16"/>
          <p:cNvSpPr/>
          <p:nvPr/>
        </p:nvSpPr>
        <p:spPr>
          <a:xfrm>
            <a:off x="4905756" y="1517904"/>
            <a:ext cx="530352" cy="530352"/>
          </a:xfrm>
          <a:prstGeom prst="ellipse">
            <a:avLst/>
          </a:prstGeom>
          <a:solidFill>
            <a:srgbClr val="1B2C63"/>
          </a:solidFill>
          <a:ln/>
        </p:spPr>
      </p:sp>
      <p:sp>
        <p:nvSpPr>
          <p:cNvPr id="19" name="Text 17"/>
          <p:cNvSpPr/>
          <p:nvPr/>
        </p:nvSpPr>
        <p:spPr>
          <a:xfrm>
            <a:off x="4905756" y="1517904"/>
            <a:ext cx="530352" cy="530352"/>
          </a:xfrm>
          <a:prstGeom prst="rect">
            <a:avLst/>
          </a:prstGeom>
          <a:noFill/>
          <a:ln/>
        </p:spPr>
        <p:txBody>
          <a:bodyPr wrap="square" lIns="0" tIns="0" rIns="0" bIns="0" rtlCol="0" anchor="ctr"/>
          <a:lstStyle/>
          <a:p>
            <a:pPr algn="ctr" indent="0" marL="0">
              <a:buNone/>
            </a:pPr>
            <a:r>
              <a:rPr lang="en-US" sz="1508" b="1" dirty="0">
                <a:solidFill>
                  <a:srgbClr val="5CC8E6"/>
                </a:solidFill>
                <a:latin typeface="Calibri" pitchFamily="34" charset="0"/>
                <a:ea typeface="Calibri" pitchFamily="34" charset="-122"/>
                <a:cs typeface="Calibri" pitchFamily="34" charset="-120"/>
              </a:rPr>
              <a:t>⚙</a:t>
            </a:r>
            <a:endParaRPr lang="en-US" sz="1508" dirty="0"/>
          </a:p>
        </p:txBody>
      </p:sp>
      <p:sp>
        <p:nvSpPr>
          <p:cNvPr id="20" name="Text 18"/>
          <p:cNvSpPr/>
          <p:nvPr/>
        </p:nvSpPr>
        <p:spPr>
          <a:xfrm>
            <a:off x="4379976" y="2121408"/>
            <a:ext cx="15819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GitHub Actions</a:t>
            </a:r>
            <a:endParaRPr lang="en-US" sz="1100" dirty="0"/>
          </a:p>
        </p:txBody>
      </p:sp>
      <p:sp>
        <p:nvSpPr>
          <p:cNvPr id="21" name="Text 19"/>
          <p:cNvSpPr/>
          <p:nvPr/>
        </p:nvSpPr>
        <p:spPr>
          <a:xfrm>
            <a:off x="4379976" y="2414016"/>
            <a:ext cx="1581912" cy="310896"/>
          </a:xfrm>
          <a:prstGeom prst="rect">
            <a:avLst/>
          </a:prstGeom>
          <a:noFill/>
          <a:ln/>
        </p:spPr>
        <p:txBody>
          <a:bodyPr wrap="square" lIns="0" tIns="0" rIns="0" bIns="0" rtlCol="0" anchor="ctr"/>
          <a:lstStyle/>
          <a:p>
            <a:pPr algn="ctr" indent="0" marL="0">
              <a:buNone/>
            </a:pPr>
            <a:r>
              <a:rPr lang="en-US" sz="850" dirty="0">
                <a:solidFill>
                  <a:srgbClr val="CFE0FA"/>
                </a:solidFill>
                <a:latin typeface="Calibri" pitchFamily="34" charset="0"/>
                <a:ea typeface="Calibri" pitchFamily="34" charset="-122"/>
                <a:cs typeface="Calibri" pitchFamily="34" charset="-120"/>
              </a:rPr>
              <a:t>Builds automatically</a:t>
            </a:r>
            <a:endParaRPr lang="en-US" sz="850" dirty="0"/>
          </a:p>
        </p:txBody>
      </p:sp>
      <p:sp>
        <p:nvSpPr>
          <p:cNvPr id="22" name="Shape 20"/>
          <p:cNvSpPr/>
          <p:nvPr/>
        </p:nvSpPr>
        <p:spPr>
          <a:xfrm>
            <a:off x="7882128" y="2080260"/>
            <a:ext cx="173736" cy="0"/>
          </a:xfrm>
          <a:prstGeom prst="line">
            <a:avLst/>
          </a:prstGeom>
          <a:noFill/>
          <a:ln w="25400">
            <a:solidFill>
              <a:srgbClr val="5CC8E6"/>
            </a:solidFill>
            <a:prstDash val="solid"/>
            <a:tailEnd type="triangle"/>
          </a:ln>
        </p:spPr>
      </p:sp>
      <p:sp>
        <p:nvSpPr>
          <p:cNvPr id="23" name="Shape 21"/>
          <p:cNvSpPr/>
          <p:nvPr/>
        </p:nvSpPr>
        <p:spPr>
          <a:xfrm>
            <a:off x="6190488" y="1371600"/>
            <a:ext cx="1691640" cy="1417320"/>
          </a:xfrm>
          <a:prstGeom prst="roundRect">
            <a:avLst>
              <a:gd name="adj" fmla="val 6452"/>
            </a:avLst>
          </a:prstGeom>
          <a:solidFill>
            <a:srgbClr val="142352"/>
          </a:solidFill>
          <a:ln w="12700">
            <a:solidFill>
              <a:srgbClr val="2A3B77"/>
            </a:solidFill>
            <a:prstDash val="solid"/>
          </a:ln>
        </p:spPr>
      </p:sp>
      <p:sp>
        <p:nvSpPr>
          <p:cNvPr id="24" name="Shape 22"/>
          <p:cNvSpPr/>
          <p:nvPr/>
        </p:nvSpPr>
        <p:spPr>
          <a:xfrm>
            <a:off x="6771132" y="1517904"/>
            <a:ext cx="530352" cy="530352"/>
          </a:xfrm>
          <a:prstGeom prst="ellipse">
            <a:avLst/>
          </a:prstGeom>
          <a:solidFill>
            <a:srgbClr val="1B2C63"/>
          </a:solidFill>
          <a:ln/>
        </p:spPr>
      </p:sp>
      <p:sp>
        <p:nvSpPr>
          <p:cNvPr id="25" name="Text 23"/>
          <p:cNvSpPr/>
          <p:nvPr/>
        </p:nvSpPr>
        <p:spPr>
          <a:xfrm>
            <a:off x="6771132" y="1517904"/>
            <a:ext cx="530352" cy="530352"/>
          </a:xfrm>
          <a:prstGeom prst="rect">
            <a:avLst/>
          </a:prstGeom>
          <a:noFill/>
          <a:ln/>
        </p:spPr>
        <p:txBody>
          <a:bodyPr wrap="square" lIns="0" tIns="0" rIns="0" bIns="0" rtlCol="0" anchor="ctr"/>
          <a:lstStyle/>
          <a:p>
            <a:pPr algn="ctr" indent="0" marL="0">
              <a:buNone/>
            </a:pPr>
            <a:r>
              <a:rPr lang="en-US" sz="1508" b="1" dirty="0">
                <a:solidFill>
                  <a:srgbClr val="5CC8E6"/>
                </a:solidFill>
                <a:latin typeface="Calibri" pitchFamily="34" charset="0"/>
                <a:ea typeface="Calibri" pitchFamily="34" charset="-122"/>
                <a:cs typeface="Calibri" pitchFamily="34" charset="-120"/>
              </a:rPr>
              <a:t>⇄</a:t>
            </a:r>
            <a:endParaRPr lang="en-US" sz="1508" dirty="0"/>
          </a:p>
        </p:txBody>
      </p:sp>
      <p:sp>
        <p:nvSpPr>
          <p:cNvPr id="26" name="Text 24"/>
          <p:cNvSpPr/>
          <p:nvPr/>
        </p:nvSpPr>
        <p:spPr>
          <a:xfrm>
            <a:off x="6245352" y="2121408"/>
            <a:ext cx="15819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Deployment Center</a:t>
            </a:r>
            <a:endParaRPr lang="en-US" sz="1100" dirty="0"/>
          </a:p>
        </p:txBody>
      </p:sp>
      <p:sp>
        <p:nvSpPr>
          <p:cNvPr id="27" name="Text 25"/>
          <p:cNvSpPr/>
          <p:nvPr/>
        </p:nvSpPr>
        <p:spPr>
          <a:xfrm>
            <a:off x="6245352" y="2414016"/>
            <a:ext cx="1581912" cy="310896"/>
          </a:xfrm>
          <a:prstGeom prst="rect">
            <a:avLst/>
          </a:prstGeom>
          <a:noFill/>
          <a:ln/>
        </p:spPr>
        <p:txBody>
          <a:bodyPr wrap="square" lIns="0" tIns="0" rIns="0" bIns="0" rtlCol="0" anchor="ctr"/>
          <a:lstStyle/>
          <a:p>
            <a:pPr algn="ctr" indent="0" marL="0">
              <a:buNone/>
            </a:pPr>
            <a:r>
              <a:rPr lang="en-US" sz="850" dirty="0">
                <a:solidFill>
                  <a:srgbClr val="CFE0FA"/>
                </a:solidFill>
                <a:latin typeface="Calibri" pitchFamily="34" charset="0"/>
                <a:ea typeface="Calibri" pitchFamily="34" charset="-122"/>
                <a:cs typeface="Calibri" pitchFamily="34" charset="-120"/>
              </a:rPr>
              <a:t>Connects to Azure</a:t>
            </a:r>
            <a:endParaRPr lang="en-US" sz="850" dirty="0"/>
          </a:p>
        </p:txBody>
      </p:sp>
      <p:sp>
        <p:nvSpPr>
          <p:cNvPr id="28" name="Shape 26"/>
          <p:cNvSpPr/>
          <p:nvPr/>
        </p:nvSpPr>
        <p:spPr>
          <a:xfrm>
            <a:off x="9747504" y="2080260"/>
            <a:ext cx="173736" cy="0"/>
          </a:xfrm>
          <a:prstGeom prst="line">
            <a:avLst/>
          </a:prstGeom>
          <a:noFill/>
          <a:ln w="25400">
            <a:solidFill>
              <a:srgbClr val="5CC8E6"/>
            </a:solidFill>
            <a:prstDash val="solid"/>
            <a:tailEnd type="triangle"/>
          </a:ln>
        </p:spPr>
      </p:sp>
      <p:sp>
        <p:nvSpPr>
          <p:cNvPr id="29" name="Shape 27"/>
          <p:cNvSpPr/>
          <p:nvPr/>
        </p:nvSpPr>
        <p:spPr>
          <a:xfrm>
            <a:off x="8055864" y="1371600"/>
            <a:ext cx="1691640" cy="1417320"/>
          </a:xfrm>
          <a:prstGeom prst="roundRect">
            <a:avLst>
              <a:gd name="adj" fmla="val 6452"/>
            </a:avLst>
          </a:prstGeom>
          <a:solidFill>
            <a:srgbClr val="142352"/>
          </a:solidFill>
          <a:ln w="12700">
            <a:solidFill>
              <a:srgbClr val="2A3B77"/>
            </a:solidFill>
            <a:prstDash val="solid"/>
          </a:ln>
        </p:spPr>
      </p:sp>
      <p:sp>
        <p:nvSpPr>
          <p:cNvPr id="30" name="Shape 28"/>
          <p:cNvSpPr/>
          <p:nvPr/>
        </p:nvSpPr>
        <p:spPr>
          <a:xfrm>
            <a:off x="8636508" y="1517904"/>
            <a:ext cx="530352" cy="530352"/>
          </a:xfrm>
          <a:prstGeom prst="ellipse">
            <a:avLst/>
          </a:prstGeom>
          <a:solidFill>
            <a:srgbClr val="1B2C63"/>
          </a:solidFill>
          <a:ln/>
        </p:spPr>
      </p:sp>
      <p:sp>
        <p:nvSpPr>
          <p:cNvPr id="31" name="Text 29"/>
          <p:cNvSpPr/>
          <p:nvPr/>
        </p:nvSpPr>
        <p:spPr>
          <a:xfrm>
            <a:off x="8636508" y="1517904"/>
            <a:ext cx="530352" cy="530352"/>
          </a:xfrm>
          <a:prstGeom prst="rect">
            <a:avLst/>
          </a:prstGeom>
          <a:noFill/>
          <a:ln/>
        </p:spPr>
        <p:txBody>
          <a:bodyPr wrap="square" lIns="0" tIns="0" rIns="0" bIns="0" rtlCol="0" anchor="ctr"/>
          <a:lstStyle/>
          <a:p>
            <a:pPr algn="ctr" indent="0" marL="0">
              <a:buNone/>
            </a:pPr>
            <a:r>
              <a:rPr lang="en-US" sz="1508" b="1" dirty="0">
                <a:solidFill>
                  <a:srgbClr val="5CC8E6"/>
                </a:solidFill>
                <a:latin typeface="Calibri" pitchFamily="34" charset="0"/>
                <a:ea typeface="Calibri" pitchFamily="34" charset="-122"/>
                <a:cs typeface="Calibri" pitchFamily="34" charset="-120"/>
              </a:rPr>
              <a:t>☁</a:t>
            </a:r>
            <a:endParaRPr lang="en-US" sz="1508" dirty="0"/>
          </a:p>
        </p:txBody>
      </p:sp>
      <p:sp>
        <p:nvSpPr>
          <p:cNvPr id="32" name="Text 30"/>
          <p:cNvSpPr/>
          <p:nvPr/>
        </p:nvSpPr>
        <p:spPr>
          <a:xfrm>
            <a:off x="8110728" y="2121408"/>
            <a:ext cx="15819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App Service</a:t>
            </a:r>
            <a:endParaRPr lang="en-US" sz="1100" dirty="0"/>
          </a:p>
        </p:txBody>
      </p:sp>
      <p:sp>
        <p:nvSpPr>
          <p:cNvPr id="33" name="Text 31"/>
          <p:cNvSpPr/>
          <p:nvPr/>
        </p:nvSpPr>
        <p:spPr>
          <a:xfrm>
            <a:off x="8110728" y="2414016"/>
            <a:ext cx="1581912" cy="310896"/>
          </a:xfrm>
          <a:prstGeom prst="rect">
            <a:avLst/>
          </a:prstGeom>
          <a:noFill/>
          <a:ln/>
        </p:spPr>
        <p:txBody>
          <a:bodyPr wrap="square" lIns="0" tIns="0" rIns="0" bIns="0" rtlCol="0" anchor="ctr"/>
          <a:lstStyle/>
          <a:p>
            <a:pPr algn="ctr" indent="0" marL="0">
              <a:buNone/>
            </a:pPr>
            <a:r>
              <a:rPr lang="en-US" sz="850" dirty="0">
                <a:solidFill>
                  <a:srgbClr val="CFE0FA"/>
                </a:solidFill>
                <a:latin typeface="Calibri" pitchFamily="34" charset="0"/>
                <a:ea typeface="Calibri" pitchFamily="34" charset="-122"/>
                <a:cs typeface="Calibri" pitchFamily="34" charset="-120"/>
              </a:rPr>
              <a:t>Deploys the build</a:t>
            </a:r>
            <a:endParaRPr lang="en-US" sz="850" dirty="0"/>
          </a:p>
        </p:txBody>
      </p:sp>
      <p:sp>
        <p:nvSpPr>
          <p:cNvPr id="34" name="Shape 32"/>
          <p:cNvSpPr/>
          <p:nvPr/>
        </p:nvSpPr>
        <p:spPr>
          <a:xfrm>
            <a:off x="9921240" y="1371600"/>
            <a:ext cx="1691640" cy="1417320"/>
          </a:xfrm>
          <a:prstGeom prst="roundRect">
            <a:avLst>
              <a:gd name="adj" fmla="val 6452"/>
            </a:avLst>
          </a:prstGeom>
          <a:solidFill>
            <a:srgbClr val="2EA0F5"/>
          </a:solidFill>
          <a:ln w="12700">
            <a:solidFill>
              <a:srgbClr val="2EA0F5"/>
            </a:solidFill>
            <a:prstDash val="solid"/>
          </a:ln>
        </p:spPr>
      </p:sp>
      <p:sp>
        <p:nvSpPr>
          <p:cNvPr id="35" name="Shape 33"/>
          <p:cNvSpPr/>
          <p:nvPr/>
        </p:nvSpPr>
        <p:spPr>
          <a:xfrm>
            <a:off x="10501884" y="1517904"/>
            <a:ext cx="530352" cy="530352"/>
          </a:xfrm>
          <a:prstGeom prst="ellipse">
            <a:avLst/>
          </a:prstGeom>
          <a:solidFill>
            <a:srgbClr val="FFFFFF"/>
          </a:solidFill>
          <a:ln/>
        </p:spPr>
      </p:sp>
      <p:sp>
        <p:nvSpPr>
          <p:cNvPr id="36" name="Text 34"/>
          <p:cNvSpPr/>
          <p:nvPr/>
        </p:nvSpPr>
        <p:spPr>
          <a:xfrm>
            <a:off x="10501884" y="1517904"/>
            <a:ext cx="530352" cy="530352"/>
          </a:xfrm>
          <a:prstGeom prst="rect">
            <a:avLst/>
          </a:prstGeom>
          <a:noFill/>
          <a:ln/>
        </p:spPr>
        <p:txBody>
          <a:bodyPr wrap="square" lIns="0" tIns="0" rIns="0" bIns="0" rtlCol="0" anchor="ctr"/>
          <a:lstStyle/>
          <a:p>
            <a:pPr algn="ctr" indent="0" marL="0">
              <a:buNone/>
            </a:pPr>
            <a:r>
              <a:rPr lang="en-US" sz="1508" b="1" dirty="0">
                <a:solidFill>
                  <a:srgbClr val="2EA0F5"/>
                </a:solidFill>
                <a:latin typeface="Calibri" pitchFamily="34" charset="0"/>
                <a:ea typeface="Calibri" pitchFamily="34" charset="-122"/>
                <a:cs typeface="Calibri" pitchFamily="34" charset="-120"/>
              </a:rPr>
              <a:t>✓</a:t>
            </a:r>
            <a:endParaRPr lang="en-US" sz="1508" dirty="0"/>
          </a:p>
        </p:txBody>
      </p:sp>
      <p:sp>
        <p:nvSpPr>
          <p:cNvPr id="37" name="Text 35"/>
          <p:cNvSpPr/>
          <p:nvPr/>
        </p:nvSpPr>
        <p:spPr>
          <a:xfrm>
            <a:off x="9976104" y="2121408"/>
            <a:ext cx="158191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Live Website</a:t>
            </a:r>
            <a:endParaRPr lang="en-US" sz="1100" dirty="0"/>
          </a:p>
        </p:txBody>
      </p:sp>
      <p:sp>
        <p:nvSpPr>
          <p:cNvPr id="38" name="Text 36"/>
          <p:cNvSpPr/>
          <p:nvPr/>
        </p:nvSpPr>
        <p:spPr>
          <a:xfrm>
            <a:off x="9976104" y="2414016"/>
            <a:ext cx="1581912" cy="310896"/>
          </a:xfrm>
          <a:prstGeom prst="rect">
            <a:avLst/>
          </a:prstGeom>
          <a:noFill/>
          <a:ln/>
        </p:spPr>
        <p:txBody>
          <a:bodyPr wrap="square" lIns="0" tIns="0" rIns="0" bIns="0" rtlCol="0" anchor="ctr"/>
          <a:lstStyle/>
          <a:p>
            <a:pPr algn="ctr" indent="0" marL="0">
              <a:buNone/>
            </a:pPr>
            <a:r>
              <a:rPr lang="en-US" sz="850" dirty="0">
                <a:solidFill>
                  <a:srgbClr val="CFE0FA"/>
                </a:solidFill>
                <a:latin typeface="Calibri" pitchFamily="34" charset="0"/>
                <a:ea typeface="Calibri" pitchFamily="34" charset="-122"/>
                <a:cs typeface="Calibri" pitchFamily="34" charset="-120"/>
              </a:rPr>
              <a:t>Publicly available</a:t>
            </a:r>
            <a:endParaRPr lang="en-US" sz="850" dirty="0"/>
          </a:p>
        </p:txBody>
      </p:sp>
      <p:sp>
        <p:nvSpPr>
          <p:cNvPr id="39" name="Shape 37"/>
          <p:cNvSpPr/>
          <p:nvPr/>
        </p:nvSpPr>
        <p:spPr>
          <a:xfrm>
            <a:off x="2877160" y="3063240"/>
            <a:ext cx="6437376" cy="3211920"/>
          </a:xfrm>
          <a:prstGeom prst="roundRect">
            <a:avLst>
              <a:gd name="adj" fmla="val 1708"/>
            </a:avLst>
          </a:prstGeom>
          <a:solidFill>
            <a:srgbClr val="FFFFFF"/>
          </a:solidFill>
          <a:ln w="12700">
            <a:solidFill>
              <a:srgbClr val="2A3B77"/>
            </a:solidFill>
            <a:prstDash val="solid"/>
          </a:ln>
          <a:effectLst>
            <a:outerShdw sx="100000" sy="100000" kx="0" ky="0" algn="bl" rotWithShape="0" blurRad="152400" dist="50800" dir="5400000">
              <a:srgbClr val="000000">
                <a:alpha val="30000"/>
              </a:srgbClr>
            </a:outerShdw>
          </a:effectLst>
        </p:spPr>
      </p:sp>
      <p:pic>
        <p:nvPicPr>
          <p:cNvPr id="40" name="Image 0" descr="/home/claude/proj/cropped/deploymentdashboard.png">    </p:cNvPr>
          <p:cNvPicPr>
            <a:picLocks noChangeAspect="1"/>
          </p:cNvPicPr>
          <p:nvPr/>
        </p:nvPicPr>
        <p:blipFill>
          <a:blip r:embed="rId1"/>
          <a:stretch>
            <a:fillRect/>
          </a:stretch>
        </p:blipFill>
        <p:spPr>
          <a:xfrm>
            <a:off x="2941168" y="3127248"/>
            <a:ext cx="6309360" cy="3083904"/>
          </a:xfrm>
          <a:prstGeom prst="rect">
            <a:avLst/>
          </a:prstGeom>
        </p:spPr>
      </p:pic>
      <p:sp>
        <p:nvSpPr>
          <p:cNvPr id="41" name="Text 38"/>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8592B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Results Achieved</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DELIVERED &amp; VERIFIED</a:t>
            </a:r>
            <a:endParaRPr lang="en-US" sz="1100" dirty="0"/>
          </a:p>
        </p:txBody>
      </p:sp>
      <p:sp>
        <p:nvSpPr>
          <p:cNvPr id="4" name="Shape 2"/>
          <p:cNvSpPr/>
          <p:nvPr/>
        </p:nvSpPr>
        <p:spPr>
          <a:xfrm>
            <a:off x="594360" y="1325880"/>
            <a:ext cx="292608" cy="292608"/>
          </a:xfrm>
          <a:prstGeom prst="ellipse">
            <a:avLst/>
          </a:prstGeom>
          <a:solidFill>
            <a:srgbClr val="DFF5E6"/>
          </a:solidFill>
          <a:ln/>
        </p:spPr>
      </p:sp>
      <p:sp>
        <p:nvSpPr>
          <p:cNvPr id="5" name="Text 3"/>
          <p:cNvSpPr/>
          <p:nvPr/>
        </p:nvSpPr>
        <p:spPr>
          <a:xfrm>
            <a:off x="594360" y="1325880"/>
            <a:ext cx="292608" cy="292608"/>
          </a:xfrm>
          <a:prstGeom prst="rect">
            <a:avLst/>
          </a:prstGeom>
          <a:noFill/>
          <a:ln/>
        </p:spPr>
        <p:txBody>
          <a:bodyPr wrap="square" lIns="0" tIns="0" rIns="0" bIns="0" rtlCol="0" anchor="ctr"/>
          <a:lstStyle/>
          <a:p>
            <a:pPr algn="ctr" indent="0" marL="0">
              <a:buNone/>
            </a:pPr>
            <a:r>
              <a:rPr lang="en-US" sz="832" b="1" dirty="0">
                <a:solidFill>
                  <a:srgbClr val="27AE60"/>
                </a:solidFill>
                <a:latin typeface="Calibri" pitchFamily="34" charset="0"/>
                <a:ea typeface="Calibri" pitchFamily="34" charset="-122"/>
                <a:cs typeface="Calibri" pitchFamily="34" charset="-120"/>
              </a:rPr>
              <a:t>✓</a:t>
            </a:r>
            <a:endParaRPr lang="en-US" sz="832" dirty="0"/>
          </a:p>
        </p:txBody>
      </p:sp>
      <p:sp>
        <p:nvSpPr>
          <p:cNvPr id="6" name="Text 4"/>
          <p:cNvSpPr/>
          <p:nvPr/>
        </p:nvSpPr>
        <p:spPr>
          <a:xfrm>
            <a:off x="978408" y="1298448"/>
            <a:ext cx="1874520" cy="457200"/>
          </a:xfrm>
          <a:prstGeom prst="rect">
            <a:avLst/>
          </a:prstGeom>
          <a:noFill/>
          <a:ln/>
        </p:spPr>
        <p:txBody>
          <a:bodyPr wrap="square" lIns="0" tIns="0" rIns="0" bIns="0" rtlCol="0" anchor="ctr"/>
          <a:lstStyle/>
          <a:p>
            <a:pPr indent="0" marL="0">
              <a:buNone/>
            </a:pPr>
            <a:r>
              <a:rPr lang="en-US" sz="1000" dirty="0">
                <a:solidFill>
                  <a:srgbClr val="16213E"/>
                </a:solidFill>
                <a:latin typeface="Calibri" pitchFamily="34" charset="0"/>
                <a:ea typeface="Calibri" pitchFamily="34" charset="-122"/>
                <a:cs typeface="Calibri" pitchFamily="34" charset="-120"/>
              </a:rPr>
              <a:t>User Authentication</a:t>
            </a:r>
            <a:endParaRPr lang="en-US" sz="1000" dirty="0"/>
          </a:p>
        </p:txBody>
      </p:sp>
      <p:sp>
        <p:nvSpPr>
          <p:cNvPr id="7" name="Shape 5"/>
          <p:cNvSpPr/>
          <p:nvPr/>
        </p:nvSpPr>
        <p:spPr>
          <a:xfrm>
            <a:off x="594360" y="1783080"/>
            <a:ext cx="292608" cy="292608"/>
          </a:xfrm>
          <a:prstGeom prst="ellipse">
            <a:avLst/>
          </a:prstGeom>
          <a:solidFill>
            <a:srgbClr val="DFF5E6"/>
          </a:solidFill>
          <a:ln/>
        </p:spPr>
      </p:sp>
      <p:sp>
        <p:nvSpPr>
          <p:cNvPr id="8" name="Text 6"/>
          <p:cNvSpPr/>
          <p:nvPr/>
        </p:nvSpPr>
        <p:spPr>
          <a:xfrm>
            <a:off x="594360" y="1783080"/>
            <a:ext cx="292608" cy="292608"/>
          </a:xfrm>
          <a:prstGeom prst="rect">
            <a:avLst/>
          </a:prstGeom>
          <a:noFill/>
          <a:ln/>
        </p:spPr>
        <p:txBody>
          <a:bodyPr wrap="square" lIns="0" tIns="0" rIns="0" bIns="0" rtlCol="0" anchor="ctr"/>
          <a:lstStyle/>
          <a:p>
            <a:pPr algn="ctr" indent="0" marL="0">
              <a:buNone/>
            </a:pPr>
            <a:r>
              <a:rPr lang="en-US" sz="832" b="1" dirty="0">
                <a:solidFill>
                  <a:srgbClr val="27AE60"/>
                </a:solidFill>
                <a:latin typeface="Calibri" pitchFamily="34" charset="0"/>
                <a:ea typeface="Calibri" pitchFamily="34" charset="-122"/>
                <a:cs typeface="Calibri" pitchFamily="34" charset="-120"/>
              </a:rPr>
              <a:t>✓</a:t>
            </a:r>
            <a:endParaRPr lang="en-US" sz="832" dirty="0"/>
          </a:p>
        </p:txBody>
      </p:sp>
      <p:sp>
        <p:nvSpPr>
          <p:cNvPr id="9" name="Text 7"/>
          <p:cNvSpPr/>
          <p:nvPr/>
        </p:nvSpPr>
        <p:spPr>
          <a:xfrm>
            <a:off x="978408" y="1755648"/>
            <a:ext cx="1874520" cy="457200"/>
          </a:xfrm>
          <a:prstGeom prst="rect">
            <a:avLst/>
          </a:prstGeom>
          <a:noFill/>
          <a:ln/>
        </p:spPr>
        <p:txBody>
          <a:bodyPr wrap="square" lIns="0" tIns="0" rIns="0" bIns="0" rtlCol="0" anchor="ctr"/>
          <a:lstStyle/>
          <a:p>
            <a:pPr indent="0" marL="0">
              <a:buNone/>
            </a:pPr>
            <a:r>
              <a:rPr lang="en-US" sz="1000" dirty="0">
                <a:solidFill>
                  <a:srgbClr val="16213E"/>
                </a:solidFill>
                <a:latin typeface="Calibri" pitchFamily="34" charset="0"/>
                <a:ea typeface="Calibri" pitchFamily="34" charset="-122"/>
                <a:cs typeface="Calibri" pitchFamily="34" charset="-120"/>
              </a:rPr>
              <a:t>Azure SQL Database</a:t>
            </a:r>
            <a:endParaRPr lang="en-US" sz="1000" dirty="0"/>
          </a:p>
        </p:txBody>
      </p:sp>
      <p:sp>
        <p:nvSpPr>
          <p:cNvPr id="10" name="Shape 8"/>
          <p:cNvSpPr/>
          <p:nvPr/>
        </p:nvSpPr>
        <p:spPr>
          <a:xfrm>
            <a:off x="594360" y="2240280"/>
            <a:ext cx="292608" cy="292608"/>
          </a:xfrm>
          <a:prstGeom prst="ellipse">
            <a:avLst/>
          </a:prstGeom>
          <a:solidFill>
            <a:srgbClr val="DFF5E6"/>
          </a:solidFill>
          <a:ln/>
        </p:spPr>
      </p:sp>
      <p:sp>
        <p:nvSpPr>
          <p:cNvPr id="11" name="Text 9"/>
          <p:cNvSpPr/>
          <p:nvPr/>
        </p:nvSpPr>
        <p:spPr>
          <a:xfrm>
            <a:off x="594360" y="2240280"/>
            <a:ext cx="292608" cy="292608"/>
          </a:xfrm>
          <a:prstGeom prst="rect">
            <a:avLst/>
          </a:prstGeom>
          <a:noFill/>
          <a:ln/>
        </p:spPr>
        <p:txBody>
          <a:bodyPr wrap="square" lIns="0" tIns="0" rIns="0" bIns="0" rtlCol="0" anchor="ctr"/>
          <a:lstStyle/>
          <a:p>
            <a:pPr algn="ctr" indent="0" marL="0">
              <a:buNone/>
            </a:pPr>
            <a:r>
              <a:rPr lang="en-US" sz="832" b="1" dirty="0">
                <a:solidFill>
                  <a:srgbClr val="27AE60"/>
                </a:solidFill>
                <a:latin typeface="Calibri" pitchFamily="34" charset="0"/>
                <a:ea typeface="Calibri" pitchFamily="34" charset="-122"/>
                <a:cs typeface="Calibri" pitchFamily="34" charset="-120"/>
              </a:rPr>
              <a:t>✓</a:t>
            </a:r>
            <a:endParaRPr lang="en-US" sz="832" dirty="0"/>
          </a:p>
        </p:txBody>
      </p:sp>
      <p:sp>
        <p:nvSpPr>
          <p:cNvPr id="12" name="Text 10"/>
          <p:cNvSpPr/>
          <p:nvPr/>
        </p:nvSpPr>
        <p:spPr>
          <a:xfrm>
            <a:off x="978408" y="2212848"/>
            <a:ext cx="1874520" cy="457200"/>
          </a:xfrm>
          <a:prstGeom prst="rect">
            <a:avLst/>
          </a:prstGeom>
          <a:noFill/>
          <a:ln/>
        </p:spPr>
        <p:txBody>
          <a:bodyPr wrap="square" lIns="0" tIns="0" rIns="0" bIns="0" rtlCol="0" anchor="ctr"/>
          <a:lstStyle/>
          <a:p>
            <a:pPr indent="0" marL="0">
              <a:buNone/>
            </a:pPr>
            <a:r>
              <a:rPr lang="en-US" sz="1000" dirty="0">
                <a:solidFill>
                  <a:srgbClr val="16213E"/>
                </a:solidFill>
                <a:latin typeface="Calibri" pitchFamily="34" charset="0"/>
                <a:ea typeface="Calibri" pitchFamily="34" charset="-122"/>
                <a:cs typeface="Calibri" pitchFamily="34" charset="-120"/>
              </a:rPr>
              <a:t>Azure Blob Storage</a:t>
            </a:r>
            <a:endParaRPr lang="en-US" sz="1000" dirty="0"/>
          </a:p>
        </p:txBody>
      </p:sp>
      <p:sp>
        <p:nvSpPr>
          <p:cNvPr id="13" name="Shape 11"/>
          <p:cNvSpPr/>
          <p:nvPr/>
        </p:nvSpPr>
        <p:spPr>
          <a:xfrm>
            <a:off x="594360" y="2697480"/>
            <a:ext cx="292608" cy="292608"/>
          </a:xfrm>
          <a:prstGeom prst="ellipse">
            <a:avLst/>
          </a:prstGeom>
          <a:solidFill>
            <a:srgbClr val="DFF5E6"/>
          </a:solidFill>
          <a:ln/>
        </p:spPr>
      </p:sp>
      <p:sp>
        <p:nvSpPr>
          <p:cNvPr id="14" name="Text 12"/>
          <p:cNvSpPr/>
          <p:nvPr/>
        </p:nvSpPr>
        <p:spPr>
          <a:xfrm>
            <a:off x="594360" y="2697480"/>
            <a:ext cx="292608" cy="292608"/>
          </a:xfrm>
          <a:prstGeom prst="rect">
            <a:avLst/>
          </a:prstGeom>
          <a:noFill/>
          <a:ln/>
        </p:spPr>
        <p:txBody>
          <a:bodyPr wrap="square" lIns="0" tIns="0" rIns="0" bIns="0" rtlCol="0" anchor="ctr"/>
          <a:lstStyle/>
          <a:p>
            <a:pPr algn="ctr" indent="0" marL="0">
              <a:buNone/>
            </a:pPr>
            <a:r>
              <a:rPr lang="en-US" sz="832" b="1" dirty="0">
                <a:solidFill>
                  <a:srgbClr val="27AE60"/>
                </a:solidFill>
                <a:latin typeface="Calibri" pitchFamily="34" charset="0"/>
                <a:ea typeface="Calibri" pitchFamily="34" charset="-122"/>
                <a:cs typeface="Calibri" pitchFamily="34" charset="-120"/>
              </a:rPr>
              <a:t>✓</a:t>
            </a:r>
            <a:endParaRPr lang="en-US" sz="832" dirty="0"/>
          </a:p>
        </p:txBody>
      </p:sp>
      <p:sp>
        <p:nvSpPr>
          <p:cNvPr id="15" name="Text 13"/>
          <p:cNvSpPr/>
          <p:nvPr/>
        </p:nvSpPr>
        <p:spPr>
          <a:xfrm>
            <a:off x="978408" y="2670048"/>
            <a:ext cx="1874520" cy="457200"/>
          </a:xfrm>
          <a:prstGeom prst="rect">
            <a:avLst/>
          </a:prstGeom>
          <a:noFill/>
          <a:ln/>
        </p:spPr>
        <p:txBody>
          <a:bodyPr wrap="square" lIns="0" tIns="0" rIns="0" bIns="0" rtlCol="0" anchor="ctr"/>
          <a:lstStyle/>
          <a:p>
            <a:pPr indent="0" marL="0">
              <a:buNone/>
            </a:pPr>
            <a:r>
              <a:rPr lang="en-US" sz="1000" dirty="0">
                <a:solidFill>
                  <a:srgbClr val="16213E"/>
                </a:solidFill>
                <a:latin typeface="Calibri" pitchFamily="34" charset="0"/>
                <a:ea typeface="Calibri" pitchFamily="34" charset="-122"/>
                <a:cs typeface="Calibri" pitchFamily="34" charset="-120"/>
              </a:rPr>
              <a:t>Document Upload</a:t>
            </a:r>
            <a:endParaRPr lang="en-US" sz="1000" dirty="0"/>
          </a:p>
        </p:txBody>
      </p:sp>
      <p:sp>
        <p:nvSpPr>
          <p:cNvPr id="16" name="Shape 14"/>
          <p:cNvSpPr/>
          <p:nvPr/>
        </p:nvSpPr>
        <p:spPr>
          <a:xfrm>
            <a:off x="594360" y="3154680"/>
            <a:ext cx="292608" cy="292608"/>
          </a:xfrm>
          <a:prstGeom prst="ellipse">
            <a:avLst/>
          </a:prstGeom>
          <a:solidFill>
            <a:srgbClr val="DFF5E6"/>
          </a:solidFill>
          <a:ln/>
        </p:spPr>
      </p:sp>
      <p:sp>
        <p:nvSpPr>
          <p:cNvPr id="17" name="Text 15"/>
          <p:cNvSpPr/>
          <p:nvPr/>
        </p:nvSpPr>
        <p:spPr>
          <a:xfrm>
            <a:off x="594360" y="3154680"/>
            <a:ext cx="292608" cy="292608"/>
          </a:xfrm>
          <a:prstGeom prst="rect">
            <a:avLst/>
          </a:prstGeom>
          <a:noFill/>
          <a:ln/>
        </p:spPr>
        <p:txBody>
          <a:bodyPr wrap="square" lIns="0" tIns="0" rIns="0" bIns="0" rtlCol="0" anchor="ctr"/>
          <a:lstStyle/>
          <a:p>
            <a:pPr algn="ctr" indent="0" marL="0">
              <a:buNone/>
            </a:pPr>
            <a:r>
              <a:rPr lang="en-US" sz="832" b="1" dirty="0">
                <a:solidFill>
                  <a:srgbClr val="27AE60"/>
                </a:solidFill>
                <a:latin typeface="Calibri" pitchFamily="34" charset="0"/>
                <a:ea typeface="Calibri" pitchFamily="34" charset="-122"/>
                <a:cs typeface="Calibri" pitchFamily="34" charset="-120"/>
              </a:rPr>
              <a:t>✓</a:t>
            </a:r>
            <a:endParaRPr lang="en-US" sz="832" dirty="0"/>
          </a:p>
        </p:txBody>
      </p:sp>
      <p:sp>
        <p:nvSpPr>
          <p:cNvPr id="18" name="Text 16"/>
          <p:cNvSpPr/>
          <p:nvPr/>
        </p:nvSpPr>
        <p:spPr>
          <a:xfrm>
            <a:off x="978408" y="3127248"/>
            <a:ext cx="1874520" cy="457200"/>
          </a:xfrm>
          <a:prstGeom prst="rect">
            <a:avLst/>
          </a:prstGeom>
          <a:noFill/>
          <a:ln/>
        </p:spPr>
        <p:txBody>
          <a:bodyPr wrap="square" lIns="0" tIns="0" rIns="0" bIns="0" rtlCol="0" anchor="ctr"/>
          <a:lstStyle/>
          <a:p>
            <a:pPr indent="0" marL="0">
              <a:buNone/>
            </a:pPr>
            <a:r>
              <a:rPr lang="en-US" sz="1000" dirty="0">
                <a:solidFill>
                  <a:srgbClr val="16213E"/>
                </a:solidFill>
                <a:latin typeface="Calibri" pitchFamily="34" charset="0"/>
                <a:ea typeface="Calibri" pitchFamily="34" charset="-122"/>
                <a:cs typeface="Calibri" pitchFamily="34" charset="-120"/>
              </a:rPr>
              <a:t>Document Download</a:t>
            </a:r>
            <a:endParaRPr lang="en-US" sz="1000" dirty="0"/>
          </a:p>
        </p:txBody>
      </p:sp>
      <p:sp>
        <p:nvSpPr>
          <p:cNvPr id="19" name="Shape 17"/>
          <p:cNvSpPr/>
          <p:nvPr/>
        </p:nvSpPr>
        <p:spPr>
          <a:xfrm>
            <a:off x="2926080" y="1325880"/>
            <a:ext cx="292608" cy="292608"/>
          </a:xfrm>
          <a:prstGeom prst="ellipse">
            <a:avLst/>
          </a:prstGeom>
          <a:solidFill>
            <a:srgbClr val="DFF5E6"/>
          </a:solidFill>
          <a:ln/>
        </p:spPr>
      </p:sp>
      <p:sp>
        <p:nvSpPr>
          <p:cNvPr id="20" name="Text 18"/>
          <p:cNvSpPr/>
          <p:nvPr/>
        </p:nvSpPr>
        <p:spPr>
          <a:xfrm>
            <a:off x="2926080" y="1325880"/>
            <a:ext cx="292608" cy="292608"/>
          </a:xfrm>
          <a:prstGeom prst="rect">
            <a:avLst/>
          </a:prstGeom>
          <a:noFill/>
          <a:ln/>
        </p:spPr>
        <p:txBody>
          <a:bodyPr wrap="square" lIns="0" tIns="0" rIns="0" bIns="0" rtlCol="0" anchor="ctr"/>
          <a:lstStyle/>
          <a:p>
            <a:pPr algn="ctr" indent="0" marL="0">
              <a:buNone/>
            </a:pPr>
            <a:r>
              <a:rPr lang="en-US" sz="832" b="1" dirty="0">
                <a:solidFill>
                  <a:srgbClr val="27AE60"/>
                </a:solidFill>
                <a:latin typeface="Calibri" pitchFamily="34" charset="0"/>
                <a:ea typeface="Calibri" pitchFamily="34" charset="-122"/>
                <a:cs typeface="Calibri" pitchFamily="34" charset="-120"/>
              </a:rPr>
              <a:t>✓</a:t>
            </a:r>
            <a:endParaRPr lang="en-US" sz="832" dirty="0"/>
          </a:p>
        </p:txBody>
      </p:sp>
      <p:sp>
        <p:nvSpPr>
          <p:cNvPr id="21" name="Text 19"/>
          <p:cNvSpPr/>
          <p:nvPr/>
        </p:nvSpPr>
        <p:spPr>
          <a:xfrm>
            <a:off x="3310128" y="1298448"/>
            <a:ext cx="1874520" cy="457200"/>
          </a:xfrm>
          <a:prstGeom prst="rect">
            <a:avLst/>
          </a:prstGeom>
          <a:noFill/>
          <a:ln/>
        </p:spPr>
        <p:txBody>
          <a:bodyPr wrap="square" lIns="0" tIns="0" rIns="0" bIns="0" rtlCol="0" anchor="ctr"/>
          <a:lstStyle/>
          <a:p>
            <a:pPr indent="0" marL="0">
              <a:buNone/>
            </a:pPr>
            <a:r>
              <a:rPr lang="en-US" sz="1000" dirty="0">
                <a:solidFill>
                  <a:srgbClr val="16213E"/>
                </a:solidFill>
                <a:latin typeface="Calibri" pitchFamily="34" charset="0"/>
                <a:ea typeface="Calibri" pitchFamily="34" charset="-122"/>
                <a:cs typeface="Calibri" pitchFamily="34" charset="-120"/>
              </a:rPr>
              <a:t>Version Management</a:t>
            </a:r>
            <a:endParaRPr lang="en-US" sz="1000" dirty="0"/>
          </a:p>
        </p:txBody>
      </p:sp>
      <p:sp>
        <p:nvSpPr>
          <p:cNvPr id="22" name="Shape 20"/>
          <p:cNvSpPr/>
          <p:nvPr/>
        </p:nvSpPr>
        <p:spPr>
          <a:xfrm>
            <a:off x="2926080" y="1783080"/>
            <a:ext cx="292608" cy="292608"/>
          </a:xfrm>
          <a:prstGeom prst="ellipse">
            <a:avLst/>
          </a:prstGeom>
          <a:solidFill>
            <a:srgbClr val="DFF5E6"/>
          </a:solidFill>
          <a:ln/>
        </p:spPr>
      </p:sp>
      <p:sp>
        <p:nvSpPr>
          <p:cNvPr id="23" name="Text 21"/>
          <p:cNvSpPr/>
          <p:nvPr/>
        </p:nvSpPr>
        <p:spPr>
          <a:xfrm>
            <a:off x="2926080" y="1783080"/>
            <a:ext cx="292608" cy="292608"/>
          </a:xfrm>
          <a:prstGeom prst="rect">
            <a:avLst/>
          </a:prstGeom>
          <a:noFill/>
          <a:ln/>
        </p:spPr>
        <p:txBody>
          <a:bodyPr wrap="square" lIns="0" tIns="0" rIns="0" bIns="0" rtlCol="0" anchor="ctr"/>
          <a:lstStyle/>
          <a:p>
            <a:pPr algn="ctr" indent="0" marL="0">
              <a:buNone/>
            </a:pPr>
            <a:r>
              <a:rPr lang="en-US" sz="832" b="1" dirty="0">
                <a:solidFill>
                  <a:srgbClr val="27AE60"/>
                </a:solidFill>
                <a:latin typeface="Calibri" pitchFamily="34" charset="0"/>
                <a:ea typeface="Calibri" pitchFamily="34" charset="-122"/>
                <a:cs typeface="Calibri" pitchFamily="34" charset="-120"/>
              </a:rPr>
              <a:t>✓</a:t>
            </a:r>
            <a:endParaRPr lang="en-US" sz="832" dirty="0"/>
          </a:p>
        </p:txBody>
      </p:sp>
      <p:sp>
        <p:nvSpPr>
          <p:cNvPr id="24" name="Text 22"/>
          <p:cNvSpPr/>
          <p:nvPr/>
        </p:nvSpPr>
        <p:spPr>
          <a:xfrm>
            <a:off x="3310128" y="1755648"/>
            <a:ext cx="1874520" cy="457200"/>
          </a:xfrm>
          <a:prstGeom prst="rect">
            <a:avLst/>
          </a:prstGeom>
          <a:noFill/>
          <a:ln/>
        </p:spPr>
        <p:txBody>
          <a:bodyPr wrap="square" lIns="0" tIns="0" rIns="0" bIns="0" rtlCol="0" anchor="ctr"/>
          <a:lstStyle/>
          <a:p>
            <a:pPr indent="0" marL="0">
              <a:buNone/>
            </a:pPr>
            <a:r>
              <a:rPr lang="en-US" sz="1000" dirty="0">
                <a:solidFill>
                  <a:srgbClr val="16213E"/>
                </a:solidFill>
                <a:latin typeface="Calibri" pitchFamily="34" charset="0"/>
                <a:ea typeface="Calibri" pitchFamily="34" charset="-122"/>
                <a:cs typeface="Calibri" pitchFamily="34" charset="-120"/>
              </a:rPr>
              <a:t>Restore Previous Version</a:t>
            </a:r>
            <a:endParaRPr lang="en-US" sz="1000" dirty="0"/>
          </a:p>
        </p:txBody>
      </p:sp>
      <p:sp>
        <p:nvSpPr>
          <p:cNvPr id="25" name="Shape 23"/>
          <p:cNvSpPr/>
          <p:nvPr/>
        </p:nvSpPr>
        <p:spPr>
          <a:xfrm>
            <a:off x="2926080" y="2240280"/>
            <a:ext cx="292608" cy="292608"/>
          </a:xfrm>
          <a:prstGeom prst="ellipse">
            <a:avLst/>
          </a:prstGeom>
          <a:solidFill>
            <a:srgbClr val="DFF5E6"/>
          </a:solidFill>
          <a:ln/>
        </p:spPr>
      </p:sp>
      <p:sp>
        <p:nvSpPr>
          <p:cNvPr id="26" name="Text 24"/>
          <p:cNvSpPr/>
          <p:nvPr/>
        </p:nvSpPr>
        <p:spPr>
          <a:xfrm>
            <a:off x="2926080" y="2240280"/>
            <a:ext cx="292608" cy="292608"/>
          </a:xfrm>
          <a:prstGeom prst="rect">
            <a:avLst/>
          </a:prstGeom>
          <a:noFill/>
          <a:ln/>
        </p:spPr>
        <p:txBody>
          <a:bodyPr wrap="square" lIns="0" tIns="0" rIns="0" bIns="0" rtlCol="0" anchor="ctr"/>
          <a:lstStyle/>
          <a:p>
            <a:pPr algn="ctr" indent="0" marL="0">
              <a:buNone/>
            </a:pPr>
            <a:r>
              <a:rPr lang="en-US" sz="832" b="1" dirty="0">
                <a:solidFill>
                  <a:srgbClr val="27AE60"/>
                </a:solidFill>
                <a:latin typeface="Calibri" pitchFamily="34" charset="0"/>
                <a:ea typeface="Calibri" pitchFamily="34" charset="-122"/>
                <a:cs typeface="Calibri" pitchFamily="34" charset="-120"/>
              </a:rPr>
              <a:t>✓</a:t>
            </a:r>
            <a:endParaRPr lang="en-US" sz="832" dirty="0"/>
          </a:p>
        </p:txBody>
      </p:sp>
      <p:sp>
        <p:nvSpPr>
          <p:cNvPr id="27" name="Text 25"/>
          <p:cNvSpPr/>
          <p:nvPr/>
        </p:nvSpPr>
        <p:spPr>
          <a:xfrm>
            <a:off x="3310128" y="2212848"/>
            <a:ext cx="1874520" cy="457200"/>
          </a:xfrm>
          <a:prstGeom prst="rect">
            <a:avLst/>
          </a:prstGeom>
          <a:noFill/>
          <a:ln/>
        </p:spPr>
        <p:txBody>
          <a:bodyPr wrap="square" lIns="0" tIns="0" rIns="0" bIns="0" rtlCol="0" anchor="ctr"/>
          <a:lstStyle/>
          <a:p>
            <a:pPr indent="0" marL="0">
              <a:buNone/>
            </a:pPr>
            <a:r>
              <a:rPr lang="en-US" sz="1000" dirty="0">
                <a:solidFill>
                  <a:srgbClr val="16213E"/>
                </a:solidFill>
                <a:latin typeface="Calibri" pitchFamily="34" charset="0"/>
                <a:ea typeface="Calibri" pitchFamily="34" charset="-122"/>
                <a:cs typeface="Calibri" pitchFamily="34" charset="-120"/>
              </a:rPr>
              <a:t>Audit Logging</a:t>
            </a:r>
            <a:endParaRPr lang="en-US" sz="1000" dirty="0"/>
          </a:p>
        </p:txBody>
      </p:sp>
      <p:sp>
        <p:nvSpPr>
          <p:cNvPr id="28" name="Shape 26"/>
          <p:cNvSpPr/>
          <p:nvPr/>
        </p:nvSpPr>
        <p:spPr>
          <a:xfrm>
            <a:off x="2926080" y="2697480"/>
            <a:ext cx="292608" cy="292608"/>
          </a:xfrm>
          <a:prstGeom prst="ellipse">
            <a:avLst/>
          </a:prstGeom>
          <a:solidFill>
            <a:srgbClr val="DFF5E6"/>
          </a:solidFill>
          <a:ln/>
        </p:spPr>
      </p:sp>
      <p:sp>
        <p:nvSpPr>
          <p:cNvPr id="29" name="Text 27"/>
          <p:cNvSpPr/>
          <p:nvPr/>
        </p:nvSpPr>
        <p:spPr>
          <a:xfrm>
            <a:off x="2926080" y="2697480"/>
            <a:ext cx="292608" cy="292608"/>
          </a:xfrm>
          <a:prstGeom prst="rect">
            <a:avLst/>
          </a:prstGeom>
          <a:noFill/>
          <a:ln/>
        </p:spPr>
        <p:txBody>
          <a:bodyPr wrap="square" lIns="0" tIns="0" rIns="0" bIns="0" rtlCol="0" anchor="ctr"/>
          <a:lstStyle/>
          <a:p>
            <a:pPr algn="ctr" indent="0" marL="0">
              <a:buNone/>
            </a:pPr>
            <a:r>
              <a:rPr lang="en-US" sz="832" b="1" dirty="0">
                <a:solidFill>
                  <a:srgbClr val="27AE60"/>
                </a:solidFill>
                <a:latin typeface="Calibri" pitchFamily="34" charset="0"/>
                <a:ea typeface="Calibri" pitchFamily="34" charset="-122"/>
                <a:cs typeface="Calibri" pitchFamily="34" charset="-120"/>
              </a:rPr>
              <a:t>✓</a:t>
            </a:r>
            <a:endParaRPr lang="en-US" sz="832" dirty="0"/>
          </a:p>
        </p:txBody>
      </p:sp>
      <p:sp>
        <p:nvSpPr>
          <p:cNvPr id="30" name="Text 28"/>
          <p:cNvSpPr/>
          <p:nvPr/>
        </p:nvSpPr>
        <p:spPr>
          <a:xfrm>
            <a:off x="3310128" y="2670048"/>
            <a:ext cx="1874520" cy="457200"/>
          </a:xfrm>
          <a:prstGeom prst="rect">
            <a:avLst/>
          </a:prstGeom>
          <a:noFill/>
          <a:ln/>
        </p:spPr>
        <p:txBody>
          <a:bodyPr wrap="square" lIns="0" tIns="0" rIns="0" bIns="0" rtlCol="0" anchor="ctr"/>
          <a:lstStyle/>
          <a:p>
            <a:pPr indent="0" marL="0">
              <a:buNone/>
            </a:pPr>
            <a:r>
              <a:rPr lang="en-US" sz="1000" dirty="0">
                <a:solidFill>
                  <a:srgbClr val="16213E"/>
                </a:solidFill>
                <a:latin typeface="Calibri" pitchFamily="34" charset="0"/>
                <a:ea typeface="Calibri" pitchFamily="34" charset="-122"/>
                <a:cs typeface="Calibri" pitchFamily="34" charset="-120"/>
              </a:rPr>
              <a:t>Azure Deployment</a:t>
            </a:r>
            <a:endParaRPr lang="en-US" sz="1000" dirty="0"/>
          </a:p>
        </p:txBody>
      </p:sp>
      <p:sp>
        <p:nvSpPr>
          <p:cNvPr id="31" name="Shape 29"/>
          <p:cNvSpPr/>
          <p:nvPr/>
        </p:nvSpPr>
        <p:spPr>
          <a:xfrm>
            <a:off x="2926080" y="3154680"/>
            <a:ext cx="292608" cy="292608"/>
          </a:xfrm>
          <a:prstGeom prst="ellipse">
            <a:avLst/>
          </a:prstGeom>
          <a:solidFill>
            <a:srgbClr val="DFF5E6"/>
          </a:solidFill>
          <a:ln/>
        </p:spPr>
      </p:sp>
      <p:sp>
        <p:nvSpPr>
          <p:cNvPr id="32" name="Text 30"/>
          <p:cNvSpPr/>
          <p:nvPr/>
        </p:nvSpPr>
        <p:spPr>
          <a:xfrm>
            <a:off x="2926080" y="3154680"/>
            <a:ext cx="292608" cy="292608"/>
          </a:xfrm>
          <a:prstGeom prst="rect">
            <a:avLst/>
          </a:prstGeom>
          <a:noFill/>
          <a:ln/>
        </p:spPr>
        <p:txBody>
          <a:bodyPr wrap="square" lIns="0" tIns="0" rIns="0" bIns="0" rtlCol="0" anchor="ctr"/>
          <a:lstStyle/>
          <a:p>
            <a:pPr algn="ctr" indent="0" marL="0">
              <a:buNone/>
            </a:pPr>
            <a:r>
              <a:rPr lang="en-US" sz="832" b="1" dirty="0">
                <a:solidFill>
                  <a:srgbClr val="27AE60"/>
                </a:solidFill>
                <a:latin typeface="Calibri" pitchFamily="34" charset="0"/>
                <a:ea typeface="Calibri" pitchFamily="34" charset="-122"/>
                <a:cs typeface="Calibri" pitchFamily="34" charset="-120"/>
              </a:rPr>
              <a:t>✓</a:t>
            </a:r>
            <a:endParaRPr lang="en-US" sz="832" dirty="0"/>
          </a:p>
        </p:txBody>
      </p:sp>
      <p:sp>
        <p:nvSpPr>
          <p:cNvPr id="33" name="Text 31"/>
          <p:cNvSpPr/>
          <p:nvPr/>
        </p:nvSpPr>
        <p:spPr>
          <a:xfrm>
            <a:off x="3310128" y="3127248"/>
            <a:ext cx="1874520" cy="457200"/>
          </a:xfrm>
          <a:prstGeom prst="rect">
            <a:avLst/>
          </a:prstGeom>
          <a:noFill/>
          <a:ln/>
        </p:spPr>
        <p:txBody>
          <a:bodyPr wrap="square" lIns="0" tIns="0" rIns="0" bIns="0" rtlCol="0" anchor="ctr"/>
          <a:lstStyle/>
          <a:p>
            <a:pPr indent="0" marL="0">
              <a:buNone/>
            </a:pPr>
            <a:r>
              <a:rPr lang="en-US" sz="1000" dirty="0">
                <a:solidFill>
                  <a:srgbClr val="16213E"/>
                </a:solidFill>
                <a:latin typeface="Calibri" pitchFamily="34" charset="0"/>
                <a:ea typeface="Calibri" pitchFamily="34" charset="-122"/>
                <a:cs typeface="Calibri" pitchFamily="34" charset="-120"/>
              </a:rPr>
              <a:t>GitHub Actions CI/CD</a:t>
            </a:r>
            <a:endParaRPr lang="en-US" sz="1000" dirty="0"/>
          </a:p>
        </p:txBody>
      </p:sp>
      <p:sp>
        <p:nvSpPr>
          <p:cNvPr id="34" name="Text 32"/>
          <p:cNvSpPr/>
          <p:nvPr/>
        </p:nvSpPr>
        <p:spPr>
          <a:xfrm>
            <a:off x="594360" y="3703320"/>
            <a:ext cx="4617720" cy="594360"/>
          </a:xfrm>
          <a:prstGeom prst="rect">
            <a:avLst/>
          </a:prstGeom>
          <a:noFill/>
          <a:ln/>
        </p:spPr>
        <p:txBody>
          <a:bodyPr wrap="square" lIns="0" tIns="0" rIns="0" bIns="0" rtlCol="0" anchor="ctr"/>
          <a:lstStyle/>
          <a:p>
            <a:pPr indent="0" marL="0">
              <a:lnSpc>
                <a:spcPct val="120000"/>
              </a:lnSpc>
              <a:buNone/>
            </a:pPr>
            <a:r>
              <a:rPr lang="en-US" sz="1200" b="1" i="1" dirty="0">
                <a:solidFill>
                  <a:srgbClr val="0B1533"/>
                </a:solidFill>
                <a:latin typeface="Calibri" pitchFamily="34" charset="0"/>
                <a:ea typeface="Calibri" pitchFamily="34" charset="-122"/>
                <a:cs typeface="Calibri" pitchFamily="34" charset="-120"/>
              </a:rPr>
              <a:t>Application successfully hosted live on Azure App Service.</a:t>
            </a:r>
            <a:endParaRPr lang="en-US" sz="1200" dirty="0"/>
          </a:p>
        </p:txBody>
      </p:sp>
      <p:sp>
        <p:nvSpPr>
          <p:cNvPr id="35" name="Shape 33"/>
          <p:cNvSpPr/>
          <p:nvPr/>
        </p:nvSpPr>
        <p:spPr>
          <a:xfrm>
            <a:off x="5394960" y="1280160"/>
            <a:ext cx="2816352" cy="1423329"/>
          </a:xfrm>
          <a:prstGeom prst="roundRect">
            <a:avLst>
              <a:gd name="adj" fmla="val 3855"/>
            </a:avLst>
          </a:prstGeom>
          <a:solidFill>
            <a:srgbClr val="FFFFFF"/>
          </a:solidFill>
          <a:ln w="12700">
            <a:solidFill>
              <a:srgbClr val="E3E8F2"/>
            </a:solidFill>
            <a:prstDash val="solid"/>
          </a:ln>
          <a:effectLst>
            <a:outerShdw sx="100000" sy="100000" kx="0" ky="0" algn="bl" rotWithShape="0" blurRad="76200" dist="25400" dir="5400000">
              <a:srgbClr val="0B1533">
                <a:alpha val="15000"/>
              </a:srgbClr>
            </a:outerShdw>
          </a:effectLst>
        </p:spPr>
      </p:sp>
      <p:pic>
        <p:nvPicPr>
          <p:cNvPr id="36" name="Image 0" descr="/home/claude/proj/cropped/document.png">    </p:cNvPr>
          <p:cNvPicPr>
            <a:picLocks noChangeAspect="1"/>
          </p:cNvPicPr>
          <p:nvPr/>
        </p:nvPicPr>
        <p:blipFill>
          <a:blip r:embed="rId1"/>
          <a:stretch>
            <a:fillRect/>
          </a:stretch>
        </p:blipFill>
        <p:spPr>
          <a:xfrm>
            <a:off x="5440680" y="1325880"/>
            <a:ext cx="2724912" cy="1331889"/>
          </a:xfrm>
          <a:prstGeom prst="rect">
            <a:avLst/>
          </a:prstGeom>
        </p:spPr>
      </p:pic>
      <p:sp>
        <p:nvSpPr>
          <p:cNvPr id="37" name="Text 34"/>
          <p:cNvSpPr/>
          <p:nvPr/>
        </p:nvSpPr>
        <p:spPr>
          <a:xfrm>
            <a:off x="5394960" y="2721777"/>
            <a:ext cx="2816352" cy="228600"/>
          </a:xfrm>
          <a:prstGeom prst="rect">
            <a:avLst/>
          </a:prstGeom>
          <a:noFill/>
          <a:ln/>
        </p:spPr>
        <p:txBody>
          <a:bodyPr wrap="square" lIns="0" tIns="0" rIns="0" bIns="0" rtlCol="0" anchor="ctr"/>
          <a:lstStyle/>
          <a:p>
            <a:pPr algn="ctr" indent="0" marL="0">
              <a:buNone/>
            </a:pPr>
            <a:r>
              <a:rPr lang="en-US" sz="950" i="1" dirty="0">
                <a:solidFill>
                  <a:srgbClr val="6B7690"/>
                </a:solidFill>
                <a:latin typeface="Calibri" pitchFamily="34" charset="0"/>
                <a:ea typeface="Calibri" pitchFamily="34" charset="-122"/>
                <a:cs typeface="Calibri" pitchFamily="34" charset="-120"/>
              </a:rPr>
              <a:t>Document Management</a:t>
            </a:r>
            <a:endParaRPr lang="en-US" sz="950" dirty="0"/>
          </a:p>
        </p:txBody>
      </p:sp>
      <p:sp>
        <p:nvSpPr>
          <p:cNvPr id="38" name="Shape 35"/>
          <p:cNvSpPr/>
          <p:nvPr/>
        </p:nvSpPr>
        <p:spPr>
          <a:xfrm>
            <a:off x="8321040" y="1280160"/>
            <a:ext cx="2816352" cy="1423329"/>
          </a:xfrm>
          <a:prstGeom prst="roundRect">
            <a:avLst>
              <a:gd name="adj" fmla="val 3855"/>
            </a:avLst>
          </a:prstGeom>
          <a:solidFill>
            <a:srgbClr val="FFFFFF"/>
          </a:solidFill>
          <a:ln w="12700">
            <a:solidFill>
              <a:srgbClr val="E3E8F2"/>
            </a:solidFill>
            <a:prstDash val="solid"/>
          </a:ln>
          <a:effectLst>
            <a:outerShdw sx="100000" sy="100000" kx="0" ky="0" algn="bl" rotWithShape="0" blurRad="76200" dist="25400" dir="5400000">
              <a:srgbClr val="0B1533">
                <a:alpha val="15000"/>
              </a:srgbClr>
            </a:outerShdw>
          </a:effectLst>
        </p:spPr>
      </p:sp>
      <p:pic>
        <p:nvPicPr>
          <p:cNvPr id="39" name="Image 1" descr="/home/claude/proj/cropped/versionhistory.png">    </p:cNvPr>
          <p:cNvPicPr>
            <a:picLocks noChangeAspect="1"/>
          </p:cNvPicPr>
          <p:nvPr/>
        </p:nvPicPr>
        <p:blipFill>
          <a:blip r:embed="rId2"/>
          <a:stretch>
            <a:fillRect/>
          </a:stretch>
        </p:blipFill>
        <p:spPr>
          <a:xfrm>
            <a:off x="8366760" y="1325880"/>
            <a:ext cx="2724912" cy="1331889"/>
          </a:xfrm>
          <a:prstGeom prst="rect">
            <a:avLst/>
          </a:prstGeom>
        </p:spPr>
      </p:pic>
      <p:sp>
        <p:nvSpPr>
          <p:cNvPr id="40" name="Text 36"/>
          <p:cNvSpPr/>
          <p:nvPr/>
        </p:nvSpPr>
        <p:spPr>
          <a:xfrm>
            <a:off x="8321040" y="2721777"/>
            <a:ext cx="2816352" cy="228600"/>
          </a:xfrm>
          <a:prstGeom prst="rect">
            <a:avLst/>
          </a:prstGeom>
          <a:noFill/>
          <a:ln/>
        </p:spPr>
        <p:txBody>
          <a:bodyPr wrap="square" lIns="0" tIns="0" rIns="0" bIns="0" rtlCol="0" anchor="ctr"/>
          <a:lstStyle/>
          <a:p>
            <a:pPr algn="ctr" indent="0" marL="0">
              <a:buNone/>
            </a:pPr>
            <a:r>
              <a:rPr lang="en-US" sz="950" i="1" dirty="0">
                <a:solidFill>
                  <a:srgbClr val="6B7690"/>
                </a:solidFill>
                <a:latin typeface="Calibri" pitchFamily="34" charset="0"/>
                <a:ea typeface="Calibri" pitchFamily="34" charset="-122"/>
                <a:cs typeface="Calibri" pitchFamily="34" charset="-120"/>
              </a:rPr>
              <a:t>Version History</a:t>
            </a:r>
            <a:endParaRPr lang="en-US" sz="950" dirty="0"/>
          </a:p>
        </p:txBody>
      </p:sp>
      <p:sp>
        <p:nvSpPr>
          <p:cNvPr id="41" name="Shape 37"/>
          <p:cNvSpPr/>
          <p:nvPr/>
        </p:nvSpPr>
        <p:spPr>
          <a:xfrm>
            <a:off x="5394960" y="2996097"/>
            <a:ext cx="2816352" cy="1423329"/>
          </a:xfrm>
          <a:prstGeom prst="roundRect">
            <a:avLst>
              <a:gd name="adj" fmla="val 3855"/>
            </a:avLst>
          </a:prstGeom>
          <a:solidFill>
            <a:srgbClr val="FFFFFF"/>
          </a:solidFill>
          <a:ln w="12700">
            <a:solidFill>
              <a:srgbClr val="E3E8F2"/>
            </a:solidFill>
            <a:prstDash val="solid"/>
          </a:ln>
          <a:effectLst>
            <a:outerShdw sx="100000" sy="100000" kx="0" ky="0" algn="bl" rotWithShape="0" blurRad="76200" dist="25400" dir="5400000">
              <a:srgbClr val="0B1533">
                <a:alpha val="15000"/>
              </a:srgbClr>
            </a:outerShdw>
          </a:effectLst>
        </p:spPr>
      </p:sp>
      <p:pic>
        <p:nvPicPr>
          <p:cNvPr id="42" name="Image 2" descr="/home/claude/proj/cropped/auditlogs.png">    </p:cNvPr>
          <p:cNvPicPr>
            <a:picLocks noChangeAspect="1"/>
          </p:cNvPicPr>
          <p:nvPr/>
        </p:nvPicPr>
        <p:blipFill>
          <a:blip r:embed="rId3"/>
          <a:stretch>
            <a:fillRect/>
          </a:stretch>
        </p:blipFill>
        <p:spPr>
          <a:xfrm>
            <a:off x="5440680" y="3041817"/>
            <a:ext cx="2724912" cy="1331889"/>
          </a:xfrm>
          <a:prstGeom prst="rect">
            <a:avLst/>
          </a:prstGeom>
        </p:spPr>
      </p:pic>
      <p:sp>
        <p:nvSpPr>
          <p:cNvPr id="43" name="Text 38"/>
          <p:cNvSpPr/>
          <p:nvPr/>
        </p:nvSpPr>
        <p:spPr>
          <a:xfrm>
            <a:off x="5394960" y="4437714"/>
            <a:ext cx="2816352" cy="228600"/>
          </a:xfrm>
          <a:prstGeom prst="rect">
            <a:avLst/>
          </a:prstGeom>
          <a:noFill/>
          <a:ln/>
        </p:spPr>
        <p:txBody>
          <a:bodyPr wrap="square" lIns="0" tIns="0" rIns="0" bIns="0" rtlCol="0" anchor="ctr"/>
          <a:lstStyle/>
          <a:p>
            <a:pPr algn="ctr" indent="0" marL="0">
              <a:buNone/>
            </a:pPr>
            <a:r>
              <a:rPr lang="en-US" sz="950" i="1" dirty="0">
                <a:solidFill>
                  <a:srgbClr val="6B7690"/>
                </a:solidFill>
                <a:latin typeface="Calibri" pitchFamily="34" charset="0"/>
                <a:ea typeface="Calibri" pitchFamily="34" charset="-122"/>
                <a:cs typeface="Calibri" pitchFamily="34" charset="-120"/>
              </a:rPr>
              <a:t>Audit Logs</a:t>
            </a:r>
            <a:endParaRPr lang="en-US" sz="950" dirty="0"/>
          </a:p>
        </p:txBody>
      </p:sp>
      <p:sp>
        <p:nvSpPr>
          <p:cNvPr id="44" name="Shape 39"/>
          <p:cNvSpPr/>
          <p:nvPr/>
        </p:nvSpPr>
        <p:spPr>
          <a:xfrm>
            <a:off x="8321040" y="2996097"/>
            <a:ext cx="2816352" cy="1423329"/>
          </a:xfrm>
          <a:prstGeom prst="roundRect">
            <a:avLst>
              <a:gd name="adj" fmla="val 3855"/>
            </a:avLst>
          </a:prstGeom>
          <a:solidFill>
            <a:srgbClr val="FFFFFF"/>
          </a:solidFill>
          <a:ln w="12700">
            <a:solidFill>
              <a:srgbClr val="E3E8F2"/>
            </a:solidFill>
            <a:prstDash val="solid"/>
          </a:ln>
          <a:effectLst>
            <a:outerShdw sx="100000" sy="100000" kx="0" ky="0" algn="bl" rotWithShape="0" blurRad="76200" dist="25400" dir="5400000">
              <a:srgbClr val="0B1533">
                <a:alpha val="15000"/>
              </a:srgbClr>
            </a:outerShdw>
          </a:effectLst>
        </p:spPr>
      </p:sp>
      <p:pic>
        <p:nvPicPr>
          <p:cNvPr id="45" name="Image 3" descr="/home/claude/proj/cropped/upload.png">    </p:cNvPr>
          <p:cNvPicPr>
            <a:picLocks noChangeAspect="1"/>
          </p:cNvPicPr>
          <p:nvPr/>
        </p:nvPicPr>
        <p:blipFill>
          <a:blip r:embed="rId4"/>
          <a:stretch>
            <a:fillRect/>
          </a:stretch>
        </p:blipFill>
        <p:spPr>
          <a:xfrm>
            <a:off x="8366760" y="3041817"/>
            <a:ext cx="2724912" cy="1331889"/>
          </a:xfrm>
          <a:prstGeom prst="rect">
            <a:avLst/>
          </a:prstGeom>
        </p:spPr>
      </p:pic>
      <p:sp>
        <p:nvSpPr>
          <p:cNvPr id="46" name="Text 40"/>
          <p:cNvSpPr/>
          <p:nvPr/>
        </p:nvSpPr>
        <p:spPr>
          <a:xfrm>
            <a:off x="8321040" y="4437714"/>
            <a:ext cx="2816352" cy="228600"/>
          </a:xfrm>
          <a:prstGeom prst="rect">
            <a:avLst/>
          </a:prstGeom>
          <a:noFill/>
          <a:ln/>
        </p:spPr>
        <p:txBody>
          <a:bodyPr wrap="square" lIns="0" tIns="0" rIns="0" bIns="0" rtlCol="0" anchor="ctr"/>
          <a:lstStyle/>
          <a:p>
            <a:pPr algn="ctr" indent="0" marL="0">
              <a:buNone/>
            </a:pPr>
            <a:r>
              <a:rPr lang="en-US" sz="950" i="1" dirty="0">
                <a:solidFill>
                  <a:srgbClr val="6B7690"/>
                </a:solidFill>
                <a:latin typeface="Calibri" pitchFamily="34" charset="0"/>
                <a:ea typeface="Calibri" pitchFamily="34" charset="-122"/>
                <a:cs typeface="Calibri" pitchFamily="34" charset="-120"/>
              </a:rPr>
              <a:t>Upload Interface</a:t>
            </a:r>
            <a:endParaRPr lang="en-US" sz="950" dirty="0"/>
          </a:p>
        </p:txBody>
      </p:sp>
      <p:sp>
        <p:nvSpPr>
          <p:cNvPr id="47" name="Text 41"/>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lIns="0" tIns="0" rIns="0" bIns="0" rtlCol="0" anchor="ctr"/>
          <a:lstStyle/>
          <a:p>
            <a:pPr algn="l" indent="0" marL="0">
              <a:buNone/>
            </a:pPr>
            <a:r>
              <a:rPr lang="en-US" sz="3200" b="1" dirty="0">
                <a:solidFill>
                  <a:srgbClr val="0B1533"/>
                </a:solidFill>
                <a:latin typeface="Cambria" pitchFamily="34" charset="0"/>
                <a:ea typeface="Cambria" pitchFamily="34" charset="-122"/>
                <a:cs typeface="Cambria" pitchFamily="34" charset="-120"/>
              </a:rPr>
              <a:t>Future Scope</a:t>
            </a:r>
            <a:endParaRPr lang="en-US" sz="3200" dirty="0"/>
          </a:p>
        </p:txBody>
      </p:sp>
      <p:sp>
        <p:nvSpPr>
          <p:cNvPr id="3" name="Text 1"/>
          <p:cNvSpPr/>
          <p:nvPr/>
        </p:nvSpPr>
        <p:spPr>
          <a:xfrm>
            <a:off x="566928" y="128016"/>
            <a:ext cx="11094415" cy="274320"/>
          </a:xfrm>
          <a:prstGeom prst="rect">
            <a:avLst/>
          </a:prstGeom>
          <a:noFill/>
          <a:ln/>
        </p:spPr>
        <p:txBody>
          <a:bodyPr wrap="square" lIns="0" tIns="0" rIns="0" bIns="0" rtlCol="0" anchor="ctr"/>
          <a:lstStyle/>
          <a:p>
            <a:pPr algn="l" indent="0" marL="0">
              <a:buNone/>
            </a:pPr>
            <a:r>
              <a:rPr lang="en-US" sz="1100" b="1" spc="200" kern="0" dirty="0">
                <a:solidFill>
                  <a:srgbClr val="2EA0F5"/>
                </a:solidFill>
                <a:latin typeface="Calibri" pitchFamily="34" charset="0"/>
                <a:ea typeface="Calibri" pitchFamily="34" charset="-122"/>
                <a:cs typeface="Calibri" pitchFamily="34" charset="-120"/>
              </a:rPr>
              <a:t>WHAT'S NEXT</a:t>
            </a:r>
            <a:endParaRPr lang="en-US" sz="1100" dirty="0"/>
          </a:p>
        </p:txBody>
      </p:sp>
      <p:sp>
        <p:nvSpPr>
          <p:cNvPr id="4" name="Shape 2"/>
          <p:cNvSpPr/>
          <p:nvPr/>
        </p:nvSpPr>
        <p:spPr>
          <a:xfrm>
            <a:off x="594360" y="1417320"/>
            <a:ext cx="2084832" cy="1828800"/>
          </a:xfrm>
          <a:prstGeom prst="roundRect">
            <a:avLst>
              <a:gd name="adj" fmla="val 5000"/>
            </a:avLst>
          </a:prstGeom>
          <a:solidFill>
            <a:srgbClr val="FFFFFF"/>
          </a:solidFill>
          <a:ln w="12700">
            <a:solidFill>
              <a:srgbClr val="E3E8F2"/>
            </a:solidFill>
            <a:prstDash val="solid"/>
          </a:ln>
          <a:effectLst>
            <a:outerShdw sx="100000" sy="100000" kx="0" ky="0" algn="bl" rotWithShape="0" blurRad="63500" dist="25400" dir="5400000">
              <a:srgbClr val="0B1533">
                <a:alpha val="9000"/>
              </a:srgbClr>
            </a:outerShdw>
          </a:effectLst>
        </p:spPr>
      </p:sp>
      <p:sp>
        <p:nvSpPr>
          <p:cNvPr id="5" name="Shape 3"/>
          <p:cNvSpPr/>
          <p:nvPr/>
        </p:nvSpPr>
        <p:spPr>
          <a:xfrm>
            <a:off x="1344168" y="1673352"/>
            <a:ext cx="585216" cy="585216"/>
          </a:xfrm>
          <a:prstGeom prst="ellipse">
            <a:avLst/>
          </a:prstGeom>
          <a:solidFill>
            <a:srgbClr val="E9F2FE"/>
          </a:solidFill>
          <a:ln/>
        </p:spPr>
      </p:sp>
      <p:sp>
        <p:nvSpPr>
          <p:cNvPr id="6" name="Text 4"/>
          <p:cNvSpPr/>
          <p:nvPr/>
        </p:nvSpPr>
        <p:spPr>
          <a:xfrm>
            <a:off x="1344168" y="1673352"/>
            <a:ext cx="585216" cy="585216"/>
          </a:xfrm>
          <a:prstGeom prst="rect">
            <a:avLst/>
          </a:prstGeom>
          <a:noFill/>
          <a:ln/>
        </p:spPr>
        <p:txBody>
          <a:bodyPr wrap="square" lIns="0" tIns="0" rIns="0" bIns="0" rtlCol="0" anchor="ctr"/>
          <a:lstStyle/>
          <a:p>
            <a:pPr algn="ctr" indent="0" marL="0">
              <a:buNone/>
            </a:pPr>
            <a:r>
              <a:rPr lang="en-US" sz="1664" b="1" dirty="0">
                <a:solidFill>
                  <a:srgbClr val="2EA0F5"/>
                </a:solidFill>
                <a:latin typeface="Calibri" pitchFamily="34" charset="0"/>
                <a:ea typeface="Calibri" pitchFamily="34" charset="-122"/>
                <a:cs typeface="Calibri" pitchFamily="34" charset="-120"/>
              </a:rPr>
              <a:t>⚑</a:t>
            </a:r>
            <a:endParaRPr lang="en-US" sz="1664" dirty="0"/>
          </a:p>
        </p:txBody>
      </p:sp>
      <p:sp>
        <p:nvSpPr>
          <p:cNvPr id="7" name="Text 5"/>
          <p:cNvSpPr/>
          <p:nvPr/>
        </p:nvSpPr>
        <p:spPr>
          <a:xfrm>
            <a:off x="722376" y="2423160"/>
            <a:ext cx="182880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0B1533"/>
                </a:solidFill>
                <a:latin typeface="Calibri" pitchFamily="34" charset="0"/>
                <a:ea typeface="Calibri" pitchFamily="34" charset="-122"/>
                <a:cs typeface="Calibri" pitchFamily="34" charset="-120"/>
              </a:rPr>
              <a:t>Role-Based Access Control</a:t>
            </a:r>
            <a:endParaRPr lang="en-US" sz="1100" dirty="0"/>
          </a:p>
        </p:txBody>
      </p:sp>
      <p:sp>
        <p:nvSpPr>
          <p:cNvPr id="8" name="Shape 6"/>
          <p:cNvSpPr/>
          <p:nvPr/>
        </p:nvSpPr>
        <p:spPr>
          <a:xfrm>
            <a:off x="2807208" y="1417320"/>
            <a:ext cx="2084832" cy="1828800"/>
          </a:xfrm>
          <a:prstGeom prst="roundRect">
            <a:avLst>
              <a:gd name="adj" fmla="val 5000"/>
            </a:avLst>
          </a:prstGeom>
          <a:solidFill>
            <a:srgbClr val="FFFFFF"/>
          </a:solidFill>
          <a:ln w="12700">
            <a:solidFill>
              <a:srgbClr val="E3E8F2"/>
            </a:solidFill>
            <a:prstDash val="solid"/>
          </a:ln>
          <a:effectLst>
            <a:outerShdw sx="100000" sy="100000" kx="0" ky="0" algn="bl" rotWithShape="0" blurRad="63500" dist="25400" dir="5400000">
              <a:srgbClr val="0B1533">
                <a:alpha val="9000"/>
              </a:srgbClr>
            </a:outerShdw>
          </a:effectLst>
        </p:spPr>
      </p:sp>
      <p:sp>
        <p:nvSpPr>
          <p:cNvPr id="9" name="Shape 7"/>
          <p:cNvSpPr/>
          <p:nvPr/>
        </p:nvSpPr>
        <p:spPr>
          <a:xfrm>
            <a:off x="3557016" y="1673352"/>
            <a:ext cx="585216" cy="585216"/>
          </a:xfrm>
          <a:prstGeom prst="ellipse">
            <a:avLst/>
          </a:prstGeom>
          <a:solidFill>
            <a:srgbClr val="E9F2FE"/>
          </a:solidFill>
          <a:ln/>
        </p:spPr>
      </p:sp>
      <p:sp>
        <p:nvSpPr>
          <p:cNvPr id="10" name="Text 8"/>
          <p:cNvSpPr/>
          <p:nvPr/>
        </p:nvSpPr>
        <p:spPr>
          <a:xfrm>
            <a:off x="3557016" y="1673352"/>
            <a:ext cx="585216" cy="585216"/>
          </a:xfrm>
          <a:prstGeom prst="rect">
            <a:avLst/>
          </a:prstGeom>
          <a:noFill/>
          <a:ln/>
        </p:spPr>
        <p:txBody>
          <a:bodyPr wrap="square" lIns="0" tIns="0" rIns="0" bIns="0" rtlCol="0" anchor="ctr"/>
          <a:lstStyle/>
          <a:p>
            <a:pPr algn="ctr" indent="0" marL="0">
              <a:buNone/>
            </a:pPr>
            <a:r>
              <a:rPr lang="en-US" sz="1664" b="1" dirty="0">
                <a:solidFill>
                  <a:srgbClr val="2EA0F5"/>
                </a:solidFill>
                <a:latin typeface="Calibri" pitchFamily="34" charset="0"/>
                <a:ea typeface="Calibri" pitchFamily="34" charset="-122"/>
                <a:cs typeface="Calibri" pitchFamily="34" charset="-120"/>
              </a:rPr>
              <a:t>⚙</a:t>
            </a:r>
            <a:endParaRPr lang="en-US" sz="1664" dirty="0"/>
          </a:p>
        </p:txBody>
      </p:sp>
      <p:sp>
        <p:nvSpPr>
          <p:cNvPr id="11" name="Text 9"/>
          <p:cNvSpPr/>
          <p:nvPr/>
        </p:nvSpPr>
        <p:spPr>
          <a:xfrm>
            <a:off x="2935224" y="2423160"/>
            <a:ext cx="182880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0B1533"/>
                </a:solidFill>
                <a:latin typeface="Calibri" pitchFamily="34" charset="0"/>
                <a:ea typeface="Calibri" pitchFamily="34" charset="-122"/>
                <a:cs typeface="Calibri" pitchFamily="34" charset="-120"/>
              </a:rPr>
              <a:t>AI Document Classification</a:t>
            </a:r>
            <a:endParaRPr lang="en-US" sz="1100" dirty="0"/>
          </a:p>
        </p:txBody>
      </p:sp>
      <p:sp>
        <p:nvSpPr>
          <p:cNvPr id="12" name="Shape 10"/>
          <p:cNvSpPr/>
          <p:nvPr/>
        </p:nvSpPr>
        <p:spPr>
          <a:xfrm>
            <a:off x="5020056" y="1417320"/>
            <a:ext cx="2084832" cy="1828800"/>
          </a:xfrm>
          <a:prstGeom prst="roundRect">
            <a:avLst>
              <a:gd name="adj" fmla="val 5000"/>
            </a:avLst>
          </a:prstGeom>
          <a:solidFill>
            <a:srgbClr val="FFFFFF"/>
          </a:solidFill>
          <a:ln w="12700">
            <a:solidFill>
              <a:srgbClr val="E3E8F2"/>
            </a:solidFill>
            <a:prstDash val="solid"/>
          </a:ln>
          <a:effectLst>
            <a:outerShdw sx="100000" sy="100000" kx="0" ky="0" algn="bl" rotWithShape="0" blurRad="63500" dist="25400" dir="5400000">
              <a:srgbClr val="0B1533">
                <a:alpha val="9000"/>
              </a:srgbClr>
            </a:outerShdw>
          </a:effectLst>
        </p:spPr>
      </p:sp>
      <p:sp>
        <p:nvSpPr>
          <p:cNvPr id="13" name="Shape 11"/>
          <p:cNvSpPr/>
          <p:nvPr/>
        </p:nvSpPr>
        <p:spPr>
          <a:xfrm>
            <a:off x="5769864" y="1673352"/>
            <a:ext cx="585216" cy="585216"/>
          </a:xfrm>
          <a:prstGeom prst="ellipse">
            <a:avLst/>
          </a:prstGeom>
          <a:solidFill>
            <a:srgbClr val="E9F2FE"/>
          </a:solidFill>
          <a:ln/>
        </p:spPr>
      </p:sp>
      <p:sp>
        <p:nvSpPr>
          <p:cNvPr id="14" name="Text 12"/>
          <p:cNvSpPr/>
          <p:nvPr/>
        </p:nvSpPr>
        <p:spPr>
          <a:xfrm>
            <a:off x="5769864" y="1673352"/>
            <a:ext cx="585216" cy="585216"/>
          </a:xfrm>
          <a:prstGeom prst="rect">
            <a:avLst/>
          </a:prstGeom>
          <a:noFill/>
          <a:ln/>
        </p:spPr>
        <p:txBody>
          <a:bodyPr wrap="square" lIns="0" tIns="0" rIns="0" bIns="0" rtlCol="0" anchor="ctr"/>
          <a:lstStyle/>
          <a:p>
            <a:pPr algn="ctr" indent="0" marL="0">
              <a:buNone/>
            </a:pPr>
            <a:r>
              <a:rPr lang="en-US" sz="1664" b="1" dirty="0">
                <a:solidFill>
                  <a:srgbClr val="2EA0F5"/>
                </a:solidFill>
                <a:latin typeface="Calibri" pitchFamily="34" charset="0"/>
                <a:ea typeface="Calibri" pitchFamily="34" charset="-122"/>
                <a:cs typeface="Calibri" pitchFamily="34" charset="-120"/>
              </a:rPr>
              <a:t>⌕</a:t>
            </a:r>
            <a:endParaRPr lang="en-US" sz="1664" dirty="0"/>
          </a:p>
        </p:txBody>
      </p:sp>
      <p:sp>
        <p:nvSpPr>
          <p:cNvPr id="15" name="Text 13"/>
          <p:cNvSpPr/>
          <p:nvPr/>
        </p:nvSpPr>
        <p:spPr>
          <a:xfrm>
            <a:off x="5148072" y="2423160"/>
            <a:ext cx="182880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0B1533"/>
                </a:solidFill>
                <a:latin typeface="Calibri" pitchFamily="34" charset="0"/>
                <a:ea typeface="Calibri" pitchFamily="34" charset="-122"/>
                <a:cs typeface="Calibri" pitchFamily="34" charset="-120"/>
              </a:rPr>
              <a:t>OCR for Scanned Documents</a:t>
            </a:r>
            <a:endParaRPr lang="en-US" sz="1100" dirty="0"/>
          </a:p>
        </p:txBody>
      </p:sp>
      <p:sp>
        <p:nvSpPr>
          <p:cNvPr id="16" name="Shape 14"/>
          <p:cNvSpPr/>
          <p:nvPr/>
        </p:nvSpPr>
        <p:spPr>
          <a:xfrm>
            <a:off x="7232904" y="1417320"/>
            <a:ext cx="2084832" cy="1828800"/>
          </a:xfrm>
          <a:prstGeom prst="roundRect">
            <a:avLst>
              <a:gd name="adj" fmla="val 5000"/>
            </a:avLst>
          </a:prstGeom>
          <a:solidFill>
            <a:srgbClr val="FFFFFF"/>
          </a:solidFill>
          <a:ln w="12700">
            <a:solidFill>
              <a:srgbClr val="E3E8F2"/>
            </a:solidFill>
            <a:prstDash val="solid"/>
          </a:ln>
          <a:effectLst>
            <a:outerShdw sx="100000" sy="100000" kx="0" ky="0" algn="bl" rotWithShape="0" blurRad="63500" dist="25400" dir="5400000">
              <a:srgbClr val="0B1533">
                <a:alpha val="9000"/>
              </a:srgbClr>
            </a:outerShdw>
          </a:effectLst>
        </p:spPr>
      </p:sp>
      <p:sp>
        <p:nvSpPr>
          <p:cNvPr id="17" name="Shape 15"/>
          <p:cNvSpPr/>
          <p:nvPr/>
        </p:nvSpPr>
        <p:spPr>
          <a:xfrm>
            <a:off x="7982712" y="1673352"/>
            <a:ext cx="585216" cy="585216"/>
          </a:xfrm>
          <a:prstGeom prst="ellipse">
            <a:avLst/>
          </a:prstGeom>
          <a:solidFill>
            <a:srgbClr val="E9F2FE"/>
          </a:solidFill>
          <a:ln/>
        </p:spPr>
      </p:sp>
      <p:sp>
        <p:nvSpPr>
          <p:cNvPr id="18" name="Text 16"/>
          <p:cNvSpPr/>
          <p:nvPr/>
        </p:nvSpPr>
        <p:spPr>
          <a:xfrm>
            <a:off x="7982712" y="1673352"/>
            <a:ext cx="585216" cy="585216"/>
          </a:xfrm>
          <a:prstGeom prst="rect">
            <a:avLst/>
          </a:prstGeom>
          <a:noFill/>
          <a:ln/>
        </p:spPr>
        <p:txBody>
          <a:bodyPr wrap="square" lIns="0" tIns="0" rIns="0" bIns="0" rtlCol="0" anchor="ctr"/>
          <a:lstStyle/>
          <a:p>
            <a:pPr algn="ctr" indent="0" marL="0">
              <a:buNone/>
            </a:pPr>
            <a:r>
              <a:rPr lang="en-US" sz="1664" b="1" dirty="0">
                <a:solidFill>
                  <a:srgbClr val="2EA0F5"/>
                </a:solidFill>
                <a:latin typeface="Calibri" pitchFamily="34" charset="0"/>
                <a:ea typeface="Calibri" pitchFamily="34" charset="-122"/>
                <a:cs typeface="Calibri" pitchFamily="34" charset="-120"/>
              </a:rPr>
              <a:t>⇄</a:t>
            </a:r>
            <a:endParaRPr lang="en-US" sz="1664" dirty="0"/>
          </a:p>
        </p:txBody>
      </p:sp>
      <p:sp>
        <p:nvSpPr>
          <p:cNvPr id="19" name="Text 17"/>
          <p:cNvSpPr/>
          <p:nvPr/>
        </p:nvSpPr>
        <p:spPr>
          <a:xfrm>
            <a:off x="7360920" y="2423160"/>
            <a:ext cx="182880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0B1533"/>
                </a:solidFill>
                <a:latin typeface="Calibri" pitchFamily="34" charset="0"/>
                <a:ea typeface="Calibri" pitchFamily="34" charset="-122"/>
                <a:cs typeface="Calibri" pitchFamily="34" charset="-120"/>
              </a:rPr>
              <a:t>Document Sharing</a:t>
            </a:r>
            <a:endParaRPr lang="en-US" sz="1100" dirty="0"/>
          </a:p>
        </p:txBody>
      </p:sp>
      <p:sp>
        <p:nvSpPr>
          <p:cNvPr id="20" name="Shape 18"/>
          <p:cNvSpPr/>
          <p:nvPr/>
        </p:nvSpPr>
        <p:spPr>
          <a:xfrm>
            <a:off x="9445752" y="1417320"/>
            <a:ext cx="2084832" cy="1828800"/>
          </a:xfrm>
          <a:prstGeom prst="roundRect">
            <a:avLst>
              <a:gd name="adj" fmla="val 5000"/>
            </a:avLst>
          </a:prstGeom>
          <a:solidFill>
            <a:srgbClr val="FFFFFF"/>
          </a:solidFill>
          <a:ln w="12700">
            <a:solidFill>
              <a:srgbClr val="E3E8F2"/>
            </a:solidFill>
            <a:prstDash val="solid"/>
          </a:ln>
          <a:effectLst>
            <a:outerShdw sx="100000" sy="100000" kx="0" ky="0" algn="bl" rotWithShape="0" blurRad="63500" dist="25400" dir="5400000">
              <a:srgbClr val="0B1533">
                <a:alpha val="9000"/>
              </a:srgbClr>
            </a:outerShdw>
          </a:effectLst>
        </p:spPr>
      </p:sp>
      <p:sp>
        <p:nvSpPr>
          <p:cNvPr id="21" name="Shape 19"/>
          <p:cNvSpPr/>
          <p:nvPr/>
        </p:nvSpPr>
        <p:spPr>
          <a:xfrm>
            <a:off x="10195560" y="1673352"/>
            <a:ext cx="585216" cy="585216"/>
          </a:xfrm>
          <a:prstGeom prst="ellipse">
            <a:avLst/>
          </a:prstGeom>
          <a:solidFill>
            <a:srgbClr val="E9F2FE"/>
          </a:solidFill>
          <a:ln/>
        </p:spPr>
      </p:sp>
      <p:sp>
        <p:nvSpPr>
          <p:cNvPr id="22" name="Text 20"/>
          <p:cNvSpPr/>
          <p:nvPr/>
        </p:nvSpPr>
        <p:spPr>
          <a:xfrm>
            <a:off x="10195560" y="1673352"/>
            <a:ext cx="585216" cy="585216"/>
          </a:xfrm>
          <a:prstGeom prst="rect">
            <a:avLst/>
          </a:prstGeom>
          <a:noFill/>
          <a:ln/>
        </p:spPr>
        <p:txBody>
          <a:bodyPr wrap="square" lIns="0" tIns="0" rIns="0" bIns="0" rtlCol="0" anchor="ctr"/>
          <a:lstStyle/>
          <a:p>
            <a:pPr algn="ctr" indent="0" marL="0">
              <a:buNone/>
            </a:pPr>
            <a:r>
              <a:rPr lang="en-US" sz="1664" b="1" dirty="0">
                <a:solidFill>
                  <a:srgbClr val="2EA0F5"/>
                </a:solidFill>
                <a:latin typeface="Calibri" pitchFamily="34" charset="0"/>
                <a:ea typeface="Calibri" pitchFamily="34" charset="-122"/>
                <a:cs typeface="Calibri" pitchFamily="34" charset="-120"/>
              </a:rPr>
              <a:t>✉</a:t>
            </a:r>
            <a:endParaRPr lang="en-US" sz="1664" dirty="0"/>
          </a:p>
        </p:txBody>
      </p:sp>
      <p:sp>
        <p:nvSpPr>
          <p:cNvPr id="23" name="Text 21"/>
          <p:cNvSpPr/>
          <p:nvPr/>
        </p:nvSpPr>
        <p:spPr>
          <a:xfrm>
            <a:off x="9573768" y="2423160"/>
            <a:ext cx="182880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0B1533"/>
                </a:solidFill>
                <a:latin typeface="Calibri" pitchFamily="34" charset="0"/>
                <a:ea typeface="Calibri" pitchFamily="34" charset="-122"/>
                <a:cs typeface="Calibri" pitchFamily="34" charset="-120"/>
              </a:rPr>
              <a:t>Email Notifications</a:t>
            </a:r>
            <a:endParaRPr lang="en-US" sz="1100" dirty="0"/>
          </a:p>
        </p:txBody>
      </p:sp>
      <p:sp>
        <p:nvSpPr>
          <p:cNvPr id="24" name="Shape 22"/>
          <p:cNvSpPr/>
          <p:nvPr/>
        </p:nvSpPr>
        <p:spPr>
          <a:xfrm>
            <a:off x="594360" y="3410712"/>
            <a:ext cx="2084832" cy="1828800"/>
          </a:xfrm>
          <a:prstGeom prst="roundRect">
            <a:avLst>
              <a:gd name="adj" fmla="val 5000"/>
            </a:avLst>
          </a:prstGeom>
          <a:solidFill>
            <a:srgbClr val="FFFFFF"/>
          </a:solidFill>
          <a:ln w="12700">
            <a:solidFill>
              <a:srgbClr val="E3E8F2"/>
            </a:solidFill>
            <a:prstDash val="solid"/>
          </a:ln>
          <a:effectLst>
            <a:outerShdw sx="100000" sy="100000" kx="0" ky="0" algn="bl" rotWithShape="0" blurRad="63500" dist="25400" dir="5400000">
              <a:srgbClr val="0B1533">
                <a:alpha val="9000"/>
              </a:srgbClr>
            </a:outerShdw>
          </a:effectLst>
        </p:spPr>
      </p:sp>
      <p:sp>
        <p:nvSpPr>
          <p:cNvPr id="25" name="Shape 23"/>
          <p:cNvSpPr/>
          <p:nvPr/>
        </p:nvSpPr>
        <p:spPr>
          <a:xfrm>
            <a:off x="1344168" y="3666744"/>
            <a:ext cx="585216" cy="585216"/>
          </a:xfrm>
          <a:prstGeom prst="ellipse">
            <a:avLst/>
          </a:prstGeom>
          <a:solidFill>
            <a:srgbClr val="E9F2FE"/>
          </a:solidFill>
          <a:ln/>
        </p:spPr>
      </p:sp>
      <p:sp>
        <p:nvSpPr>
          <p:cNvPr id="26" name="Text 24"/>
          <p:cNvSpPr/>
          <p:nvPr/>
        </p:nvSpPr>
        <p:spPr>
          <a:xfrm>
            <a:off x="1344168" y="3666744"/>
            <a:ext cx="585216" cy="585216"/>
          </a:xfrm>
          <a:prstGeom prst="rect">
            <a:avLst/>
          </a:prstGeom>
          <a:noFill/>
          <a:ln/>
        </p:spPr>
        <p:txBody>
          <a:bodyPr wrap="square" lIns="0" tIns="0" rIns="0" bIns="0" rtlCol="0" anchor="ctr"/>
          <a:lstStyle/>
          <a:p>
            <a:pPr algn="ctr" indent="0" marL="0">
              <a:buNone/>
            </a:pPr>
            <a:r>
              <a:rPr lang="en-US" sz="1664" b="1" dirty="0">
                <a:solidFill>
                  <a:srgbClr val="2EA0F5"/>
                </a:solidFill>
                <a:latin typeface="Calibri" pitchFamily="34" charset="0"/>
                <a:ea typeface="Calibri" pitchFamily="34" charset="-122"/>
                <a:cs typeface="Calibri" pitchFamily="34" charset="-120"/>
              </a:rPr>
              <a:t>⌗</a:t>
            </a:r>
            <a:endParaRPr lang="en-US" sz="1664" dirty="0"/>
          </a:p>
        </p:txBody>
      </p:sp>
      <p:sp>
        <p:nvSpPr>
          <p:cNvPr id="27" name="Text 25"/>
          <p:cNvSpPr/>
          <p:nvPr/>
        </p:nvSpPr>
        <p:spPr>
          <a:xfrm>
            <a:off x="722376" y="4416552"/>
            <a:ext cx="182880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0B1533"/>
                </a:solidFill>
                <a:latin typeface="Calibri" pitchFamily="34" charset="0"/>
                <a:ea typeface="Calibri" pitchFamily="34" charset="-122"/>
                <a:cs typeface="Calibri" pitchFamily="34" charset="-120"/>
              </a:rPr>
              <a:t>Storage Analytics</a:t>
            </a:r>
            <a:endParaRPr lang="en-US" sz="1100" dirty="0"/>
          </a:p>
        </p:txBody>
      </p:sp>
      <p:sp>
        <p:nvSpPr>
          <p:cNvPr id="28" name="Shape 26"/>
          <p:cNvSpPr/>
          <p:nvPr/>
        </p:nvSpPr>
        <p:spPr>
          <a:xfrm>
            <a:off x="2807208" y="3410712"/>
            <a:ext cx="2084832" cy="1828800"/>
          </a:xfrm>
          <a:prstGeom prst="roundRect">
            <a:avLst>
              <a:gd name="adj" fmla="val 5000"/>
            </a:avLst>
          </a:prstGeom>
          <a:solidFill>
            <a:srgbClr val="FFFFFF"/>
          </a:solidFill>
          <a:ln w="12700">
            <a:solidFill>
              <a:srgbClr val="E3E8F2"/>
            </a:solidFill>
            <a:prstDash val="solid"/>
          </a:ln>
          <a:effectLst>
            <a:outerShdw sx="100000" sy="100000" kx="0" ky="0" algn="bl" rotWithShape="0" blurRad="63500" dist="25400" dir="5400000">
              <a:srgbClr val="0B1533">
                <a:alpha val="9000"/>
              </a:srgbClr>
            </a:outerShdw>
          </a:effectLst>
        </p:spPr>
      </p:sp>
      <p:sp>
        <p:nvSpPr>
          <p:cNvPr id="29" name="Shape 27"/>
          <p:cNvSpPr/>
          <p:nvPr/>
        </p:nvSpPr>
        <p:spPr>
          <a:xfrm>
            <a:off x="3557016" y="3666744"/>
            <a:ext cx="585216" cy="585216"/>
          </a:xfrm>
          <a:prstGeom prst="ellipse">
            <a:avLst/>
          </a:prstGeom>
          <a:solidFill>
            <a:srgbClr val="E9F2FE"/>
          </a:solidFill>
          <a:ln/>
        </p:spPr>
      </p:sp>
      <p:sp>
        <p:nvSpPr>
          <p:cNvPr id="30" name="Text 28"/>
          <p:cNvSpPr/>
          <p:nvPr/>
        </p:nvSpPr>
        <p:spPr>
          <a:xfrm>
            <a:off x="3557016" y="3666744"/>
            <a:ext cx="585216" cy="585216"/>
          </a:xfrm>
          <a:prstGeom prst="rect">
            <a:avLst/>
          </a:prstGeom>
          <a:noFill/>
          <a:ln/>
        </p:spPr>
        <p:txBody>
          <a:bodyPr wrap="square" lIns="0" tIns="0" rIns="0" bIns="0" rtlCol="0" anchor="ctr"/>
          <a:lstStyle/>
          <a:p>
            <a:pPr algn="ctr" indent="0" marL="0">
              <a:buNone/>
            </a:pPr>
            <a:r>
              <a:rPr lang="en-US" sz="1664" b="1" dirty="0">
                <a:solidFill>
                  <a:srgbClr val="2EA0F5"/>
                </a:solidFill>
                <a:latin typeface="Calibri" pitchFamily="34" charset="0"/>
                <a:ea typeface="Calibri" pitchFamily="34" charset="-122"/>
                <a:cs typeface="Calibri" pitchFamily="34" charset="-120"/>
              </a:rPr>
              <a:t>⚿</a:t>
            </a:r>
            <a:endParaRPr lang="en-US" sz="1664" dirty="0"/>
          </a:p>
        </p:txBody>
      </p:sp>
      <p:sp>
        <p:nvSpPr>
          <p:cNvPr id="31" name="Text 29"/>
          <p:cNvSpPr/>
          <p:nvPr/>
        </p:nvSpPr>
        <p:spPr>
          <a:xfrm>
            <a:off x="2935224" y="4416552"/>
            <a:ext cx="182880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0B1533"/>
                </a:solidFill>
                <a:latin typeface="Calibri" pitchFamily="34" charset="0"/>
                <a:ea typeface="Calibri" pitchFamily="34" charset="-122"/>
                <a:cs typeface="Calibri" pitchFamily="34" charset="-120"/>
              </a:rPr>
              <a:t>Multi-Factor Authentication</a:t>
            </a:r>
            <a:endParaRPr lang="en-US" sz="1100" dirty="0"/>
          </a:p>
        </p:txBody>
      </p:sp>
      <p:sp>
        <p:nvSpPr>
          <p:cNvPr id="32" name="Shape 30"/>
          <p:cNvSpPr/>
          <p:nvPr/>
        </p:nvSpPr>
        <p:spPr>
          <a:xfrm>
            <a:off x="5020056" y="3410712"/>
            <a:ext cx="2084832" cy="1828800"/>
          </a:xfrm>
          <a:prstGeom prst="roundRect">
            <a:avLst>
              <a:gd name="adj" fmla="val 5000"/>
            </a:avLst>
          </a:prstGeom>
          <a:solidFill>
            <a:srgbClr val="FFFFFF"/>
          </a:solidFill>
          <a:ln w="12700">
            <a:solidFill>
              <a:srgbClr val="E3E8F2"/>
            </a:solidFill>
            <a:prstDash val="solid"/>
          </a:ln>
          <a:effectLst>
            <a:outerShdw sx="100000" sy="100000" kx="0" ky="0" algn="bl" rotWithShape="0" blurRad="63500" dist="25400" dir="5400000">
              <a:srgbClr val="0B1533">
                <a:alpha val="9000"/>
              </a:srgbClr>
            </a:outerShdw>
          </a:effectLst>
        </p:spPr>
      </p:sp>
      <p:sp>
        <p:nvSpPr>
          <p:cNvPr id="33" name="Shape 31"/>
          <p:cNvSpPr/>
          <p:nvPr/>
        </p:nvSpPr>
        <p:spPr>
          <a:xfrm>
            <a:off x="5769864" y="3666744"/>
            <a:ext cx="585216" cy="585216"/>
          </a:xfrm>
          <a:prstGeom prst="ellipse">
            <a:avLst/>
          </a:prstGeom>
          <a:solidFill>
            <a:srgbClr val="E9F2FE"/>
          </a:solidFill>
          <a:ln/>
        </p:spPr>
      </p:sp>
      <p:sp>
        <p:nvSpPr>
          <p:cNvPr id="34" name="Text 32"/>
          <p:cNvSpPr/>
          <p:nvPr/>
        </p:nvSpPr>
        <p:spPr>
          <a:xfrm>
            <a:off x="5769864" y="3666744"/>
            <a:ext cx="585216" cy="585216"/>
          </a:xfrm>
          <a:prstGeom prst="rect">
            <a:avLst/>
          </a:prstGeom>
          <a:noFill/>
          <a:ln/>
        </p:spPr>
        <p:txBody>
          <a:bodyPr wrap="square" lIns="0" tIns="0" rIns="0" bIns="0" rtlCol="0" anchor="ctr"/>
          <a:lstStyle/>
          <a:p>
            <a:pPr algn="ctr" indent="0" marL="0">
              <a:buNone/>
            </a:pPr>
            <a:r>
              <a:rPr lang="en-US" sz="1664" b="1" dirty="0">
                <a:solidFill>
                  <a:srgbClr val="2EA0F5"/>
                </a:solidFill>
                <a:latin typeface="Calibri" pitchFamily="34" charset="0"/>
                <a:ea typeface="Calibri" pitchFamily="34" charset="-122"/>
                <a:cs typeface="Calibri" pitchFamily="34" charset="-120"/>
              </a:rPr>
              <a:t>⌕</a:t>
            </a:r>
            <a:endParaRPr lang="en-US" sz="1664" dirty="0"/>
          </a:p>
        </p:txBody>
      </p:sp>
      <p:sp>
        <p:nvSpPr>
          <p:cNvPr id="35" name="Text 33"/>
          <p:cNvSpPr/>
          <p:nvPr/>
        </p:nvSpPr>
        <p:spPr>
          <a:xfrm>
            <a:off x="5148072" y="4416552"/>
            <a:ext cx="182880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0B1533"/>
                </a:solidFill>
                <a:latin typeface="Calibri" pitchFamily="34" charset="0"/>
                <a:ea typeface="Calibri" pitchFamily="34" charset="-122"/>
                <a:cs typeface="Calibri" pitchFamily="34" charset="-120"/>
              </a:rPr>
              <a:t>Azure AI Search</a:t>
            </a:r>
            <a:endParaRPr lang="en-US" sz="1100" dirty="0"/>
          </a:p>
        </p:txBody>
      </p:sp>
      <p:sp>
        <p:nvSpPr>
          <p:cNvPr id="36" name="Shape 34"/>
          <p:cNvSpPr/>
          <p:nvPr/>
        </p:nvSpPr>
        <p:spPr>
          <a:xfrm>
            <a:off x="7232904" y="3410712"/>
            <a:ext cx="2084832" cy="1828800"/>
          </a:xfrm>
          <a:prstGeom prst="roundRect">
            <a:avLst>
              <a:gd name="adj" fmla="val 5000"/>
            </a:avLst>
          </a:prstGeom>
          <a:solidFill>
            <a:srgbClr val="FFFFFF"/>
          </a:solidFill>
          <a:ln w="12700">
            <a:solidFill>
              <a:srgbClr val="E3E8F2"/>
            </a:solidFill>
            <a:prstDash val="solid"/>
          </a:ln>
          <a:effectLst>
            <a:outerShdw sx="100000" sy="100000" kx="0" ky="0" algn="bl" rotWithShape="0" blurRad="63500" dist="25400" dir="5400000">
              <a:srgbClr val="0B1533">
                <a:alpha val="9000"/>
              </a:srgbClr>
            </a:outerShdw>
          </a:effectLst>
        </p:spPr>
      </p:sp>
      <p:sp>
        <p:nvSpPr>
          <p:cNvPr id="37" name="Shape 35"/>
          <p:cNvSpPr/>
          <p:nvPr/>
        </p:nvSpPr>
        <p:spPr>
          <a:xfrm>
            <a:off x="7982712" y="3666744"/>
            <a:ext cx="585216" cy="585216"/>
          </a:xfrm>
          <a:prstGeom prst="ellipse">
            <a:avLst/>
          </a:prstGeom>
          <a:solidFill>
            <a:srgbClr val="E9F2FE"/>
          </a:solidFill>
          <a:ln/>
        </p:spPr>
      </p:sp>
      <p:sp>
        <p:nvSpPr>
          <p:cNvPr id="38" name="Text 36"/>
          <p:cNvSpPr/>
          <p:nvPr/>
        </p:nvSpPr>
        <p:spPr>
          <a:xfrm>
            <a:off x="7982712" y="3666744"/>
            <a:ext cx="585216" cy="585216"/>
          </a:xfrm>
          <a:prstGeom prst="rect">
            <a:avLst/>
          </a:prstGeom>
          <a:noFill/>
          <a:ln/>
        </p:spPr>
        <p:txBody>
          <a:bodyPr wrap="square" lIns="0" tIns="0" rIns="0" bIns="0" rtlCol="0" anchor="ctr"/>
          <a:lstStyle/>
          <a:p>
            <a:pPr algn="ctr" indent="0" marL="0">
              <a:buNone/>
            </a:pPr>
            <a:r>
              <a:rPr lang="en-US" sz="1664" b="1" dirty="0">
                <a:solidFill>
                  <a:srgbClr val="2EA0F5"/>
                </a:solidFill>
                <a:latin typeface="Calibri" pitchFamily="34" charset="0"/>
                <a:ea typeface="Calibri" pitchFamily="34" charset="-122"/>
                <a:cs typeface="Calibri" pitchFamily="34" charset="-120"/>
              </a:rPr>
              <a:t>☢</a:t>
            </a:r>
            <a:endParaRPr lang="en-US" sz="1664" dirty="0"/>
          </a:p>
        </p:txBody>
      </p:sp>
      <p:sp>
        <p:nvSpPr>
          <p:cNvPr id="39" name="Text 37"/>
          <p:cNvSpPr/>
          <p:nvPr/>
        </p:nvSpPr>
        <p:spPr>
          <a:xfrm>
            <a:off x="7360920" y="4416552"/>
            <a:ext cx="182880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0B1533"/>
                </a:solidFill>
                <a:latin typeface="Calibri" pitchFamily="34" charset="0"/>
                <a:ea typeface="Calibri" pitchFamily="34" charset="-122"/>
                <a:cs typeface="Calibri" pitchFamily="34" charset="-120"/>
              </a:rPr>
              <a:t>Document Encryption</a:t>
            </a:r>
            <a:endParaRPr lang="en-US" sz="1100" dirty="0"/>
          </a:p>
        </p:txBody>
      </p:sp>
      <p:sp>
        <p:nvSpPr>
          <p:cNvPr id="40" name="Shape 38"/>
          <p:cNvSpPr/>
          <p:nvPr/>
        </p:nvSpPr>
        <p:spPr>
          <a:xfrm>
            <a:off x="9445752" y="3410712"/>
            <a:ext cx="2084832" cy="1828800"/>
          </a:xfrm>
          <a:prstGeom prst="roundRect">
            <a:avLst>
              <a:gd name="adj" fmla="val 5000"/>
            </a:avLst>
          </a:prstGeom>
          <a:solidFill>
            <a:srgbClr val="FFFFFF"/>
          </a:solidFill>
          <a:ln w="12700">
            <a:solidFill>
              <a:srgbClr val="E3E8F2"/>
            </a:solidFill>
            <a:prstDash val="solid"/>
          </a:ln>
          <a:effectLst>
            <a:outerShdw sx="100000" sy="100000" kx="0" ky="0" algn="bl" rotWithShape="0" blurRad="63500" dist="25400" dir="5400000">
              <a:srgbClr val="0B1533">
                <a:alpha val="9000"/>
              </a:srgbClr>
            </a:outerShdw>
          </a:effectLst>
        </p:spPr>
      </p:sp>
      <p:sp>
        <p:nvSpPr>
          <p:cNvPr id="41" name="Shape 39"/>
          <p:cNvSpPr/>
          <p:nvPr/>
        </p:nvSpPr>
        <p:spPr>
          <a:xfrm>
            <a:off x="10195560" y="3666744"/>
            <a:ext cx="585216" cy="585216"/>
          </a:xfrm>
          <a:prstGeom prst="ellipse">
            <a:avLst/>
          </a:prstGeom>
          <a:solidFill>
            <a:srgbClr val="E9F2FE"/>
          </a:solidFill>
          <a:ln/>
        </p:spPr>
      </p:sp>
      <p:sp>
        <p:nvSpPr>
          <p:cNvPr id="42" name="Text 40"/>
          <p:cNvSpPr/>
          <p:nvPr/>
        </p:nvSpPr>
        <p:spPr>
          <a:xfrm>
            <a:off x="10195560" y="3666744"/>
            <a:ext cx="585216" cy="585216"/>
          </a:xfrm>
          <a:prstGeom prst="rect">
            <a:avLst/>
          </a:prstGeom>
          <a:noFill/>
          <a:ln/>
        </p:spPr>
        <p:txBody>
          <a:bodyPr wrap="square" lIns="0" tIns="0" rIns="0" bIns="0" rtlCol="0" anchor="ctr"/>
          <a:lstStyle/>
          <a:p>
            <a:pPr algn="ctr" indent="0" marL="0">
              <a:buNone/>
            </a:pPr>
            <a:r>
              <a:rPr lang="en-US" sz="1664" b="1" dirty="0">
                <a:solidFill>
                  <a:srgbClr val="2EA0F5"/>
                </a:solidFill>
                <a:latin typeface="Calibri" pitchFamily="34" charset="0"/>
                <a:ea typeface="Calibri" pitchFamily="34" charset="-122"/>
                <a:cs typeface="Calibri" pitchFamily="34" charset="-120"/>
              </a:rPr>
              <a:t>↔</a:t>
            </a:r>
            <a:endParaRPr lang="en-US" sz="1664" dirty="0"/>
          </a:p>
        </p:txBody>
      </p:sp>
      <p:sp>
        <p:nvSpPr>
          <p:cNvPr id="43" name="Text 41"/>
          <p:cNvSpPr/>
          <p:nvPr/>
        </p:nvSpPr>
        <p:spPr>
          <a:xfrm>
            <a:off x="9573768" y="4416552"/>
            <a:ext cx="1828800" cy="731520"/>
          </a:xfrm>
          <a:prstGeom prst="rect">
            <a:avLst/>
          </a:prstGeom>
          <a:noFill/>
          <a:ln/>
        </p:spPr>
        <p:txBody>
          <a:bodyPr wrap="square" lIns="0" tIns="0" rIns="0" bIns="0" rtlCol="0" anchor="ctr"/>
          <a:lstStyle/>
          <a:p>
            <a:pPr algn="ctr" indent="0" marL="0">
              <a:lnSpc>
                <a:spcPct val="110000"/>
              </a:lnSpc>
              <a:buNone/>
            </a:pPr>
            <a:r>
              <a:rPr lang="en-US" sz="1100" b="1" dirty="0">
                <a:solidFill>
                  <a:srgbClr val="0B1533"/>
                </a:solidFill>
                <a:latin typeface="Calibri" pitchFamily="34" charset="0"/>
                <a:ea typeface="Calibri" pitchFamily="34" charset="-122"/>
                <a:cs typeface="Calibri" pitchFamily="34" charset="-120"/>
              </a:rPr>
              <a:t>Real-Time Collaboration</a:t>
            </a:r>
            <a:endParaRPr lang="en-US" sz="1100" dirty="0"/>
          </a:p>
        </p:txBody>
      </p:sp>
      <p:sp>
        <p:nvSpPr>
          <p:cNvPr id="44" name="Text 42"/>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533"/>
        </a:solidFill>
      </p:bgPr>
    </p:bg>
    <p:spTree>
      <p:nvGrpSpPr>
        <p:cNvPr id="1" name=""/>
        <p:cNvGrpSpPr/>
        <p:nvPr/>
      </p:nvGrpSpPr>
      <p:grpSpPr>
        <a:xfrm>
          <a:off x="0" y="0"/>
          <a:ext cx="0" cy="0"/>
          <a:chOff x="0" y="0"/>
          <a:chExt cx="0" cy="0"/>
        </a:xfrm>
      </p:grpSpPr>
      <p:sp>
        <p:nvSpPr>
          <p:cNvPr id="2" name="Shape 0"/>
          <p:cNvSpPr/>
          <p:nvPr/>
        </p:nvSpPr>
        <p:spPr>
          <a:xfrm>
            <a:off x="-1645920" y="-1645920"/>
            <a:ext cx="4572000" cy="4572000"/>
          </a:xfrm>
          <a:prstGeom prst="ellipse">
            <a:avLst/>
          </a:prstGeom>
          <a:solidFill>
            <a:srgbClr val="142352"/>
          </a:solidFill>
          <a:ln/>
        </p:spPr>
      </p:sp>
      <p:sp>
        <p:nvSpPr>
          <p:cNvPr id="3" name="Shape 1"/>
          <p:cNvSpPr/>
          <p:nvPr/>
        </p:nvSpPr>
        <p:spPr>
          <a:xfrm>
            <a:off x="9692640" y="4206240"/>
            <a:ext cx="4206240" cy="4206240"/>
          </a:xfrm>
          <a:prstGeom prst="ellipse">
            <a:avLst/>
          </a:prstGeom>
          <a:solidFill>
            <a:srgbClr val="142352"/>
          </a:solidFill>
          <a:ln/>
        </p:spPr>
      </p:sp>
      <p:sp>
        <p:nvSpPr>
          <p:cNvPr id="4" name="Text 2"/>
          <p:cNvSpPr/>
          <p:nvPr/>
        </p:nvSpPr>
        <p:spPr>
          <a:xfrm>
            <a:off x="822960" y="685800"/>
            <a:ext cx="7315200" cy="320040"/>
          </a:xfrm>
          <a:prstGeom prst="rect">
            <a:avLst/>
          </a:prstGeom>
          <a:noFill/>
          <a:ln/>
        </p:spPr>
        <p:txBody>
          <a:bodyPr wrap="square" lIns="0" tIns="0" rIns="0" bIns="0" rtlCol="0" anchor="ctr"/>
          <a:lstStyle/>
          <a:p>
            <a:pPr indent="0" marL="0">
              <a:buNone/>
            </a:pPr>
            <a:r>
              <a:rPr lang="en-US" sz="1250" b="1" spc="250" kern="0" dirty="0">
                <a:solidFill>
                  <a:srgbClr val="5CC8E6"/>
                </a:solidFill>
                <a:latin typeface="Calibri" pitchFamily="34" charset="0"/>
                <a:ea typeface="Calibri" pitchFamily="34" charset="-122"/>
                <a:cs typeface="Calibri" pitchFamily="34" charset="-120"/>
              </a:rPr>
              <a:t>CONCLUSION</a:t>
            </a:r>
            <a:endParaRPr lang="en-US" sz="1250" dirty="0"/>
          </a:p>
        </p:txBody>
      </p:sp>
      <p:sp>
        <p:nvSpPr>
          <p:cNvPr id="5" name="Text 3"/>
          <p:cNvSpPr/>
          <p:nvPr/>
        </p:nvSpPr>
        <p:spPr>
          <a:xfrm>
            <a:off x="822960" y="1051560"/>
            <a:ext cx="8961120" cy="1371600"/>
          </a:xfrm>
          <a:prstGeom prst="rect">
            <a:avLst/>
          </a:prstGeom>
          <a:noFill/>
          <a:ln/>
        </p:spPr>
        <p:txBody>
          <a:bodyPr wrap="square" lIns="0" tIns="0" rIns="0" bIns="0" rtlCol="0" anchor="ctr"/>
          <a:lstStyle/>
          <a:p>
            <a:pPr indent="0" marL="0">
              <a:lnSpc>
                <a:spcPct val="108000"/>
              </a:lnSpc>
              <a:buNone/>
            </a:pPr>
            <a:r>
              <a:rPr lang="en-US" sz="3200" b="1" dirty="0">
                <a:solidFill>
                  <a:srgbClr val="FFFFFF"/>
                </a:solidFill>
                <a:latin typeface="Cambria" pitchFamily="34" charset="0"/>
                <a:ea typeface="Cambria" pitchFamily="34" charset="-122"/>
                <a:cs typeface="Cambria" pitchFamily="34" charset="-120"/>
              </a:rPr>
              <a:t>A Complete, Production-Ready</a:t>
            </a:r>
            <a:endParaRPr lang="en-US" sz="3200" dirty="0"/>
          </a:p>
          <a:p>
            <a:pPr indent="0" marL="0">
              <a:lnSpc>
                <a:spcPct val="108000"/>
              </a:lnSpc>
              <a:buNone/>
            </a:pPr>
            <a:r>
              <a:rPr lang="en-US" sz="3200" b="1" dirty="0">
                <a:solidFill>
                  <a:srgbClr val="FFFFFF"/>
                </a:solidFill>
                <a:latin typeface="Cambria" pitchFamily="34" charset="0"/>
                <a:ea typeface="Cambria" pitchFamily="34" charset="-122"/>
                <a:cs typeface="Cambria" pitchFamily="34" charset="-120"/>
              </a:rPr>
              <a:t>Cloud Document System</a:t>
            </a:r>
            <a:endParaRPr lang="en-US" sz="3200" dirty="0"/>
          </a:p>
        </p:txBody>
      </p:sp>
      <p:sp>
        <p:nvSpPr>
          <p:cNvPr id="6" name="Text 4"/>
          <p:cNvSpPr/>
          <p:nvPr/>
        </p:nvSpPr>
        <p:spPr>
          <a:xfrm>
            <a:off x="822960" y="2606040"/>
            <a:ext cx="7863840" cy="1554480"/>
          </a:xfrm>
          <a:prstGeom prst="rect">
            <a:avLst/>
          </a:prstGeom>
          <a:noFill/>
          <a:ln/>
        </p:spPr>
        <p:txBody>
          <a:bodyPr wrap="square" lIns="0" tIns="0" rIns="0" bIns="0" rtlCol="0" anchor="ctr"/>
          <a:lstStyle/>
          <a:p>
            <a:pPr indent="0" marL="0">
              <a:lnSpc>
                <a:spcPct val="135000"/>
              </a:lnSpc>
              <a:buNone/>
            </a:pPr>
            <a:r>
              <a:rPr lang="en-US" sz="1400" dirty="0">
                <a:solidFill>
                  <a:srgbClr val="CFE0FA"/>
                </a:solidFill>
                <a:latin typeface="Calibri" pitchFamily="34" charset="0"/>
                <a:ea typeface="Calibri" pitchFamily="34" charset="-122"/>
                <a:cs typeface="Calibri" pitchFamily="34" charset="-120"/>
              </a:rPr>
              <a:t>This project demonstrates the successful design, development, and deployment of a cloud-based Document Management System on Microsoft Azure. User data is secured in Azure SQL Database while files are stored in Azure Blob Storage with automatic versioning. Continuous deployment through Azure App Service and GitHub Actions keeps the application always up to date.</a:t>
            </a:r>
            <a:endParaRPr lang="en-US" sz="1400" dirty="0"/>
          </a:p>
        </p:txBody>
      </p:sp>
      <p:sp>
        <p:nvSpPr>
          <p:cNvPr id="7" name="Shape 5"/>
          <p:cNvSpPr/>
          <p:nvPr/>
        </p:nvSpPr>
        <p:spPr>
          <a:xfrm>
            <a:off x="822960" y="4434840"/>
            <a:ext cx="2336292" cy="402336"/>
          </a:xfrm>
          <a:prstGeom prst="roundRect">
            <a:avLst>
              <a:gd name="adj" fmla="val 50000"/>
            </a:avLst>
          </a:prstGeom>
          <a:solidFill>
            <a:srgbClr val="142352"/>
          </a:solidFill>
          <a:ln w="12700">
            <a:solidFill>
              <a:srgbClr val="2A3B77"/>
            </a:solidFill>
            <a:prstDash val="solid"/>
          </a:ln>
        </p:spPr>
      </p:sp>
      <p:sp>
        <p:nvSpPr>
          <p:cNvPr id="8" name="Text 6"/>
          <p:cNvSpPr/>
          <p:nvPr/>
        </p:nvSpPr>
        <p:spPr>
          <a:xfrm>
            <a:off x="822960" y="4434840"/>
            <a:ext cx="2336292" cy="402336"/>
          </a:xfrm>
          <a:prstGeom prst="rect">
            <a:avLst/>
          </a:prstGeom>
          <a:noFill/>
          <a:ln/>
        </p:spPr>
        <p:txBody>
          <a:bodyPr wrap="square" lIns="0" tIns="0" rIns="0" bIns="0" rtlCol="0" anchor="ctr"/>
          <a:lstStyle/>
          <a:p>
            <a:pPr algn="ctr" indent="0" marL="0">
              <a:buNone/>
            </a:pPr>
            <a:r>
              <a:rPr lang="en-US" sz="1100" dirty="0">
                <a:solidFill>
                  <a:srgbClr val="CFE0FA"/>
                </a:solidFill>
                <a:latin typeface="Calibri" pitchFamily="34" charset="0"/>
                <a:ea typeface="Calibri" pitchFamily="34" charset="-122"/>
                <a:cs typeface="Calibri" pitchFamily="34" charset="-120"/>
              </a:rPr>
              <a:t>Secure Authentication</a:t>
            </a:r>
            <a:endParaRPr lang="en-US" sz="1100" dirty="0"/>
          </a:p>
        </p:txBody>
      </p:sp>
      <p:sp>
        <p:nvSpPr>
          <p:cNvPr id="9" name="Shape 7"/>
          <p:cNvSpPr/>
          <p:nvPr/>
        </p:nvSpPr>
        <p:spPr>
          <a:xfrm>
            <a:off x="3323844" y="4434840"/>
            <a:ext cx="1568196" cy="402336"/>
          </a:xfrm>
          <a:prstGeom prst="roundRect">
            <a:avLst>
              <a:gd name="adj" fmla="val 50000"/>
            </a:avLst>
          </a:prstGeom>
          <a:solidFill>
            <a:srgbClr val="142352"/>
          </a:solidFill>
          <a:ln w="12700">
            <a:solidFill>
              <a:srgbClr val="2A3B77"/>
            </a:solidFill>
            <a:prstDash val="solid"/>
          </a:ln>
        </p:spPr>
      </p:sp>
      <p:sp>
        <p:nvSpPr>
          <p:cNvPr id="10" name="Text 8"/>
          <p:cNvSpPr/>
          <p:nvPr/>
        </p:nvSpPr>
        <p:spPr>
          <a:xfrm>
            <a:off x="3323844" y="4434840"/>
            <a:ext cx="1568196" cy="402336"/>
          </a:xfrm>
          <a:prstGeom prst="rect">
            <a:avLst/>
          </a:prstGeom>
          <a:noFill/>
          <a:ln/>
        </p:spPr>
        <p:txBody>
          <a:bodyPr wrap="square" lIns="0" tIns="0" rIns="0" bIns="0" rtlCol="0" anchor="ctr"/>
          <a:lstStyle/>
          <a:p>
            <a:pPr algn="ctr" indent="0" marL="0">
              <a:buNone/>
            </a:pPr>
            <a:r>
              <a:rPr lang="en-US" sz="1100" dirty="0">
                <a:solidFill>
                  <a:srgbClr val="CFE0FA"/>
                </a:solidFill>
                <a:latin typeface="Calibri" pitchFamily="34" charset="0"/>
                <a:ea typeface="Calibri" pitchFamily="34" charset="-122"/>
                <a:cs typeface="Calibri" pitchFamily="34" charset="-120"/>
              </a:rPr>
              <a:t>Cloud Storage</a:t>
            </a:r>
            <a:endParaRPr lang="en-US" sz="1100" dirty="0"/>
          </a:p>
        </p:txBody>
      </p:sp>
      <p:sp>
        <p:nvSpPr>
          <p:cNvPr id="11" name="Shape 9"/>
          <p:cNvSpPr/>
          <p:nvPr/>
        </p:nvSpPr>
        <p:spPr>
          <a:xfrm>
            <a:off x="5056632" y="4434840"/>
            <a:ext cx="2048256" cy="402336"/>
          </a:xfrm>
          <a:prstGeom prst="roundRect">
            <a:avLst>
              <a:gd name="adj" fmla="val 50000"/>
            </a:avLst>
          </a:prstGeom>
          <a:solidFill>
            <a:srgbClr val="142352"/>
          </a:solidFill>
          <a:ln w="12700">
            <a:solidFill>
              <a:srgbClr val="2A3B77"/>
            </a:solidFill>
            <a:prstDash val="solid"/>
          </a:ln>
        </p:spPr>
      </p:sp>
      <p:sp>
        <p:nvSpPr>
          <p:cNvPr id="12" name="Text 10"/>
          <p:cNvSpPr/>
          <p:nvPr/>
        </p:nvSpPr>
        <p:spPr>
          <a:xfrm>
            <a:off x="5056632" y="4434840"/>
            <a:ext cx="2048256" cy="402336"/>
          </a:xfrm>
          <a:prstGeom prst="rect">
            <a:avLst/>
          </a:prstGeom>
          <a:noFill/>
          <a:ln/>
        </p:spPr>
        <p:txBody>
          <a:bodyPr wrap="square" lIns="0" tIns="0" rIns="0" bIns="0" rtlCol="0" anchor="ctr"/>
          <a:lstStyle/>
          <a:p>
            <a:pPr algn="ctr" indent="0" marL="0">
              <a:buNone/>
            </a:pPr>
            <a:r>
              <a:rPr lang="en-US" sz="1100" dirty="0">
                <a:solidFill>
                  <a:srgbClr val="CFE0FA"/>
                </a:solidFill>
                <a:latin typeface="Calibri" pitchFamily="34" charset="0"/>
                <a:ea typeface="Calibri" pitchFamily="34" charset="-122"/>
                <a:cs typeface="Calibri" pitchFamily="34" charset="-120"/>
              </a:rPr>
              <a:t>Version Management</a:t>
            </a:r>
            <a:endParaRPr lang="en-US" sz="1100" dirty="0"/>
          </a:p>
        </p:txBody>
      </p:sp>
      <p:sp>
        <p:nvSpPr>
          <p:cNvPr id="13" name="Shape 11"/>
          <p:cNvSpPr/>
          <p:nvPr/>
        </p:nvSpPr>
        <p:spPr>
          <a:xfrm>
            <a:off x="7269480" y="4434840"/>
            <a:ext cx="1568196" cy="402336"/>
          </a:xfrm>
          <a:prstGeom prst="roundRect">
            <a:avLst>
              <a:gd name="adj" fmla="val 50000"/>
            </a:avLst>
          </a:prstGeom>
          <a:solidFill>
            <a:srgbClr val="142352"/>
          </a:solidFill>
          <a:ln w="12700">
            <a:solidFill>
              <a:srgbClr val="2A3B77"/>
            </a:solidFill>
            <a:prstDash val="solid"/>
          </a:ln>
        </p:spPr>
      </p:sp>
      <p:sp>
        <p:nvSpPr>
          <p:cNvPr id="14" name="Text 12"/>
          <p:cNvSpPr/>
          <p:nvPr/>
        </p:nvSpPr>
        <p:spPr>
          <a:xfrm>
            <a:off x="7269480" y="4434840"/>
            <a:ext cx="1568196" cy="402336"/>
          </a:xfrm>
          <a:prstGeom prst="rect">
            <a:avLst/>
          </a:prstGeom>
          <a:noFill/>
          <a:ln/>
        </p:spPr>
        <p:txBody>
          <a:bodyPr wrap="square" lIns="0" tIns="0" rIns="0" bIns="0" rtlCol="0" anchor="ctr"/>
          <a:lstStyle/>
          <a:p>
            <a:pPr algn="ctr" indent="0" marL="0">
              <a:buNone/>
            </a:pPr>
            <a:r>
              <a:rPr lang="en-US" sz="1100" dirty="0">
                <a:solidFill>
                  <a:srgbClr val="CFE0FA"/>
                </a:solidFill>
                <a:latin typeface="Calibri" pitchFamily="34" charset="0"/>
                <a:ea typeface="Calibri" pitchFamily="34" charset="-122"/>
                <a:cs typeface="Calibri" pitchFamily="34" charset="-120"/>
              </a:rPr>
              <a:t>Audit Logging</a:t>
            </a:r>
            <a:endParaRPr lang="en-US" sz="1100" dirty="0"/>
          </a:p>
        </p:txBody>
      </p:sp>
      <p:sp>
        <p:nvSpPr>
          <p:cNvPr id="15" name="Shape 13"/>
          <p:cNvSpPr/>
          <p:nvPr/>
        </p:nvSpPr>
        <p:spPr>
          <a:xfrm>
            <a:off x="9002268" y="4434840"/>
            <a:ext cx="2144268" cy="402336"/>
          </a:xfrm>
          <a:prstGeom prst="roundRect">
            <a:avLst>
              <a:gd name="adj" fmla="val 50000"/>
            </a:avLst>
          </a:prstGeom>
          <a:solidFill>
            <a:srgbClr val="142352"/>
          </a:solidFill>
          <a:ln w="12700">
            <a:solidFill>
              <a:srgbClr val="2A3B77"/>
            </a:solidFill>
            <a:prstDash val="solid"/>
          </a:ln>
        </p:spPr>
      </p:sp>
      <p:sp>
        <p:nvSpPr>
          <p:cNvPr id="16" name="Text 14"/>
          <p:cNvSpPr/>
          <p:nvPr/>
        </p:nvSpPr>
        <p:spPr>
          <a:xfrm>
            <a:off x="9002268" y="4434840"/>
            <a:ext cx="2144268" cy="402336"/>
          </a:xfrm>
          <a:prstGeom prst="rect">
            <a:avLst/>
          </a:prstGeom>
          <a:noFill/>
          <a:ln/>
        </p:spPr>
        <p:txBody>
          <a:bodyPr wrap="square" lIns="0" tIns="0" rIns="0" bIns="0" rtlCol="0" anchor="ctr"/>
          <a:lstStyle/>
          <a:p>
            <a:pPr algn="ctr" indent="0" marL="0">
              <a:buNone/>
            </a:pPr>
            <a:r>
              <a:rPr lang="en-US" sz="1100" dirty="0">
                <a:solidFill>
                  <a:srgbClr val="CFE0FA"/>
                </a:solidFill>
                <a:latin typeface="Calibri" pitchFamily="34" charset="0"/>
                <a:ea typeface="Calibri" pitchFamily="34" charset="-122"/>
                <a:cs typeface="Calibri" pitchFamily="34" charset="-120"/>
              </a:rPr>
              <a:t>Scalable Deployment</a:t>
            </a:r>
            <a:endParaRPr lang="en-US" sz="1100" dirty="0"/>
          </a:p>
        </p:txBody>
      </p:sp>
      <p:sp>
        <p:nvSpPr>
          <p:cNvPr id="17" name="Text 15"/>
          <p:cNvSpPr/>
          <p:nvPr/>
        </p:nvSpPr>
        <p:spPr>
          <a:xfrm>
            <a:off x="822960" y="5806440"/>
            <a:ext cx="548640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18" name="Text 16"/>
          <p:cNvSpPr/>
          <p:nvPr/>
        </p:nvSpPr>
        <p:spPr>
          <a:xfrm>
            <a:off x="822960" y="6309360"/>
            <a:ext cx="8229600" cy="365760"/>
          </a:xfrm>
          <a:prstGeom prst="rect">
            <a:avLst/>
          </a:prstGeom>
          <a:noFill/>
          <a:ln/>
        </p:spPr>
        <p:txBody>
          <a:bodyPr wrap="square" lIns="0" tIns="0" rIns="0" bIns="0" rtlCol="0" anchor="ctr"/>
          <a:lstStyle/>
          <a:p>
            <a:pPr indent="0" marL="0">
              <a:buNone/>
            </a:pPr>
            <a:r>
              <a:rPr lang="en-US" sz="1200" dirty="0">
                <a:solidFill>
                  <a:srgbClr val="8FA3D9"/>
                </a:solidFill>
                <a:latin typeface="Calibri" pitchFamily="34" charset="0"/>
                <a:ea typeface="Calibri" pitchFamily="34" charset="-122"/>
                <a:cs typeface="Calibri" pitchFamily="34" charset="-120"/>
              </a:rPr>
              <a:t>Dhanush S J   ·   Integrated M.Tech Software Engineering   ·   VIT</a:t>
            </a:r>
            <a:endParaRPr lang="en-US" sz="1200" dirty="0"/>
          </a:p>
        </p:txBody>
      </p:sp>
      <p:sp>
        <p:nvSpPr>
          <p:cNvPr id="19" name="Text 17"/>
          <p:cNvSpPr/>
          <p:nvPr/>
        </p:nvSpPr>
        <p:spPr>
          <a:xfrm>
            <a:off x="11368735" y="6446520"/>
            <a:ext cx="548640" cy="274320"/>
          </a:xfrm>
          <a:prstGeom prst="rect">
            <a:avLst/>
          </a:prstGeom>
          <a:noFill/>
          <a:ln/>
        </p:spPr>
        <p:txBody>
          <a:bodyPr wrap="square" lIns="0" tIns="0" rIns="0" bIns="0" rtlCol="0" anchor="ctr"/>
          <a:lstStyle/>
          <a:p>
            <a:pPr algn="r" indent="0" marL="0">
              <a:buNone/>
            </a:pPr>
            <a:r>
              <a:rPr lang="en-US" sz="1000" dirty="0">
                <a:solidFill>
                  <a:srgbClr val="8592B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2026-07-10T19:14:58Z</dcterms:created>
  <dcterms:modified xsi:type="dcterms:W3CDTF">2026-07-10T19:14:58Z</dcterms:modified>
</cp:coreProperties>
</file>